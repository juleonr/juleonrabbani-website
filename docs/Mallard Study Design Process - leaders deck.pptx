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State the framing line once: models draft and review, code decides what may be printed. Everything that follows is that sentence unpacked. Say early that this is a planning aid for a statistician and an IRB to check, not a replacement for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The point is the division of labour, not the counts. Models supply the reasoning; code supplies the discipline. The last line is the one sentence to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Walk the row left to right. Stress that the design decision is made first and separately, because a plan built on the wrong design is wrong throughout, and that the investigator approves it before a credit is spent. Steps 6 and 7 are on request so a power justification does not carry an unwanted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this is the slide the audience came for. Pick two cards to say out loud: context never changes validity, and the typed estimand. The closing band is the argument: the safeguard is not the questions but the refusal that follows from typed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 diagram is the same loop as the document. The thing to land is that the checks sit below every model and cannot be talked round, and that the loop back to a draft is driven by the investigator's answers, not by the models retrying.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Leaders tend to ask what happens when it is wrong; this is the answer. Four outcomes in increasing weight. The number is what people act on, so the number is what gets withheld.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This is the governance slide. The lanes are the answer to "where is the AI in this": it drafts and reviews; it does not decide what is printed. The full swimlane map with every decision is in the document; the next slide shows one panel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Do not read the panel. Point at the three lanes and the fixup diamond, then move on. Offer the document for the other four panels.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Do not read all eleven. Name D4, D6 and D9: the design approval that gates the credit, the optional statistician review that goes stale if anything changes, and the one revision that costs a credit. Appendix A of the document gives every option and its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Lead with these rather than being asked. The independent-evaluation card is the honest one and the audience will respect it. Do not soften the write-up failure rate; say it was measured on eight attempts and has not been re-measured.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then questions. Restate the three points. Point to the document for the five-panel map and Appendix A. Agree a next step and a date before leaving.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3831"/>
        </a:solidFill>
      </p:bgPr>
    </p:bg>
    <p:spTree>
      <p:nvGrpSpPr>
        <p:cNvPr id="1" name=""/>
        <p:cNvGrpSpPr/>
        <p:nvPr/>
      </p:nvGrpSpPr>
      <p:grpSpPr>
        <a:xfrm>
          <a:off x="0" y="0"/>
          <a:ext cx="0" cy="0"/>
          <a:chOff x="0" y="0"/>
          <a:chExt cx="0" cy="0"/>
        </a:xfrm>
      </p:grpSpPr>
      <p:sp>
        <p:nvSpPr>
          <p:cNvPr id="2" name="Text 0"/>
          <p:cNvSpPr txBox="1"/>
          <p:nvPr/>
        </p:nvSpPr>
        <p:spPr>
          <a:xfrm>
            <a:off x="731520" y="1188720"/>
            <a:ext cx="9875520" cy="146304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How Mallard turns a question into a study design plan</a:t>
            </a:r>
            <a:endParaRPr lang="en-US" sz="4400" dirty="0"/>
          </a:p>
        </p:txBody>
      </p:sp>
      <p:sp>
        <p:nvSpPr>
          <p:cNvPr id="3" name="Text 1"/>
          <p:cNvSpPr txBox="1"/>
          <p:nvPr/>
        </p:nvSpPr>
        <p:spPr>
          <a:xfrm>
            <a:off x="731520" y="2788920"/>
            <a:ext cx="8686800" cy="548640"/>
          </a:xfrm>
          <a:prstGeom prst="rect">
            <a:avLst/>
          </a:prstGeom>
          <a:noFill/>
          <a:ln/>
        </p:spPr>
        <p:txBody>
          <a:bodyPr wrap="square" lIns="0" tIns="0" rIns="0" bIns="0" rtlCol="0" anchor="ctr"/>
          <a:lstStyle/>
          <a:p>
            <a:pPr indent="0" marL="0">
              <a:buNone/>
            </a:pPr>
            <a:r>
              <a:rPr lang="en-US" sz="1700" dirty="0">
                <a:solidFill>
                  <a:srgbClr val="BFD8D2"/>
                </a:solidFill>
                <a:latin typeface="Calibri" pitchFamily="34" charset="0"/>
                <a:ea typeface="Calibri" pitchFamily="34" charset="-122"/>
                <a:cs typeface="Calibri" pitchFamily="34" charset="-120"/>
              </a:rPr>
              <a:t>Models draft and review. Deterministic code decides what may be printed.</a:t>
            </a:r>
            <a:endParaRPr lang="en-US" sz="1700" dirty="0"/>
          </a:p>
        </p:txBody>
      </p:sp>
      <p:sp>
        <p:nvSpPr>
          <p:cNvPr id="4" name="Text 2"/>
          <p:cNvSpPr txBox="1"/>
          <p:nvPr/>
        </p:nvSpPr>
        <p:spPr>
          <a:xfrm>
            <a:off x="731520" y="3840480"/>
            <a:ext cx="5486400" cy="274320"/>
          </a:xfrm>
          <a:prstGeom prst="rect">
            <a:avLst/>
          </a:prstGeom>
          <a:noFill/>
          <a:ln/>
        </p:spPr>
        <p:txBody>
          <a:bodyPr wrap="square" lIns="0" tIns="0" rIns="0" bIns="0" rtlCol="0" anchor="ctr"/>
          <a:lstStyle/>
          <a:p>
            <a:pPr indent="0" marL="0">
              <a:buNone/>
            </a:pPr>
            <a:r>
              <a:rPr lang="en-US" sz="1100" b="1" dirty="0">
                <a:solidFill>
                  <a:srgbClr val="4E8C7E"/>
                </a:solidFill>
                <a:latin typeface="Calibri" pitchFamily="34" charset="0"/>
                <a:ea typeface="Calibri" pitchFamily="34" charset="-122"/>
                <a:cs typeface="Calibri" pitchFamily="34" charset="-120"/>
              </a:rPr>
              <a:t>WHAT THIS TALK COVERS</a:t>
            </a:r>
            <a:endParaRPr lang="en-US" sz="1100" dirty="0"/>
          </a:p>
        </p:txBody>
      </p:sp>
      <p:sp>
        <p:nvSpPr>
          <p:cNvPr id="5" name="Text 3"/>
          <p:cNvSpPr txBox="1"/>
          <p:nvPr/>
        </p:nvSpPr>
        <p:spPr>
          <a:xfrm>
            <a:off x="777240" y="4206240"/>
            <a:ext cx="8595360" cy="155448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E8F1EF"/>
                </a:solidFill>
                <a:latin typeface="Calibri" pitchFamily="34" charset="0"/>
                <a:ea typeface="Calibri" pitchFamily="34" charset="-122"/>
                <a:cs typeface="Calibri" pitchFamily="34" charset="-120"/>
              </a:rPr>
              <a:t>The seven steps from a plain-language question to a plan</a:t>
            </a:r>
            <a:endParaRPr lang="en-US" sz="1600" dirty="0"/>
          </a:p>
          <a:p>
            <a:pPr marL="342900" indent="-342900">
              <a:spcAft>
                <a:spcPts val="600"/>
              </a:spcAft>
              <a:buSzPct val="100000"/>
              <a:buChar char="•"/>
            </a:pPr>
            <a:r>
              <a:rPr lang="en-US" sz="1600" dirty="0">
                <a:solidFill>
                  <a:srgbClr val="E8F1EF"/>
                </a:solidFill>
                <a:latin typeface="Calibri" pitchFamily="34" charset="0"/>
                <a:ea typeface="Calibri" pitchFamily="34" charset="-122"/>
                <a:cs typeface="Calibri" pitchFamily="34" charset="-120"/>
              </a:rPr>
              <a:t>What it asks for that a general chatbot does not, and why that lowers the risk of statistical malpractice</a:t>
            </a:r>
            <a:endParaRPr lang="en-US" sz="1600" dirty="0"/>
          </a:p>
          <a:p>
            <a:pPr marL="342900" indent="-342900">
              <a:spcAft>
                <a:spcPts val="600"/>
              </a:spcAft>
              <a:buSzPct val="100000"/>
              <a:buChar char="•"/>
            </a:pPr>
            <a:r>
              <a:rPr lang="en-US" sz="1600" dirty="0">
                <a:solidFill>
                  <a:srgbClr val="E8F1EF"/>
                </a:solidFill>
                <a:latin typeface="Calibri" pitchFamily="34" charset="0"/>
                <a:ea typeface="Calibri" pitchFamily="34" charset="-122"/>
                <a:cs typeface="Calibri" pitchFamily="34" charset="-120"/>
              </a:rPr>
              <a:t>Who decides what: the investigator, the models, and the code</a:t>
            </a:r>
            <a:endParaRPr lang="en-US" sz="1600" dirty="0"/>
          </a:p>
          <a:p>
            <a:pPr marL="342900" indent="-342900">
              <a:spcAft>
                <a:spcPts val="600"/>
              </a:spcAft>
              <a:buSzPct val="100000"/>
              <a:buChar char="•"/>
            </a:pPr>
            <a:r>
              <a:rPr lang="en-US" sz="1600" dirty="0">
                <a:solidFill>
                  <a:srgbClr val="E8F1EF"/>
                </a:solidFill>
                <a:latin typeface="Calibri" pitchFamily="34" charset="0"/>
                <a:ea typeface="Calibri" pitchFamily="34" charset="-122"/>
                <a:cs typeface="Calibri" pitchFamily="34" charset="-120"/>
              </a:rPr>
              <a:t>Where it does not yet help</a:t>
            </a:r>
            <a:endParaRPr lang="en-US" sz="1600" dirty="0"/>
          </a:p>
        </p:txBody>
      </p:sp>
      <p:sp>
        <p:nvSpPr>
          <p:cNvPr id="6" name="Text 4"/>
          <p:cNvSpPr txBox="1"/>
          <p:nvPr/>
        </p:nvSpPr>
        <p:spPr>
          <a:xfrm>
            <a:off x="7498080" y="6126480"/>
            <a:ext cx="4114800" cy="274320"/>
          </a:xfrm>
          <a:prstGeom prst="rect">
            <a:avLst/>
          </a:prstGeom>
          <a:noFill/>
          <a:ln/>
        </p:spPr>
        <p:txBody>
          <a:bodyPr wrap="square" lIns="0" tIns="0" rIns="0" bIns="0" rtlCol="0" anchor="ctr"/>
          <a:lstStyle/>
          <a:p>
            <a:pPr algn="r" indent="0" marL="0">
              <a:buNone/>
            </a:pPr>
            <a:r>
              <a:rPr lang="en-US" sz="1100" dirty="0">
                <a:solidFill>
                  <a:srgbClr val="7FA79F"/>
                </a:solidFill>
                <a:latin typeface="Calibri" pitchFamily="34" charset="0"/>
                <a:ea typeface="Calibri" pitchFamily="34" charset="-122"/>
                <a:cs typeface="Calibri" pitchFamily="34" charset="-120"/>
              </a:rPr>
              <a:t>Juleon Rabbani, DrPH  ·  17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0881360" cy="658368"/>
          </a:xfrm>
          <a:prstGeom prst="rect">
            <a:avLst/>
          </a:prstGeom>
          <a:noFill/>
          <a:ln/>
        </p:spPr>
        <p:txBody>
          <a:bodyPr wrap="square" lIns="0" tIns="0" rIns="0" bIns="0" rtlCol="0" anchor="ctr"/>
          <a:lstStyle/>
          <a:p>
            <a:pPr indent="0" marL="0">
              <a:buNone/>
            </a:pPr>
            <a:r>
              <a:rPr lang="en-US" sz="3400" b="1" dirty="0">
                <a:solidFill>
                  <a:srgbClr val="16202B"/>
                </a:solidFill>
                <a:latin typeface="Cambria" pitchFamily="34" charset="0"/>
                <a:ea typeface="Cambria" pitchFamily="34" charset="-122"/>
                <a:cs typeface="Cambria" pitchFamily="34" charset="-120"/>
              </a:rPr>
              <a:t>A plan is never the output of one model</a:t>
            </a:r>
            <a:endParaRPr lang="en-US" sz="3400" dirty="0"/>
          </a:p>
        </p:txBody>
      </p:sp>
      <p:sp>
        <p:nvSpPr>
          <p:cNvPr id="3" name="Text 1"/>
          <p:cNvSpPr txBox="1"/>
          <p:nvPr/>
        </p:nvSpPr>
        <p:spPr>
          <a:xfrm>
            <a:off x="566928" y="1060704"/>
            <a:ext cx="10881360"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Four numbers that describe the process, all read from the deployed code</a:t>
            </a:r>
            <a:endParaRPr lang="en-US" sz="1500" dirty="0"/>
          </a:p>
        </p:txBody>
      </p:sp>
      <p:sp>
        <p:nvSpPr>
          <p:cNvPr id="4" name="Shape 2"/>
          <p:cNvSpPr/>
          <p:nvPr/>
        </p:nvSpPr>
        <p:spPr>
          <a:xfrm>
            <a:off x="566928" y="1737360"/>
            <a:ext cx="2606040" cy="2514600"/>
          </a:xfrm>
          <a:prstGeom prst="rect">
            <a:avLst/>
          </a:prstGeom>
          <a:solidFill>
            <a:srgbClr val="EEF3F2"/>
          </a:solidFill>
          <a:ln w="12700">
            <a:solidFill>
              <a:srgbClr val="EEF3F2"/>
            </a:solidFill>
            <a:prstDash val="solid"/>
          </a:ln>
        </p:spPr>
      </p:sp>
      <p:sp>
        <p:nvSpPr>
          <p:cNvPr id="5" name="Text 3"/>
          <p:cNvSpPr txBox="1"/>
          <p:nvPr/>
        </p:nvSpPr>
        <p:spPr>
          <a:xfrm>
            <a:off x="749808" y="1874520"/>
            <a:ext cx="2240280" cy="1097280"/>
          </a:xfrm>
          <a:prstGeom prst="rect">
            <a:avLst/>
          </a:prstGeom>
          <a:noFill/>
          <a:ln/>
        </p:spPr>
        <p:txBody>
          <a:bodyPr wrap="square" lIns="0" tIns="0" rIns="0" bIns="0" rtlCol="0" anchor="ctr"/>
          <a:lstStyle/>
          <a:p>
            <a:pPr indent="0" marL="0">
              <a:buNone/>
            </a:pPr>
            <a:r>
              <a:rPr lang="en-US" sz="6600" b="1" dirty="0">
                <a:solidFill>
                  <a:srgbClr val="0F4C43"/>
                </a:solidFill>
                <a:latin typeface="Cambria" pitchFamily="34" charset="0"/>
                <a:ea typeface="Cambria" pitchFamily="34" charset="-122"/>
                <a:cs typeface="Cambria" pitchFamily="34" charset="-120"/>
              </a:rPr>
              <a:t>7</a:t>
            </a:r>
            <a:endParaRPr lang="en-US" sz="6600" dirty="0"/>
          </a:p>
        </p:txBody>
      </p:sp>
      <p:sp>
        <p:nvSpPr>
          <p:cNvPr id="6" name="Text 4"/>
          <p:cNvSpPr txBox="1"/>
          <p:nvPr/>
        </p:nvSpPr>
        <p:spPr>
          <a:xfrm>
            <a:off x="749808" y="3017520"/>
            <a:ext cx="2240280" cy="1325880"/>
          </a:xfrm>
          <a:prstGeom prst="rect">
            <a:avLst/>
          </a:prstGeom>
          <a:noFill/>
          <a:ln/>
        </p:spPr>
        <p:txBody>
          <a:bodyPr wrap="square" lIns="0" tIns="0" rIns="0" bIns="0" rtlCol="0" anchor="t"/>
          <a:lstStyle/>
          <a:p>
            <a:pPr indent="0" marL="0">
              <a:buNone/>
            </a:pPr>
            <a:r>
              <a:rPr lang="en-US" sz="1300" dirty="0">
                <a:solidFill>
                  <a:srgbClr val="16202B"/>
                </a:solidFill>
                <a:latin typeface="Calibri" pitchFamily="34" charset="0"/>
                <a:ea typeface="Calibri" pitchFamily="34" charset="-122"/>
                <a:cs typeface="Calibri" pitchFamily="34" charset="-120"/>
              </a:rPr>
              <a:t>steps, built in the order a study develops, with the design settled first</a:t>
            </a:r>
            <a:endParaRPr lang="en-US" sz="1300" dirty="0"/>
          </a:p>
        </p:txBody>
      </p:sp>
      <p:sp>
        <p:nvSpPr>
          <p:cNvPr id="7" name="Shape 5"/>
          <p:cNvSpPr/>
          <p:nvPr/>
        </p:nvSpPr>
        <p:spPr>
          <a:xfrm>
            <a:off x="3355848" y="1737360"/>
            <a:ext cx="2606040" cy="2514600"/>
          </a:xfrm>
          <a:prstGeom prst="rect">
            <a:avLst/>
          </a:prstGeom>
          <a:solidFill>
            <a:srgbClr val="EEF3F2"/>
          </a:solidFill>
          <a:ln w="12700">
            <a:solidFill>
              <a:srgbClr val="EEF3F2"/>
            </a:solidFill>
            <a:prstDash val="solid"/>
          </a:ln>
        </p:spPr>
      </p:sp>
      <p:sp>
        <p:nvSpPr>
          <p:cNvPr id="8" name="Text 6"/>
          <p:cNvSpPr txBox="1"/>
          <p:nvPr/>
        </p:nvSpPr>
        <p:spPr>
          <a:xfrm>
            <a:off x="3538728" y="1874520"/>
            <a:ext cx="2240280" cy="1097280"/>
          </a:xfrm>
          <a:prstGeom prst="rect">
            <a:avLst/>
          </a:prstGeom>
          <a:noFill/>
          <a:ln/>
        </p:spPr>
        <p:txBody>
          <a:bodyPr wrap="square" lIns="0" tIns="0" rIns="0" bIns="0" rtlCol="0" anchor="ctr"/>
          <a:lstStyle/>
          <a:p>
            <a:pPr indent="0" marL="0">
              <a:buNone/>
            </a:pPr>
            <a:r>
              <a:rPr lang="en-US" sz="6600" b="1" dirty="0">
                <a:solidFill>
                  <a:srgbClr val="0F4C43"/>
                </a:solidFill>
                <a:latin typeface="Cambria" pitchFamily="34" charset="0"/>
                <a:ea typeface="Cambria" pitchFamily="34" charset="-122"/>
                <a:cs typeface="Cambria" pitchFamily="34" charset="-120"/>
              </a:rPr>
              <a:t>2</a:t>
            </a:r>
            <a:endParaRPr lang="en-US" sz="6600" dirty="0"/>
          </a:p>
        </p:txBody>
      </p:sp>
      <p:sp>
        <p:nvSpPr>
          <p:cNvPr id="9" name="Text 7"/>
          <p:cNvSpPr txBox="1"/>
          <p:nvPr/>
        </p:nvSpPr>
        <p:spPr>
          <a:xfrm>
            <a:off x="3538728" y="3017520"/>
            <a:ext cx="2240280" cy="1325880"/>
          </a:xfrm>
          <a:prstGeom prst="rect">
            <a:avLst/>
          </a:prstGeom>
          <a:noFill/>
          <a:ln/>
        </p:spPr>
        <p:txBody>
          <a:bodyPr wrap="square" lIns="0" tIns="0" rIns="0" bIns="0" rtlCol="0" anchor="t"/>
          <a:lstStyle/>
          <a:p>
            <a:pPr indent="0" marL="0">
              <a:buNone/>
            </a:pPr>
            <a:r>
              <a:rPr lang="en-US" sz="1300" dirty="0">
                <a:solidFill>
                  <a:srgbClr val="16202B"/>
                </a:solidFill>
                <a:latin typeface="Calibri" pitchFamily="34" charset="0"/>
                <a:ea typeface="Calibri" pitchFamily="34" charset="-122"/>
                <a:cs typeface="Calibri" pitchFamily="34" charset="-120"/>
              </a:rPr>
              <a:t>independent model reviewers, Anthropic and OpenAI, merged worst case</a:t>
            </a:r>
            <a:endParaRPr lang="en-US" sz="1300" dirty="0"/>
          </a:p>
        </p:txBody>
      </p:sp>
      <p:sp>
        <p:nvSpPr>
          <p:cNvPr id="10" name="Shape 8"/>
          <p:cNvSpPr/>
          <p:nvPr/>
        </p:nvSpPr>
        <p:spPr>
          <a:xfrm>
            <a:off x="6144768" y="1737360"/>
            <a:ext cx="2606040" cy="2514600"/>
          </a:xfrm>
          <a:prstGeom prst="rect">
            <a:avLst/>
          </a:prstGeom>
          <a:solidFill>
            <a:srgbClr val="EEF3F2"/>
          </a:solidFill>
          <a:ln w="12700">
            <a:solidFill>
              <a:srgbClr val="EEF3F2"/>
            </a:solidFill>
            <a:prstDash val="solid"/>
          </a:ln>
        </p:spPr>
      </p:sp>
      <p:sp>
        <p:nvSpPr>
          <p:cNvPr id="11" name="Text 9"/>
          <p:cNvSpPr txBox="1"/>
          <p:nvPr/>
        </p:nvSpPr>
        <p:spPr>
          <a:xfrm>
            <a:off x="6327648" y="1874520"/>
            <a:ext cx="2240280" cy="1097280"/>
          </a:xfrm>
          <a:prstGeom prst="rect">
            <a:avLst/>
          </a:prstGeom>
          <a:noFill/>
          <a:ln/>
        </p:spPr>
        <p:txBody>
          <a:bodyPr wrap="square" lIns="0" tIns="0" rIns="0" bIns="0" rtlCol="0" anchor="ctr"/>
          <a:lstStyle/>
          <a:p>
            <a:pPr indent="0" marL="0">
              <a:buNone/>
            </a:pPr>
            <a:r>
              <a:rPr lang="en-US" sz="6600" b="1" dirty="0">
                <a:solidFill>
                  <a:srgbClr val="0F4C43"/>
                </a:solidFill>
                <a:latin typeface="Cambria" pitchFamily="34" charset="0"/>
                <a:ea typeface="Cambria" pitchFamily="34" charset="-122"/>
                <a:cs typeface="Cambria" pitchFamily="34" charset="-120"/>
              </a:rPr>
              <a:t>37</a:t>
            </a:r>
            <a:endParaRPr lang="en-US" sz="6600" dirty="0"/>
          </a:p>
        </p:txBody>
      </p:sp>
      <p:sp>
        <p:nvSpPr>
          <p:cNvPr id="12" name="Text 10"/>
          <p:cNvSpPr txBox="1"/>
          <p:nvPr/>
        </p:nvSpPr>
        <p:spPr>
          <a:xfrm>
            <a:off x="6327648" y="3017520"/>
            <a:ext cx="2240280" cy="1325880"/>
          </a:xfrm>
          <a:prstGeom prst="rect">
            <a:avLst/>
          </a:prstGeom>
          <a:noFill/>
          <a:ln/>
        </p:spPr>
        <p:txBody>
          <a:bodyPr wrap="square" lIns="0" tIns="0" rIns="0" bIns="0" rtlCol="0" anchor="t"/>
          <a:lstStyle/>
          <a:p>
            <a:pPr indent="0" marL="0">
              <a:buNone/>
            </a:pPr>
            <a:r>
              <a:rPr lang="en-US" sz="1300" dirty="0">
                <a:solidFill>
                  <a:srgbClr val="16202B"/>
                </a:solidFill>
                <a:latin typeface="Calibri" pitchFamily="34" charset="0"/>
                <a:ea typeface="Calibri" pitchFamily="34" charset="-122"/>
                <a:cs typeface="Calibri" pitchFamily="34" charset="-120"/>
              </a:rPr>
              <a:t>deterministic checks: 17 estimand rules and 20 validators</a:t>
            </a:r>
            <a:endParaRPr lang="en-US" sz="1300" dirty="0"/>
          </a:p>
        </p:txBody>
      </p:sp>
      <p:sp>
        <p:nvSpPr>
          <p:cNvPr id="13" name="Shape 11"/>
          <p:cNvSpPr/>
          <p:nvPr/>
        </p:nvSpPr>
        <p:spPr>
          <a:xfrm>
            <a:off x="8933688" y="1737360"/>
            <a:ext cx="2606040" cy="2514600"/>
          </a:xfrm>
          <a:prstGeom prst="rect">
            <a:avLst/>
          </a:prstGeom>
          <a:solidFill>
            <a:srgbClr val="EEF3F2"/>
          </a:solidFill>
          <a:ln w="12700">
            <a:solidFill>
              <a:srgbClr val="EEF3F2"/>
            </a:solidFill>
            <a:prstDash val="solid"/>
          </a:ln>
        </p:spPr>
      </p:sp>
      <p:sp>
        <p:nvSpPr>
          <p:cNvPr id="14" name="Text 12"/>
          <p:cNvSpPr txBox="1"/>
          <p:nvPr/>
        </p:nvSpPr>
        <p:spPr>
          <a:xfrm>
            <a:off x="9116568" y="1874520"/>
            <a:ext cx="2240280" cy="1097280"/>
          </a:xfrm>
          <a:prstGeom prst="rect">
            <a:avLst/>
          </a:prstGeom>
          <a:noFill/>
          <a:ln/>
        </p:spPr>
        <p:txBody>
          <a:bodyPr wrap="square" lIns="0" tIns="0" rIns="0" bIns="0" rtlCol="0" anchor="ctr"/>
          <a:lstStyle/>
          <a:p>
            <a:pPr indent="0" marL="0">
              <a:buNone/>
            </a:pPr>
            <a:r>
              <a:rPr lang="en-US" sz="6600" b="1" dirty="0">
                <a:solidFill>
                  <a:srgbClr val="0F4C43"/>
                </a:solidFill>
                <a:latin typeface="Cambria" pitchFamily="34" charset="0"/>
                <a:ea typeface="Cambria" pitchFamily="34" charset="-122"/>
                <a:cs typeface="Cambria" pitchFamily="34" charset="-120"/>
              </a:rPr>
              <a:t>7</a:t>
            </a:r>
            <a:endParaRPr lang="en-US" sz="6600" dirty="0"/>
          </a:p>
        </p:txBody>
      </p:sp>
      <p:sp>
        <p:nvSpPr>
          <p:cNvPr id="15" name="Text 13"/>
          <p:cNvSpPr txBox="1"/>
          <p:nvPr/>
        </p:nvSpPr>
        <p:spPr>
          <a:xfrm>
            <a:off x="9116568" y="3017520"/>
            <a:ext cx="2240280" cy="1325880"/>
          </a:xfrm>
          <a:prstGeom prst="rect">
            <a:avLst/>
          </a:prstGeom>
          <a:noFill/>
          <a:ln/>
        </p:spPr>
        <p:txBody>
          <a:bodyPr wrap="square" lIns="0" tIns="0" rIns="0" bIns="0" rtlCol="0" anchor="t"/>
          <a:lstStyle/>
          <a:p>
            <a:pPr indent="0" marL="0">
              <a:buNone/>
            </a:pPr>
            <a:r>
              <a:rPr lang="en-US" sz="1300" dirty="0">
                <a:solidFill>
                  <a:srgbClr val="16202B"/>
                </a:solidFill>
                <a:latin typeface="Calibri" pitchFamily="34" charset="0"/>
                <a:ea typeface="Calibri" pitchFamily="34" charset="-122"/>
                <a:cs typeface="Calibri" pitchFamily="34" charset="-120"/>
              </a:rPr>
              <a:t>check codes that withhold the sample size outright, never with a warning under it</a:t>
            </a:r>
            <a:endParaRPr lang="en-US" sz="1300" dirty="0"/>
          </a:p>
        </p:txBody>
      </p:sp>
      <p:sp>
        <p:nvSpPr>
          <p:cNvPr id="16" name="Text 14"/>
          <p:cNvSpPr txBox="1"/>
          <p:nvPr/>
        </p:nvSpPr>
        <p:spPr>
          <a:xfrm>
            <a:off x="566928" y="4572000"/>
            <a:ext cx="10972800" cy="73152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Two model reviews run only where a wrong answer does the most harm: the design brief and the analysis step. The deterministic checks run on every step, and no model can overrule them.</a:t>
            </a:r>
            <a:endParaRPr lang="en-US" sz="1400" dirty="0"/>
          </a:p>
        </p:txBody>
      </p:sp>
      <p:sp>
        <p:nvSpPr>
          <p:cNvPr id="17" name="Shape 15"/>
          <p:cNvSpPr/>
          <p:nvPr/>
        </p:nvSpPr>
        <p:spPr>
          <a:xfrm>
            <a:off x="548640" y="5742432"/>
            <a:ext cx="11091672" cy="603504"/>
          </a:xfrm>
          <a:prstGeom prst="rect">
            <a:avLst/>
          </a:prstGeom>
          <a:solidFill>
            <a:srgbClr val="EEF3F2"/>
          </a:solidFill>
          <a:ln w="12700">
            <a:solidFill>
              <a:srgbClr val="EEF3F2"/>
            </a:solidFill>
            <a:prstDash val="solid"/>
          </a:ln>
        </p:spPr>
      </p:sp>
      <p:sp>
        <p:nvSpPr>
          <p:cNvPr id="18" name="Text 16"/>
          <p:cNvSpPr txBox="1"/>
          <p:nvPr/>
        </p:nvSpPr>
        <p:spPr>
          <a:xfrm>
            <a:off x="786384" y="5742432"/>
            <a:ext cx="10607040" cy="603504"/>
          </a:xfrm>
          <a:prstGeom prst="rect">
            <a:avLst/>
          </a:prstGeom>
          <a:noFill/>
          <a:ln/>
        </p:spPr>
        <p:txBody>
          <a:bodyPr wrap="square" lIns="0" tIns="0" rIns="0" bIns="0" rtlCol="0" anchor="ctr"/>
          <a:lstStyle/>
          <a:p>
            <a:pPr indent="0" marL="0">
              <a:buNone/>
            </a:pPr>
            <a:r>
              <a:rPr lang="en-US" sz="1450" dirty="0">
                <a:solidFill>
                  <a:srgbClr val="16202B"/>
                </a:solidFill>
                <a:latin typeface="Calibri" pitchFamily="34" charset="0"/>
                <a:ea typeface="Calibri" pitchFamily="34" charset="-122"/>
                <a:cs typeface="Calibri" pitchFamily="34" charset="-120"/>
              </a:rPr>
              <a:t>If the sizing method does not fit what the study measures, the number is withheld rather than shown with a caveat.</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0881360" cy="658368"/>
          </a:xfrm>
          <a:prstGeom prst="rect">
            <a:avLst/>
          </a:prstGeom>
          <a:noFill/>
          <a:ln/>
        </p:spPr>
        <p:txBody>
          <a:bodyPr wrap="square" lIns="0" tIns="0" rIns="0" bIns="0" rtlCol="0" anchor="ctr"/>
          <a:lstStyle/>
          <a:p>
            <a:pPr indent="0" marL="0">
              <a:buNone/>
            </a:pPr>
            <a:r>
              <a:rPr lang="en-US" sz="3400" b="1" dirty="0">
                <a:solidFill>
                  <a:srgbClr val="16202B"/>
                </a:solidFill>
                <a:latin typeface="Cambria" pitchFamily="34" charset="0"/>
                <a:ea typeface="Cambria" pitchFamily="34" charset="-122"/>
                <a:cs typeface="Cambria" pitchFamily="34" charset="-120"/>
              </a:rPr>
              <a:t>The plan is built in the order a study develops</a:t>
            </a:r>
            <a:endParaRPr lang="en-US" sz="3400" dirty="0"/>
          </a:p>
        </p:txBody>
      </p:sp>
      <p:sp>
        <p:nvSpPr>
          <p:cNvPr id="3" name="Text 1"/>
          <p:cNvSpPr txBox="1"/>
          <p:nvPr/>
        </p:nvSpPr>
        <p:spPr>
          <a:xfrm>
            <a:off x="566928" y="1060704"/>
            <a:ext cx="10881360"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A free design brief first, then six plan steps; one credit is spent at step 3</a:t>
            </a:r>
            <a:endParaRPr lang="en-US" sz="1500" dirty="0"/>
          </a:p>
        </p:txBody>
      </p:sp>
      <p:sp>
        <p:nvSpPr>
          <p:cNvPr id="4" name="Shape 2"/>
          <p:cNvSpPr/>
          <p:nvPr/>
        </p:nvSpPr>
        <p:spPr>
          <a:xfrm>
            <a:off x="566928" y="1554480"/>
            <a:ext cx="118872" cy="118872"/>
          </a:xfrm>
          <a:prstGeom prst="rect">
            <a:avLst/>
          </a:prstGeom>
          <a:solidFill>
            <a:srgbClr val="9A6B0F"/>
          </a:solidFill>
          <a:ln w="12700">
            <a:solidFill>
              <a:srgbClr val="9A6B0F"/>
            </a:solidFill>
            <a:prstDash val="solid"/>
          </a:ln>
        </p:spPr>
      </p:sp>
      <p:sp>
        <p:nvSpPr>
          <p:cNvPr id="5" name="Text 3"/>
          <p:cNvSpPr txBox="1"/>
          <p:nvPr/>
        </p:nvSpPr>
        <p:spPr>
          <a:xfrm>
            <a:off x="749808" y="1490472"/>
            <a:ext cx="2926080" cy="256032"/>
          </a:xfrm>
          <a:prstGeom prst="rect">
            <a:avLst/>
          </a:prstGeom>
          <a:noFill/>
          <a:ln/>
        </p:spPr>
        <p:txBody>
          <a:bodyPr wrap="square" lIns="0" tIns="0" rIns="0" bIns="0" rtlCol="0" anchor="ctr"/>
          <a:lstStyle/>
          <a:p>
            <a:pPr indent="0" marL="0">
              <a:buNone/>
            </a:pPr>
            <a:r>
              <a:rPr lang="en-US" sz="1150" dirty="0">
                <a:solidFill>
                  <a:srgbClr val="556975"/>
                </a:solidFill>
                <a:latin typeface="Calibri" pitchFamily="34" charset="0"/>
                <a:ea typeface="Calibri" pitchFamily="34" charset="-122"/>
                <a:cs typeface="Calibri" pitchFamily="34" charset="-120"/>
              </a:rPr>
              <a:t>Reviewed by two model labs</a:t>
            </a:r>
            <a:endParaRPr lang="en-US" sz="1150" dirty="0"/>
          </a:p>
        </p:txBody>
      </p:sp>
      <p:sp>
        <p:nvSpPr>
          <p:cNvPr id="6" name="Shape 4"/>
          <p:cNvSpPr/>
          <p:nvPr/>
        </p:nvSpPr>
        <p:spPr>
          <a:xfrm>
            <a:off x="3291840" y="1554480"/>
            <a:ext cx="118872" cy="118872"/>
          </a:xfrm>
          <a:prstGeom prst="rect">
            <a:avLst/>
          </a:prstGeom>
          <a:solidFill>
            <a:srgbClr val="0F4C43"/>
          </a:solidFill>
          <a:ln w="12700">
            <a:solidFill>
              <a:srgbClr val="0F4C43"/>
            </a:solidFill>
            <a:prstDash val="solid"/>
          </a:ln>
        </p:spPr>
      </p:sp>
      <p:sp>
        <p:nvSpPr>
          <p:cNvPr id="7" name="Text 5"/>
          <p:cNvSpPr txBox="1"/>
          <p:nvPr/>
        </p:nvSpPr>
        <p:spPr>
          <a:xfrm>
            <a:off x="3474720" y="1490472"/>
            <a:ext cx="3108960" cy="256032"/>
          </a:xfrm>
          <a:prstGeom prst="rect">
            <a:avLst/>
          </a:prstGeom>
          <a:noFill/>
          <a:ln/>
        </p:spPr>
        <p:txBody>
          <a:bodyPr wrap="square" lIns="0" tIns="0" rIns="0" bIns="0" rtlCol="0" anchor="ctr"/>
          <a:lstStyle/>
          <a:p>
            <a:pPr indent="0" marL="0">
              <a:buNone/>
            </a:pPr>
            <a:r>
              <a:rPr lang="en-US" sz="1150" dirty="0">
                <a:solidFill>
                  <a:srgbClr val="556975"/>
                </a:solidFill>
                <a:latin typeface="Calibri" pitchFamily="34" charset="0"/>
                <a:ea typeface="Calibri" pitchFamily="34" charset="-122"/>
                <a:cs typeface="Calibri" pitchFamily="34" charset="-120"/>
              </a:rPr>
              <a:t>Deterministic checks only</a:t>
            </a:r>
            <a:endParaRPr lang="en-US" sz="1150" dirty="0"/>
          </a:p>
        </p:txBody>
      </p:sp>
      <p:sp>
        <p:nvSpPr>
          <p:cNvPr id="8" name="Shape 6"/>
          <p:cNvSpPr/>
          <p:nvPr/>
        </p:nvSpPr>
        <p:spPr>
          <a:xfrm>
            <a:off x="6126480" y="1554480"/>
            <a:ext cx="118872" cy="118872"/>
          </a:xfrm>
          <a:prstGeom prst="rect">
            <a:avLst/>
          </a:prstGeom>
          <a:solidFill>
            <a:srgbClr val="D9AC5A"/>
          </a:solidFill>
          <a:ln w="12700">
            <a:solidFill>
              <a:srgbClr val="D9AC5A"/>
            </a:solidFill>
            <a:prstDash val="solid"/>
          </a:ln>
        </p:spPr>
      </p:sp>
      <p:sp>
        <p:nvSpPr>
          <p:cNvPr id="9" name="Text 7"/>
          <p:cNvSpPr txBox="1"/>
          <p:nvPr/>
        </p:nvSpPr>
        <p:spPr>
          <a:xfrm>
            <a:off x="6309360" y="1490472"/>
            <a:ext cx="3657600" cy="256032"/>
          </a:xfrm>
          <a:prstGeom prst="rect">
            <a:avLst/>
          </a:prstGeom>
          <a:noFill/>
          <a:ln/>
        </p:spPr>
        <p:txBody>
          <a:bodyPr wrap="square" lIns="0" tIns="0" rIns="0" bIns="0" rtlCol="0" anchor="ctr"/>
          <a:lstStyle/>
          <a:p>
            <a:pPr indent="0" marL="0">
              <a:buNone/>
            </a:pPr>
            <a:r>
              <a:rPr lang="en-US" sz="1150" dirty="0">
                <a:solidFill>
                  <a:srgbClr val="556975"/>
                </a:solidFill>
                <a:latin typeface="Calibri" pitchFamily="34" charset="0"/>
                <a:ea typeface="Calibri" pitchFamily="34" charset="-122"/>
                <a:cs typeface="Calibri" pitchFamily="34" charset="-120"/>
              </a:rPr>
              <a:t>Investigator answers questions here</a:t>
            </a:r>
            <a:endParaRPr lang="en-US" sz="1150" dirty="0"/>
          </a:p>
        </p:txBody>
      </p:sp>
      <p:sp>
        <p:nvSpPr>
          <p:cNvPr id="10" name="Shape 8"/>
          <p:cNvSpPr/>
          <p:nvPr/>
        </p:nvSpPr>
        <p:spPr>
          <a:xfrm>
            <a:off x="566928" y="2011680"/>
            <a:ext cx="1481328" cy="1051560"/>
          </a:xfrm>
          <a:prstGeom prst="roundRect">
            <a:avLst>
              <a:gd name="adj" fmla="val 6957"/>
            </a:avLst>
          </a:prstGeom>
          <a:solidFill>
            <a:srgbClr val="0F4C43"/>
          </a:solidFill>
          <a:ln w="12700">
            <a:solidFill>
              <a:srgbClr val="0F4C43"/>
            </a:solidFill>
            <a:prstDash val="solid"/>
          </a:ln>
        </p:spPr>
      </p:sp>
      <p:sp>
        <p:nvSpPr>
          <p:cNvPr id="11" name="Shape 9"/>
          <p:cNvSpPr/>
          <p:nvPr/>
        </p:nvSpPr>
        <p:spPr>
          <a:xfrm>
            <a:off x="566928" y="2953512"/>
            <a:ext cx="1481328" cy="109728"/>
          </a:xfrm>
          <a:prstGeom prst="rect">
            <a:avLst/>
          </a:prstGeom>
          <a:solidFill>
            <a:srgbClr val="0F4C43"/>
          </a:solidFill>
          <a:ln w="12700">
            <a:solidFill>
              <a:srgbClr val="0F4C43"/>
            </a:solidFill>
            <a:prstDash val="solid"/>
          </a:ln>
        </p:spPr>
      </p:sp>
      <p:sp>
        <p:nvSpPr>
          <p:cNvPr id="12" name="Shape 10"/>
          <p:cNvSpPr/>
          <p:nvPr/>
        </p:nvSpPr>
        <p:spPr>
          <a:xfrm>
            <a:off x="566928" y="3063240"/>
            <a:ext cx="1481328" cy="2148840"/>
          </a:xfrm>
          <a:prstGeom prst="roundRect">
            <a:avLst>
              <a:gd name="adj" fmla="val 4938"/>
            </a:avLst>
          </a:prstGeom>
          <a:solidFill>
            <a:srgbClr val="F7FAF9"/>
          </a:solidFill>
          <a:ln w="12700">
            <a:solidFill>
              <a:srgbClr val="F7FAF9"/>
            </a:solidFill>
            <a:prstDash val="solid"/>
          </a:ln>
        </p:spPr>
      </p:sp>
      <p:sp>
        <p:nvSpPr>
          <p:cNvPr id="13" name="Shape 11"/>
          <p:cNvSpPr/>
          <p:nvPr/>
        </p:nvSpPr>
        <p:spPr>
          <a:xfrm>
            <a:off x="566928" y="3063240"/>
            <a:ext cx="1481328" cy="91440"/>
          </a:xfrm>
          <a:prstGeom prst="rect">
            <a:avLst/>
          </a:prstGeom>
          <a:solidFill>
            <a:srgbClr val="F7FAF9"/>
          </a:solidFill>
          <a:ln w="12700">
            <a:solidFill>
              <a:srgbClr val="F7FAF9"/>
            </a:solidFill>
            <a:prstDash val="solid"/>
          </a:ln>
        </p:spPr>
      </p:sp>
      <p:sp>
        <p:nvSpPr>
          <p:cNvPr id="14" name="Text 12"/>
          <p:cNvSpPr txBox="1"/>
          <p:nvPr/>
        </p:nvSpPr>
        <p:spPr>
          <a:xfrm>
            <a:off x="731520" y="2112264"/>
            <a:ext cx="1152144" cy="201168"/>
          </a:xfrm>
          <a:prstGeom prst="rect">
            <a:avLst/>
          </a:prstGeom>
          <a:noFill/>
          <a:ln/>
        </p:spPr>
        <p:txBody>
          <a:bodyPr wrap="square" lIns="0" tIns="0" rIns="0" bIns="0" rtlCol="0" anchor="ctr"/>
          <a:lstStyle/>
          <a:p>
            <a:pPr indent="0" marL="0">
              <a:buNone/>
            </a:pPr>
            <a:r>
              <a:rPr lang="en-US" sz="950" b="1" dirty="0">
                <a:solidFill>
                  <a:srgbClr val="8FC3B5"/>
                </a:solidFill>
                <a:latin typeface="Consolas" pitchFamily="34" charset="0"/>
                <a:ea typeface="Consolas" pitchFamily="34" charset="-122"/>
                <a:cs typeface="Consolas" pitchFamily="34" charset="-120"/>
              </a:rPr>
              <a:t>STEP 1</a:t>
            </a:r>
            <a:endParaRPr lang="en-US" sz="950" dirty="0"/>
          </a:p>
        </p:txBody>
      </p:sp>
      <p:sp>
        <p:nvSpPr>
          <p:cNvPr id="15" name="Text 13"/>
          <p:cNvSpPr txBox="1"/>
          <p:nvPr/>
        </p:nvSpPr>
        <p:spPr>
          <a:xfrm>
            <a:off x="731520" y="2304288"/>
            <a:ext cx="1152144" cy="66751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Question and data</a:t>
            </a:r>
            <a:endParaRPr lang="en-US" sz="1400" dirty="0"/>
          </a:p>
        </p:txBody>
      </p:sp>
      <p:sp>
        <p:nvSpPr>
          <p:cNvPr id="16" name="Text 14"/>
          <p:cNvSpPr txBox="1"/>
          <p:nvPr/>
        </p:nvSpPr>
        <p:spPr>
          <a:xfrm>
            <a:off x="713232" y="3191256"/>
            <a:ext cx="1188720" cy="1892808"/>
          </a:xfrm>
          <a:prstGeom prst="rect">
            <a:avLst/>
          </a:prstGeom>
          <a:noFill/>
          <a:ln/>
        </p:spPr>
        <p:txBody>
          <a:bodyPr wrap="square" lIns="0" tIns="0" rIns="0" bIns="0" rtlCol="0" anchor="t"/>
          <a:lstStyle/>
          <a:p>
            <a:pPr indent="0" marL="0">
              <a:spcAft>
                <a:spcPts val="400"/>
              </a:spcAft>
              <a:buNone/>
            </a:pPr>
            <a:endParaRPr lang="en-US" sz="900" dirty="0"/>
          </a:p>
        </p:txBody>
      </p:sp>
      <p:sp>
        <p:nvSpPr>
          <p:cNvPr id="17" name="Text 15"/>
          <p:cNvSpPr txBox="1"/>
          <p:nvPr/>
        </p:nvSpPr>
        <p:spPr>
          <a:xfrm>
            <a:off x="694944" y="3200400"/>
            <a:ext cx="1225296" cy="1463040"/>
          </a:xfrm>
          <a:prstGeom prst="rect">
            <a:avLst/>
          </a:prstGeom>
          <a:noFill/>
          <a:ln/>
        </p:spPr>
        <p:txBody>
          <a:bodyPr wrap="square" lIns="0" tIns="0" rIns="0" bIns="0" rtlCol="0" anchor="t"/>
          <a:lstStyle/>
          <a:p>
            <a:pPr indent="0" marL="0">
              <a:spcAft>
                <a:spcPts val="600"/>
              </a:spcAft>
              <a:buNone/>
            </a:pPr>
            <a:r>
              <a:rPr lang="en-US" sz="950" dirty="0">
                <a:solidFill>
                  <a:srgbClr val="16202B"/>
                </a:solidFill>
                <a:latin typeface="Calibri" pitchFamily="34" charset="0"/>
                <a:ea typeface="Calibri" pitchFamily="34" charset="-122"/>
                <a:cs typeface="Calibri" pitchFamily="34" charset="-120"/>
              </a:rPr>
              <a:t>What am I asking, has it been answered, what records do I have?</a:t>
            </a:r>
            <a:endParaRPr lang="en-US" sz="950" dirty="0"/>
          </a:p>
          <a:p>
            <a:pPr indent="0" marL="0">
              <a:buNone/>
            </a:pPr>
            <a:r>
              <a:rPr lang="en-US" sz="950" b="1" dirty="0">
                <a:solidFill>
                  <a:srgbClr val="0F4C43"/>
                </a:solidFill>
                <a:latin typeface="Calibri" pitchFamily="34" charset="0"/>
                <a:ea typeface="Calibri" pitchFamily="34" charset="-122"/>
                <a:cs typeface="Calibri" pitchFamily="34" charset="-120"/>
              </a:rPr>
              <a:t>Free. Nothing generated.</a:t>
            </a:r>
            <a:endParaRPr lang="en-US" sz="950" dirty="0"/>
          </a:p>
        </p:txBody>
      </p:sp>
      <p:sp>
        <p:nvSpPr>
          <p:cNvPr id="18" name="Shape 16"/>
          <p:cNvSpPr/>
          <p:nvPr/>
        </p:nvSpPr>
        <p:spPr>
          <a:xfrm>
            <a:off x="694944" y="4937760"/>
            <a:ext cx="118872" cy="118872"/>
          </a:xfrm>
          <a:prstGeom prst="rect">
            <a:avLst/>
          </a:prstGeom>
          <a:solidFill>
            <a:srgbClr val="0F4C43"/>
          </a:solidFill>
          <a:ln w="12700">
            <a:solidFill>
              <a:srgbClr val="0F4C43"/>
            </a:solidFill>
            <a:prstDash val="solid"/>
          </a:ln>
        </p:spPr>
      </p:sp>
      <p:sp>
        <p:nvSpPr>
          <p:cNvPr id="19" name="Shape 17"/>
          <p:cNvSpPr/>
          <p:nvPr/>
        </p:nvSpPr>
        <p:spPr>
          <a:xfrm>
            <a:off x="2167128" y="2011680"/>
            <a:ext cx="1481328" cy="1051560"/>
          </a:xfrm>
          <a:prstGeom prst="roundRect">
            <a:avLst>
              <a:gd name="adj" fmla="val 6957"/>
            </a:avLst>
          </a:prstGeom>
          <a:solidFill>
            <a:srgbClr val="0F4C43"/>
          </a:solidFill>
          <a:ln w="12700">
            <a:solidFill>
              <a:srgbClr val="0F4C43"/>
            </a:solidFill>
            <a:prstDash val="solid"/>
          </a:ln>
        </p:spPr>
      </p:sp>
      <p:sp>
        <p:nvSpPr>
          <p:cNvPr id="20" name="Shape 18"/>
          <p:cNvSpPr/>
          <p:nvPr/>
        </p:nvSpPr>
        <p:spPr>
          <a:xfrm>
            <a:off x="2167128" y="2953512"/>
            <a:ext cx="1481328" cy="109728"/>
          </a:xfrm>
          <a:prstGeom prst="rect">
            <a:avLst/>
          </a:prstGeom>
          <a:solidFill>
            <a:srgbClr val="0F4C43"/>
          </a:solidFill>
          <a:ln w="12700">
            <a:solidFill>
              <a:srgbClr val="0F4C43"/>
            </a:solidFill>
            <a:prstDash val="solid"/>
          </a:ln>
        </p:spPr>
      </p:sp>
      <p:sp>
        <p:nvSpPr>
          <p:cNvPr id="21" name="Shape 19"/>
          <p:cNvSpPr/>
          <p:nvPr/>
        </p:nvSpPr>
        <p:spPr>
          <a:xfrm>
            <a:off x="2167128" y="3063240"/>
            <a:ext cx="1481328" cy="2148840"/>
          </a:xfrm>
          <a:prstGeom prst="roundRect">
            <a:avLst>
              <a:gd name="adj" fmla="val 4938"/>
            </a:avLst>
          </a:prstGeom>
          <a:solidFill>
            <a:srgbClr val="F7FAF9"/>
          </a:solidFill>
          <a:ln w="12700">
            <a:solidFill>
              <a:srgbClr val="F7FAF9"/>
            </a:solidFill>
            <a:prstDash val="solid"/>
          </a:ln>
        </p:spPr>
      </p:sp>
      <p:sp>
        <p:nvSpPr>
          <p:cNvPr id="22" name="Shape 20"/>
          <p:cNvSpPr/>
          <p:nvPr/>
        </p:nvSpPr>
        <p:spPr>
          <a:xfrm>
            <a:off x="2167128" y="3063240"/>
            <a:ext cx="1481328" cy="91440"/>
          </a:xfrm>
          <a:prstGeom prst="rect">
            <a:avLst/>
          </a:prstGeom>
          <a:solidFill>
            <a:srgbClr val="F7FAF9"/>
          </a:solidFill>
          <a:ln w="12700">
            <a:solidFill>
              <a:srgbClr val="F7FAF9"/>
            </a:solidFill>
            <a:prstDash val="solid"/>
          </a:ln>
        </p:spPr>
      </p:sp>
      <p:sp>
        <p:nvSpPr>
          <p:cNvPr id="23" name="Text 21"/>
          <p:cNvSpPr txBox="1"/>
          <p:nvPr/>
        </p:nvSpPr>
        <p:spPr>
          <a:xfrm>
            <a:off x="2331720" y="2112264"/>
            <a:ext cx="1152144" cy="201168"/>
          </a:xfrm>
          <a:prstGeom prst="rect">
            <a:avLst/>
          </a:prstGeom>
          <a:noFill/>
          <a:ln/>
        </p:spPr>
        <p:txBody>
          <a:bodyPr wrap="square" lIns="0" tIns="0" rIns="0" bIns="0" rtlCol="0" anchor="ctr"/>
          <a:lstStyle/>
          <a:p>
            <a:pPr indent="0" marL="0">
              <a:buNone/>
            </a:pPr>
            <a:r>
              <a:rPr lang="en-US" sz="950" b="1" dirty="0">
                <a:solidFill>
                  <a:srgbClr val="8FC3B5"/>
                </a:solidFill>
                <a:latin typeface="Consolas" pitchFamily="34" charset="0"/>
                <a:ea typeface="Consolas" pitchFamily="34" charset="-122"/>
                <a:cs typeface="Consolas" pitchFamily="34" charset="-120"/>
              </a:rPr>
              <a:t>STEP 2</a:t>
            </a:r>
            <a:endParaRPr lang="en-US" sz="950" dirty="0"/>
          </a:p>
        </p:txBody>
      </p:sp>
      <p:sp>
        <p:nvSpPr>
          <p:cNvPr id="24" name="Text 22"/>
          <p:cNvSpPr txBox="1"/>
          <p:nvPr/>
        </p:nvSpPr>
        <p:spPr>
          <a:xfrm>
            <a:off x="2331720" y="2304288"/>
            <a:ext cx="1152144" cy="66751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Design brief</a:t>
            </a:r>
            <a:endParaRPr lang="en-US" sz="1400" dirty="0"/>
          </a:p>
        </p:txBody>
      </p:sp>
      <p:sp>
        <p:nvSpPr>
          <p:cNvPr id="25" name="Text 23"/>
          <p:cNvSpPr txBox="1"/>
          <p:nvPr/>
        </p:nvSpPr>
        <p:spPr>
          <a:xfrm>
            <a:off x="2313432" y="3191256"/>
            <a:ext cx="1188720" cy="1892808"/>
          </a:xfrm>
          <a:prstGeom prst="rect">
            <a:avLst/>
          </a:prstGeom>
          <a:noFill/>
          <a:ln/>
        </p:spPr>
        <p:txBody>
          <a:bodyPr wrap="square" lIns="0" tIns="0" rIns="0" bIns="0" rtlCol="0" anchor="t"/>
          <a:lstStyle/>
          <a:p>
            <a:pPr indent="0" marL="0">
              <a:spcAft>
                <a:spcPts val="400"/>
              </a:spcAft>
              <a:buNone/>
            </a:pPr>
            <a:endParaRPr lang="en-US" sz="900" dirty="0"/>
          </a:p>
        </p:txBody>
      </p:sp>
      <p:sp>
        <p:nvSpPr>
          <p:cNvPr id="26" name="Text 24"/>
          <p:cNvSpPr txBox="1"/>
          <p:nvPr/>
        </p:nvSpPr>
        <p:spPr>
          <a:xfrm>
            <a:off x="2295144" y="3200400"/>
            <a:ext cx="1225296" cy="1463040"/>
          </a:xfrm>
          <a:prstGeom prst="rect">
            <a:avLst/>
          </a:prstGeom>
          <a:noFill/>
          <a:ln/>
        </p:spPr>
        <p:txBody>
          <a:bodyPr wrap="square" lIns="0" tIns="0" rIns="0" bIns="0" rtlCol="0" anchor="t"/>
          <a:lstStyle/>
          <a:p>
            <a:pPr indent="0" marL="0">
              <a:spcAft>
                <a:spcPts val="600"/>
              </a:spcAft>
              <a:buNone/>
            </a:pPr>
            <a:r>
              <a:rPr lang="en-US" sz="950" dirty="0">
                <a:solidFill>
                  <a:srgbClr val="16202B"/>
                </a:solidFill>
                <a:latin typeface="Calibri" pitchFamily="34" charset="0"/>
                <a:ea typeface="Calibri" pitchFamily="34" charset="-122"/>
                <a:cs typeface="Calibri" pitchFamily="34" charset="-120"/>
              </a:rPr>
              <a:t>The design and why, the typed estimand, the conditions it depends on, the alternatives.</a:t>
            </a:r>
            <a:endParaRPr lang="en-US" sz="950" dirty="0"/>
          </a:p>
          <a:p>
            <a:pPr indent="0" marL="0">
              <a:buNone/>
            </a:pPr>
            <a:r>
              <a:rPr lang="en-US" sz="950" b="1" dirty="0">
                <a:solidFill>
                  <a:srgbClr val="0F4C43"/>
                </a:solidFill>
                <a:latin typeface="Calibri" pitchFamily="34" charset="0"/>
                <a:ea typeface="Calibri" pitchFamily="34" charset="-122"/>
                <a:cs typeface="Calibri" pitchFamily="34" charset="-120"/>
              </a:rPr>
              <a:t>Free. Two-lab review.</a:t>
            </a:r>
            <a:endParaRPr lang="en-US" sz="950" dirty="0"/>
          </a:p>
        </p:txBody>
      </p:sp>
      <p:sp>
        <p:nvSpPr>
          <p:cNvPr id="27" name="Shape 25"/>
          <p:cNvSpPr/>
          <p:nvPr/>
        </p:nvSpPr>
        <p:spPr>
          <a:xfrm>
            <a:off x="2295144" y="4937760"/>
            <a:ext cx="118872" cy="118872"/>
          </a:xfrm>
          <a:prstGeom prst="rect">
            <a:avLst/>
          </a:prstGeom>
          <a:solidFill>
            <a:srgbClr val="9A6B0F"/>
          </a:solidFill>
          <a:ln w="12700">
            <a:solidFill>
              <a:srgbClr val="9A6B0F"/>
            </a:solidFill>
            <a:prstDash val="solid"/>
          </a:ln>
        </p:spPr>
      </p:sp>
      <p:sp>
        <p:nvSpPr>
          <p:cNvPr id="28" name="Text 26"/>
          <p:cNvSpPr txBox="1"/>
          <p:nvPr/>
        </p:nvSpPr>
        <p:spPr>
          <a:xfrm>
            <a:off x="2478024" y="4873752"/>
            <a:ext cx="1115568" cy="256032"/>
          </a:xfrm>
          <a:prstGeom prst="rect">
            <a:avLst/>
          </a:prstGeom>
          <a:noFill/>
          <a:ln/>
        </p:spPr>
        <p:txBody>
          <a:bodyPr wrap="square" lIns="0" tIns="0" rIns="0" bIns="0" rtlCol="0" anchor="ctr"/>
          <a:lstStyle/>
          <a:p>
            <a:pPr indent="0" marL="0">
              <a:buNone/>
            </a:pPr>
            <a:r>
              <a:rPr lang="en-US" sz="800" b="1" dirty="0">
                <a:solidFill>
                  <a:srgbClr val="9A6B0F"/>
                </a:solidFill>
                <a:latin typeface="Consolas" pitchFamily="34" charset="0"/>
                <a:ea typeface="Consolas" pitchFamily="34" charset="-122"/>
                <a:cs typeface="Consolas" pitchFamily="34" charset="-120"/>
              </a:rPr>
              <a:t>2 questions asked</a:t>
            </a:r>
            <a:endParaRPr lang="en-US" sz="800" dirty="0"/>
          </a:p>
        </p:txBody>
      </p:sp>
      <p:sp>
        <p:nvSpPr>
          <p:cNvPr id="29" name="Shape 27"/>
          <p:cNvSpPr/>
          <p:nvPr/>
        </p:nvSpPr>
        <p:spPr>
          <a:xfrm>
            <a:off x="3767328" y="2011680"/>
            <a:ext cx="1481328" cy="1051560"/>
          </a:xfrm>
          <a:prstGeom prst="roundRect">
            <a:avLst>
              <a:gd name="adj" fmla="val 6957"/>
            </a:avLst>
          </a:prstGeom>
          <a:solidFill>
            <a:srgbClr val="0F4C43"/>
          </a:solidFill>
          <a:ln w="12700">
            <a:solidFill>
              <a:srgbClr val="0F4C43"/>
            </a:solidFill>
            <a:prstDash val="solid"/>
          </a:ln>
        </p:spPr>
      </p:sp>
      <p:sp>
        <p:nvSpPr>
          <p:cNvPr id="30" name="Shape 28"/>
          <p:cNvSpPr/>
          <p:nvPr/>
        </p:nvSpPr>
        <p:spPr>
          <a:xfrm>
            <a:off x="3767328" y="2953512"/>
            <a:ext cx="1481328" cy="109728"/>
          </a:xfrm>
          <a:prstGeom prst="rect">
            <a:avLst/>
          </a:prstGeom>
          <a:solidFill>
            <a:srgbClr val="0F4C43"/>
          </a:solidFill>
          <a:ln w="12700">
            <a:solidFill>
              <a:srgbClr val="0F4C43"/>
            </a:solidFill>
            <a:prstDash val="solid"/>
          </a:ln>
        </p:spPr>
      </p:sp>
      <p:sp>
        <p:nvSpPr>
          <p:cNvPr id="31" name="Shape 29"/>
          <p:cNvSpPr/>
          <p:nvPr/>
        </p:nvSpPr>
        <p:spPr>
          <a:xfrm>
            <a:off x="3767328" y="3063240"/>
            <a:ext cx="1481328" cy="2148840"/>
          </a:xfrm>
          <a:prstGeom prst="roundRect">
            <a:avLst>
              <a:gd name="adj" fmla="val 4938"/>
            </a:avLst>
          </a:prstGeom>
          <a:solidFill>
            <a:srgbClr val="F7FAF9"/>
          </a:solidFill>
          <a:ln w="12700">
            <a:solidFill>
              <a:srgbClr val="F7FAF9"/>
            </a:solidFill>
            <a:prstDash val="solid"/>
          </a:ln>
        </p:spPr>
      </p:sp>
      <p:sp>
        <p:nvSpPr>
          <p:cNvPr id="32" name="Shape 30"/>
          <p:cNvSpPr/>
          <p:nvPr/>
        </p:nvSpPr>
        <p:spPr>
          <a:xfrm>
            <a:off x="3767328" y="3063240"/>
            <a:ext cx="1481328" cy="91440"/>
          </a:xfrm>
          <a:prstGeom prst="rect">
            <a:avLst/>
          </a:prstGeom>
          <a:solidFill>
            <a:srgbClr val="F7FAF9"/>
          </a:solidFill>
          <a:ln w="12700">
            <a:solidFill>
              <a:srgbClr val="F7FAF9"/>
            </a:solidFill>
            <a:prstDash val="solid"/>
          </a:ln>
        </p:spPr>
      </p:sp>
      <p:sp>
        <p:nvSpPr>
          <p:cNvPr id="33" name="Text 31"/>
          <p:cNvSpPr txBox="1"/>
          <p:nvPr/>
        </p:nvSpPr>
        <p:spPr>
          <a:xfrm>
            <a:off x="3931920" y="2112264"/>
            <a:ext cx="1152144" cy="201168"/>
          </a:xfrm>
          <a:prstGeom prst="rect">
            <a:avLst/>
          </a:prstGeom>
          <a:noFill/>
          <a:ln/>
        </p:spPr>
        <p:txBody>
          <a:bodyPr wrap="square" lIns="0" tIns="0" rIns="0" bIns="0" rtlCol="0" anchor="ctr"/>
          <a:lstStyle/>
          <a:p>
            <a:pPr indent="0" marL="0">
              <a:buNone/>
            </a:pPr>
            <a:r>
              <a:rPr lang="en-US" sz="950" b="1" dirty="0">
                <a:solidFill>
                  <a:srgbClr val="8FC3B5"/>
                </a:solidFill>
                <a:latin typeface="Consolas" pitchFamily="34" charset="0"/>
                <a:ea typeface="Consolas" pitchFamily="34" charset="-122"/>
                <a:cs typeface="Consolas" pitchFamily="34" charset="-120"/>
              </a:rPr>
              <a:t>STEP 3</a:t>
            </a:r>
            <a:endParaRPr lang="en-US" sz="950" dirty="0"/>
          </a:p>
        </p:txBody>
      </p:sp>
      <p:sp>
        <p:nvSpPr>
          <p:cNvPr id="34" name="Text 32"/>
          <p:cNvSpPr txBox="1"/>
          <p:nvPr/>
        </p:nvSpPr>
        <p:spPr>
          <a:xfrm>
            <a:off x="3931920" y="2304288"/>
            <a:ext cx="1152144" cy="66751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Patients and data</a:t>
            </a:r>
            <a:endParaRPr lang="en-US" sz="1400" dirty="0"/>
          </a:p>
        </p:txBody>
      </p:sp>
      <p:sp>
        <p:nvSpPr>
          <p:cNvPr id="35" name="Text 33"/>
          <p:cNvSpPr txBox="1"/>
          <p:nvPr/>
        </p:nvSpPr>
        <p:spPr>
          <a:xfrm>
            <a:off x="3913632" y="3191256"/>
            <a:ext cx="1188720" cy="1892808"/>
          </a:xfrm>
          <a:prstGeom prst="rect">
            <a:avLst/>
          </a:prstGeom>
          <a:noFill/>
          <a:ln/>
        </p:spPr>
        <p:txBody>
          <a:bodyPr wrap="square" lIns="0" tIns="0" rIns="0" bIns="0" rtlCol="0" anchor="t"/>
          <a:lstStyle/>
          <a:p>
            <a:pPr indent="0" marL="0">
              <a:spcAft>
                <a:spcPts val="400"/>
              </a:spcAft>
              <a:buNone/>
            </a:pPr>
            <a:endParaRPr lang="en-US" sz="900" dirty="0"/>
          </a:p>
        </p:txBody>
      </p:sp>
      <p:sp>
        <p:nvSpPr>
          <p:cNvPr id="36" name="Text 34"/>
          <p:cNvSpPr txBox="1"/>
          <p:nvPr/>
        </p:nvSpPr>
        <p:spPr>
          <a:xfrm>
            <a:off x="3895344" y="3200400"/>
            <a:ext cx="1225296" cy="1463040"/>
          </a:xfrm>
          <a:prstGeom prst="rect">
            <a:avLst/>
          </a:prstGeom>
          <a:noFill/>
          <a:ln/>
        </p:spPr>
        <p:txBody>
          <a:bodyPr wrap="square" lIns="0" tIns="0" rIns="0" bIns="0" rtlCol="0" anchor="t"/>
          <a:lstStyle/>
          <a:p>
            <a:pPr indent="0" marL="0">
              <a:spcAft>
                <a:spcPts val="600"/>
              </a:spcAft>
              <a:buNone/>
            </a:pPr>
            <a:r>
              <a:rPr lang="en-US" sz="950" dirty="0">
                <a:solidFill>
                  <a:srgbClr val="16202B"/>
                </a:solidFill>
                <a:latin typeface="Calibri" pitchFamily="34" charset="0"/>
                <a:ea typeface="Calibri" pitchFamily="34" charset="-122"/>
                <a:cs typeface="Calibri" pitchFamily="34" charset="-120"/>
              </a:rPr>
              <a:t>Who is in, what is measured, where the records come from, who must say yes.</a:t>
            </a:r>
            <a:endParaRPr lang="en-US" sz="950" dirty="0"/>
          </a:p>
          <a:p>
            <a:pPr indent="0" marL="0">
              <a:buNone/>
            </a:pPr>
            <a:r>
              <a:rPr lang="en-US" sz="950" b="1" dirty="0">
                <a:solidFill>
                  <a:srgbClr val="0F4C43"/>
                </a:solidFill>
                <a:latin typeface="Calibri" pitchFamily="34" charset="0"/>
                <a:ea typeface="Calibri" pitchFamily="34" charset="-122"/>
                <a:cs typeface="Calibri" pitchFamily="34" charset="-120"/>
              </a:rPr>
              <a:t>Spends the credit. Sign-in required.</a:t>
            </a:r>
            <a:endParaRPr lang="en-US" sz="950" dirty="0"/>
          </a:p>
        </p:txBody>
      </p:sp>
      <p:sp>
        <p:nvSpPr>
          <p:cNvPr id="37" name="Shape 35"/>
          <p:cNvSpPr/>
          <p:nvPr/>
        </p:nvSpPr>
        <p:spPr>
          <a:xfrm>
            <a:off x="3895344" y="4937760"/>
            <a:ext cx="118872" cy="118872"/>
          </a:xfrm>
          <a:prstGeom prst="rect">
            <a:avLst/>
          </a:prstGeom>
          <a:solidFill>
            <a:srgbClr val="0F4C43"/>
          </a:solidFill>
          <a:ln w="12700">
            <a:solidFill>
              <a:srgbClr val="0F4C43"/>
            </a:solidFill>
            <a:prstDash val="solid"/>
          </a:ln>
        </p:spPr>
      </p:sp>
      <p:sp>
        <p:nvSpPr>
          <p:cNvPr id="38" name="Text 36"/>
          <p:cNvSpPr txBox="1"/>
          <p:nvPr/>
        </p:nvSpPr>
        <p:spPr>
          <a:xfrm>
            <a:off x="4078224" y="4873752"/>
            <a:ext cx="1115568" cy="256032"/>
          </a:xfrm>
          <a:prstGeom prst="rect">
            <a:avLst/>
          </a:prstGeom>
          <a:noFill/>
          <a:ln/>
        </p:spPr>
        <p:txBody>
          <a:bodyPr wrap="square" lIns="0" tIns="0" rIns="0" bIns="0" rtlCol="0" anchor="ctr"/>
          <a:lstStyle/>
          <a:p>
            <a:pPr indent="0" marL="0">
              <a:buNone/>
            </a:pPr>
            <a:r>
              <a:rPr lang="en-US" sz="800" b="1" dirty="0">
                <a:solidFill>
                  <a:srgbClr val="9A6B0F"/>
                </a:solidFill>
                <a:latin typeface="Consolas" pitchFamily="34" charset="0"/>
                <a:ea typeface="Consolas" pitchFamily="34" charset="-122"/>
                <a:cs typeface="Consolas" pitchFamily="34" charset="-120"/>
              </a:rPr>
              <a:t>3 questions asked</a:t>
            </a:r>
            <a:endParaRPr lang="en-US" sz="800" dirty="0"/>
          </a:p>
        </p:txBody>
      </p:sp>
      <p:sp>
        <p:nvSpPr>
          <p:cNvPr id="39" name="Shape 37"/>
          <p:cNvSpPr/>
          <p:nvPr/>
        </p:nvSpPr>
        <p:spPr>
          <a:xfrm>
            <a:off x="5367528" y="2011680"/>
            <a:ext cx="1481328" cy="1051560"/>
          </a:xfrm>
          <a:prstGeom prst="roundRect">
            <a:avLst>
              <a:gd name="adj" fmla="val 6957"/>
            </a:avLst>
          </a:prstGeom>
          <a:solidFill>
            <a:srgbClr val="0F4C43"/>
          </a:solidFill>
          <a:ln w="12700">
            <a:solidFill>
              <a:srgbClr val="0F4C43"/>
            </a:solidFill>
            <a:prstDash val="solid"/>
          </a:ln>
        </p:spPr>
      </p:sp>
      <p:sp>
        <p:nvSpPr>
          <p:cNvPr id="40" name="Shape 38"/>
          <p:cNvSpPr/>
          <p:nvPr/>
        </p:nvSpPr>
        <p:spPr>
          <a:xfrm>
            <a:off x="5367528" y="2953512"/>
            <a:ext cx="1481328" cy="109728"/>
          </a:xfrm>
          <a:prstGeom prst="rect">
            <a:avLst/>
          </a:prstGeom>
          <a:solidFill>
            <a:srgbClr val="0F4C43"/>
          </a:solidFill>
          <a:ln w="12700">
            <a:solidFill>
              <a:srgbClr val="0F4C43"/>
            </a:solidFill>
            <a:prstDash val="solid"/>
          </a:ln>
        </p:spPr>
      </p:sp>
      <p:sp>
        <p:nvSpPr>
          <p:cNvPr id="41" name="Shape 39"/>
          <p:cNvSpPr/>
          <p:nvPr/>
        </p:nvSpPr>
        <p:spPr>
          <a:xfrm>
            <a:off x="5367528" y="3063240"/>
            <a:ext cx="1481328" cy="2148840"/>
          </a:xfrm>
          <a:prstGeom prst="roundRect">
            <a:avLst>
              <a:gd name="adj" fmla="val 4938"/>
            </a:avLst>
          </a:prstGeom>
          <a:solidFill>
            <a:srgbClr val="F7FAF9"/>
          </a:solidFill>
          <a:ln w="12700">
            <a:solidFill>
              <a:srgbClr val="F7FAF9"/>
            </a:solidFill>
            <a:prstDash val="solid"/>
          </a:ln>
        </p:spPr>
      </p:sp>
      <p:sp>
        <p:nvSpPr>
          <p:cNvPr id="42" name="Shape 40"/>
          <p:cNvSpPr/>
          <p:nvPr/>
        </p:nvSpPr>
        <p:spPr>
          <a:xfrm>
            <a:off x="5367528" y="3063240"/>
            <a:ext cx="1481328" cy="91440"/>
          </a:xfrm>
          <a:prstGeom prst="rect">
            <a:avLst/>
          </a:prstGeom>
          <a:solidFill>
            <a:srgbClr val="F7FAF9"/>
          </a:solidFill>
          <a:ln w="12700">
            <a:solidFill>
              <a:srgbClr val="F7FAF9"/>
            </a:solidFill>
            <a:prstDash val="solid"/>
          </a:ln>
        </p:spPr>
      </p:sp>
      <p:sp>
        <p:nvSpPr>
          <p:cNvPr id="43" name="Text 41"/>
          <p:cNvSpPr txBox="1"/>
          <p:nvPr/>
        </p:nvSpPr>
        <p:spPr>
          <a:xfrm>
            <a:off x="5532120" y="2112264"/>
            <a:ext cx="1152144" cy="201168"/>
          </a:xfrm>
          <a:prstGeom prst="rect">
            <a:avLst/>
          </a:prstGeom>
          <a:noFill/>
          <a:ln/>
        </p:spPr>
        <p:txBody>
          <a:bodyPr wrap="square" lIns="0" tIns="0" rIns="0" bIns="0" rtlCol="0" anchor="ctr"/>
          <a:lstStyle/>
          <a:p>
            <a:pPr indent="0" marL="0">
              <a:buNone/>
            </a:pPr>
            <a:r>
              <a:rPr lang="en-US" sz="950" b="1" dirty="0">
                <a:solidFill>
                  <a:srgbClr val="8FC3B5"/>
                </a:solidFill>
                <a:latin typeface="Consolas" pitchFamily="34" charset="0"/>
                <a:ea typeface="Consolas" pitchFamily="34" charset="-122"/>
                <a:cs typeface="Consolas" pitchFamily="34" charset="-120"/>
              </a:rPr>
              <a:t>STEP 4</a:t>
            </a:r>
            <a:endParaRPr lang="en-US" sz="950" dirty="0"/>
          </a:p>
        </p:txBody>
      </p:sp>
      <p:sp>
        <p:nvSpPr>
          <p:cNvPr id="44" name="Text 42"/>
          <p:cNvSpPr txBox="1"/>
          <p:nvPr/>
        </p:nvSpPr>
        <p:spPr>
          <a:xfrm>
            <a:off x="5532120" y="2304288"/>
            <a:ext cx="1152144" cy="66751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Analysis and how many</a:t>
            </a:r>
            <a:endParaRPr lang="en-US" sz="1400" dirty="0"/>
          </a:p>
        </p:txBody>
      </p:sp>
      <p:sp>
        <p:nvSpPr>
          <p:cNvPr id="45" name="Text 43"/>
          <p:cNvSpPr txBox="1"/>
          <p:nvPr/>
        </p:nvSpPr>
        <p:spPr>
          <a:xfrm>
            <a:off x="5513832" y="3191256"/>
            <a:ext cx="1188720" cy="1892808"/>
          </a:xfrm>
          <a:prstGeom prst="rect">
            <a:avLst/>
          </a:prstGeom>
          <a:noFill/>
          <a:ln/>
        </p:spPr>
        <p:txBody>
          <a:bodyPr wrap="square" lIns="0" tIns="0" rIns="0" bIns="0" rtlCol="0" anchor="t"/>
          <a:lstStyle/>
          <a:p>
            <a:pPr indent="0" marL="0">
              <a:spcAft>
                <a:spcPts val="400"/>
              </a:spcAft>
              <a:buNone/>
            </a:pPr>
            <a:endParaRPr lang="en-US" sz="900" dirty="0"/>
          </a:p>
        </p:txBody>
      </p:sp>
      <p:sp>
        <p:nvSpPr>
          <p:cNvPr id="46" name="Text 44"/>
          <p:cNvSpPr txBox="1"/>
          <p:nvPr/>
        </p:nvSpPr>
        <p:spPr>
          <a:xfrm>
            <a:off x="5495544" y="3200400"/>
            <a:ext cx="1225296" cy="1463040"/>
          </a:xfrm>
          <a:prstGeom prst="rect">
            <a:avLst/>
          </a:prstGeom>
          <a:noFill/>
          <a:ln/>
        </p:spPr>
        <p:txBody>
          <a:bodyPr wrap="square" lIns="0" tIns="0" rIns="0" bIns="0" rtlCol="0" anchor="t"/>
          <a:lstStyle/>
          <a:p>
            <a:pPr indent="0" marL="0">
              <a:spcAft>
                <a:spcPts val="600"/>
              </a:spcAft>
              <a:buNone/>
            </a:pPr>
            <a:r>
              <a:rPr lang="en-US" sz="950" dirty="0">
                <a:solidFill>
                  <a:srgbClr val="16202B"/>
                </a:solidFill>
                <a:latin typeface="Calibri" pitchFamily="34" charset="0"/>
                <a:ea typeface="Calibri" pitchFamily="34" charset="-122"/>
                <a:cs typeface="Calibri" pitchFamily="34" charset="-120"/>
              </a:rPr>
              <a:t>How the numbers are compared, and how many patients that takes.</a:t>
            </a:r>
            <a:endParaRPr lang="en-US" sz="950" dirty="0"/>
          </a:p>
          <a:p>
            <a:pPr indent="0" marL="0">
              <a:buNone/>
            </a:pPr>
            <a:r>
              <a:rPr lang="en-US" sz="950" b="1" dirty="0">
                <a:solidFill>
                  <a:srgbClr val="0F4C43"/>
                </a:solidFill>
                <a:latin typeface="Calibri" pitchFamily="34" charset="0"/>
                <a:ea typeface="Calibri" pitchFamily="34" charset="-122"/>
                <a:cs typeface="Calibri" pitchFamily="34" charset="-120"/>
              </a:rPr>
              <a:t>Two-lab review, corrective pass, adjudication.</a:t>
            </a:r>
            <a:endParaRPr lang="en-US" sz="950" dirty="0"/>
          </a:p>
        </p:txBody>
      </p:sp>
      <p:sp>
        <p:nvSpPr>
          <p:cNvPr id="47" name="Shape 45"/>
          <p:cNvSpPr/>
          <p:nvPr/>
        </p:nvSpPr>
        <p:spPr>
          <a:xfrm>
            <a:off x="5495544" y="4937760"/>
            <a:ext cx="118872" cy="118872"/>
          </a:xfrm>
          <a:prstGeom prst="rect">
            <a:avLst/>
          </a:prstGeom>
          <a:solidFill>
            <a:srgbClr val="9A6B0F"/>
          </a:solidFill>
          <a:ln w="12700">
            <a:solidFill>
              <a:srgbClr val="9A6B0F"/>
            </a:solidFill>
            <a:prstDash val="solid"/>
          </a:ln>
        </p:spPr>
      </p:sp>
      <p:sp>
        <p:nvSpPr>
          <p:cNvPr id="48" name="Text 46"/>
          <p:cNvSpPr txBox="1"/>
          <p:nvPr/>
        </p:nvSpPr>
        <p:spPr>
          <a:xfrm>
            <a:off x="5678424" y="4873752"/>
            <a:ext cx="1115568" cy="256032"/>
          </a:xfrm>
          <a:prstGeom prst="rect">
            <a:avLst/>
          </a:prstGeom>
          <a:noFill/>
          <a:ln/>
        </p:spPr>
        <p:txBody>
          <a:bodyPr wrap="square" lIns="0" tIns="0" rIns="0" bIns="0" rtlCol="0" anchor="ctr"/>
          <a:lstStyle/>
          <a:p>
            <a:pPr indent="0" marL="0">
              <a:buNone/>
            </a:pPr>
            <a:r>
              <a:rPr lang="en-US" sz="800" b="1" dirty="0">
                <a:solidFill>
                  <a:srgbClr val="9A6B0F"/>
                </a:solidFill>
                <a:latin typeface="Consolas" pitchFamily="34" charset="0"/>
                <a:ea typeface="Consolas" pitchFamily="34" charset="-122"/>
                <a:cs typeface="Consolas" pitchFamily="34" charset="-120"/>
              </a:rPr>
              <a:t>1 question asked</a:t>
            </a:r>
            <a:endParaRPr lang="en-US" sz="800" dirty="0"/>
          </a:p>
        </p:txBody>
      </p:sp>
      <p:sp>
        <p:nvSpPr>
          <p:cNvPr id="49" name="Shape 47"/>
          <p:cNvSpPr/>
          <p:nvPr/>
        </p:nvSpPr>
        <p:spPr>
          <a:xfrm>
            <a:off x="6967728" y="2011680"/>
            <a:ext cx="1481328" cy="1051560"/>
          </a:xfrm>
          <a:prstGeom prst="roundRect">
            <a:avLst>
              <a:gd name="adj" fmla="val 6957"/>
            </a:avLst>
          </a:prstGeom>
          <a:solidFill>
            <a:srgbClr val="0F4C43"/>
          </a:solidFill>
          <a:ln w="12700">
            <a:solidFill>
              <a:srgbClr val="0F4C43"/>
            </a:solidFill>
            <a:prstDash val="solid"/>
          </a:ln>
        </p:spPr>
      </p:sp>
      <p:sp>
        <p:nvSpPr>
          <p:cNvPr id="50" name="Shape 48"/>
          <p:cNvSpPr/>
          <p:nvPr/>
        </p:nvSpPr>
        <p:spPr>
          <a:xfrm>
            <a:off x="6967728" y="2953512"/>
            <a:ext cx="1481328" cy="109728"/>
          </a:xfrm>
          <a:prstGeom prst="rect">
            <a:avLst/>
          </a:prstGeom>
          <a:solidFill>
            <a:srgbClr val="0F4C43"/>
          </a:solidFill>
          <a:ln w="12700">
            <a:solidFill>
              <a:srgbClr val="0F4C43"/>
            </a:solidFill>
            <a:prstDash val="solid"/>
          </a:ln>
        </p:spPr>
      </p:sp>
      <p:sp>
        <p:nvSpPr>
          <p:cNvPr id="51" name="Shape 49"/>
          <p:cNvSpPr/>
          <p:nvPr/>
        </p:nvSpPr>
        <p:spPr>
          <a:xfrm>
            <a:off x="6967728" y="3063240"/>
            <a:ext cx="1481328" cy="2148840"/>
          </a:xfrm>
          <a:prstGeom prst="roundRect">
            <a:avLst>
              <a:gd name="adj" fmla="val 4938"/>
            </a:avLst>
          </a:prstGeom>
          <a:solidFill>
            <a:srgbClr val="F7FAF9"/>
          </a:solidFill>
          <a:ln w="12700">
            <a:solidFill>
              <a:srgbClr val="F7FAF9"/>
            </a:solidFill>
            <a:prstDash val="solid"/>
          </a:ln>
        </p:spPr>
      </p:sp>
      <p:sp>
        <p:nvSpPr>
          <p:cNvPr id="52" name="Shape 50"/>
          <p:cNvSpPr/>
          <p:nvPr/>
        </p:nvSpPr>
        <p:spPr>
          <a:xfrm>
            <a:off x="6967728" y="3063240"/>
            <a:ext cx="1481328" cy="91440"/>
          </a:xfrm>
          <a:prstGeom prst="rect">
            <a:avLst/>
          </a:prstGeom>
          <a:solidFill>
            <a:srgbClr val="F7FAF9"/>
          </a:solidFill>
          <a:ln w="12700">
            <a:solidFill>
              <a:srgbClr val="F7FAF9"/>
            </a:solidFill>
            <a:prstDash val="solid"/>
          </a:ln>
        </p:spPr>
      </p:sp>
      <p:sp>
        <p:nvSpPr>
          <p:cNvPr id="53" name="Text 51"/>
          <p:cNvSpPr txBox="1"/>
          <p:nvPr/>
        </p:nvSpPr>
        <p:spPr>
          <a:xfrm>
            <a:off x="7132320" y="2112264"/>
            <a:ext cx="1152144" cy="201168"/>
          </a:xfrm>
          <a:prstGeom prst="rect">
            <a:avLst/>
          </a:prstGeom>
          <a:noFill/>
          <a:ln/>
        </p:spPr>
        <p:txBody>
          <a:bodyPr wrap="square" lIns="0" tIns="0" rIns="0" bIns="0" rtlCol="0" anchor="ctr"/>
          <a:lstStyle/>
          <a:p>
            <a:pPr indent="0" marL="0">
              <a:buNone/>
            </a:pPr>
            <a:r>
              <a:rPr lang="en-US" sz="950" b="1" dirty="0">
                <a:solidFill>
                  <a:srgbClr val="8FC3B5"/>
                </a:solidFill>
                <a:latin typeface="Consolas" pitchFamily="34" charset="0"/>
                <a:ea typeface="Consolas" pitchFamily="34" charset="-122"/>
                <a:cs typeface="Consolas" pitchFamily="34" charset="-120"/>
              </a:rPr>
              <a:t>STEP 5</a:t>
            </a:r>
            <a:endParaRPr lang="en-US" sz="950" dirty="0"/>
          </a:p>
        </p:txBody>
      </p:sp>
      <p:sp>
        <p:nvSpPr>
          <p:cNvPr id="54" name="Text 52"/>
          <p:cNvSpPr txBox="1"/>
          <p:nvPr/>
        </p:nvSpPr>
        <p:spPr>
          <a:xfrm>
            <a:off x="7132320" y="2304288"/>
            <a:ext cx="1152144" cy="66751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Approvals, team, cost</a:t>
            </a:r>
            <a:endParaRPr lang="en-US" sz="1400" dirty="0"/>
          </a:p>
        </p:txBody>
      </p:sp>
      <p:sp>
        <p:nvSpPr>
          <p:cNvPr id="55" name="Text 53"/>
          <p:cNvSpPr txBox="1"/>
          <p:nvPr/>
        </p:nvSpPr>
        <p:spPr>
          <a:xfrm>
            <a:off x="7114032" y="3191256"/>
            <a:ext cx="1188720" cy="1892808"/>
          </a:xfrm>
          <a:prstGeom prst="rect">
            <a:avLst/>
          </a:prstGeom>
          <a:noFill/>
          <a:ln/>
        </p:spPr>
        <p:txBody>
          <a:bodyPr wrap="square" lIns="0" tIns="0" rIns="0" bIns="0" rtlCol="0" anchor="t"/>
          <a:lstStyle/>
          <a:p>
            <a:pPr indent="0" marL="0">
              <a:spcAft>
                <a:spcPts val="400"/>
              </a:spcAft>
              <a:buNone/>
            </a:pPr>
            <a:endParaRPr lang="en-US" sz="900" dirty="0"/>
          </a:p>
        </p:txBody>
      </p:sp>
      <p:sp>
        <p:nvSpPr>
          <p:cNvPr id="56" name="Text 54"/>
          <p:cNvSpPr txBox="1"/>
          <p:nvPr/>
        </p:nvSpPr>
        <p:spPr>
          <a:xfrm>
            <a:off x="7095744" y="3200400"/>
            <a:ext cx="1225296" cy="1463040"/>
          </a:xfrm>
          <a:prstGeom prst="rect">
            <a:avLst/>
          </a:prstGeom>
          <a:noFill/>
          <a:ln/>
        </p:spPr>
        <p:txBody>
          <a:bodyPr wrap="square" lIns="0" tIns="0" rIns="0" bIns="0" rtlCol="0" anchor="t"/>
          <a:lstStyle/>
          <a:p>
            <a:pPr indent="0" marL="0">
              <a:spcAft>
                <a:spcPts val="600"/>
              </a:spcAft>
              <a:buNone/>
            </a:pPr>
            <a:r>
              <a:rPr lang="en-US" sz="950" dirty="0">
                <a:solidFill>
                  <a:srgbClr val="16202B"/>
                </a:solidFill>
                <a:latin typeface="Calibri" pitchFamily="34" charset="0"/>
                <a:ea typeface="Calibri" pitchFamily="34" charset="-122"/>
                <a:cs typeface="Calibri" pitchFamily="34" charset="-120"/>
              </a:rPr>
              <a:t>Who approves, what it costs, what to do on Monday.</a:t>
            </a:r>
            <a:endParaRPr lang="en-US" sz="950" dirty="0"/>
          </a:p>
          <a:p>
            <a:pPr indent="0" marL="0">
              <a:buNone/>
            </a:pPr>
            <a:r>
              <a:rPr lang="en-US" sz="950" b="1" dirty="0">
                <a:solidFill>
                  <a:srgbClr val="0F4C43"/>
                </a:solidFill>
                <a:latin typeface="Calibri" pitchFamily="34" charset="0"/>
                <a:ea typeface="Calibri" pitchFamily="34" charset="-122"/>
                <a:cs typeface="Calibri" pitchFamily="34" charset="-120"/>
              </a:rPr>
              <a:t>Runs on its own after step 4.</a:t>
            </a:r>
            <a:endParaRPr lang="en-US" sz="950" dirty="0"/>
          </a:p>
        </p:txBody>
      </p:sp>
      <p:sp>
        <p:nvSpPr>
          <p:cNvPr id="57" name="Shape 55"/>
          <p:cNvSpPr/>
          <p:nvPr/>
        </p:nvSpPr>
        <p:spPr>
          <a:xfrm>
            <a:off x="7095744" y="4937760"/>
            <a:ext cx="118872" cy="118872"/>
          </a:xfrm>
          <a:prstGeom prst="rect">
            <a:avLst/>
          </a:prstGeom>
          <a:solidFill>
            <a:srgbClr val="0F4C43"/>
          </a:solidFill>
          <a:ln w="12700">
            <a:solidFill>
              <a:srgbClr val="0F4C43"/>
            </a:solidFill>
            <a:prstDash val="solid"/>
          </a:ln>
        </p:spPr>
      </p:sp>
      <p:sp>
        <p:nvSpPr>
          <p:cNvPr id="58" name="Shape 56"/>
          <p:cNvSpPr/>
          <p:nvPr/>
        </p:nvSpPr>
        <p:spPr>
          <a:xfrm>
            <a:off x="8567928" y="2011680"/>
            <a:ext cx="1481328" cy="1051560"/>
          </a:xfrm>
          <a:prstGeom prst="roundRect">
            <a:avLst>
              <a:gd name="adj" fmla="val 6957"/>
            </a:avLst>
          </a:prstGeom>
          <a:solidFill>
            <a:srgbClr val="0F4C43"/>
          </a:solidFill>
          <a:ln w="12700">
            <a:solidFill>
              <a:srgbClr val="0F4C43"/>
            </a:solidFill>
            <a:prstDash val="solid"/>
          </a:ln>
        </p:spPr>
      </p:sp>
      <p:sp>
        <p:nvSpPr>
          <p:cNvPr id="59" name="Shape 57"/>
          <p:cNvSpPr/>
          <p:nvPr/>
        </p:nvSpPr>
        <p:spPr>
          <a:xfrm>
            <a:off x="8567928" y="2953512"/>
            <a:ext cx="1481328" cy="109728"/>
          </a:xfrm>
          <a:prstGeom prst="rect">
            <a:avLst/>
          </a:prstGeom>
          <a:solidFill>
            <a:srgbClr val="0F4C43"/>
          </a:solidFill>
          <a:ln w="12700">
            <a:solidFill>
              <a:srgbClr val="0F4C43"/>
            </a:solidFill>
            <a:prstDash val="solid"/>
          </a:ln>
        </p:spPr>
      </p:sp>
      <p:sp>
        <p:nvSpPr>
          <p:cNvPr id="60" name="Shape 58"/>
          <p:cNvSpPr/>
          <p:nvPr/>
        </p:nvSpPr>
        <p:spPr>
          <a:xfrm>
            <a:off x="8567928" y="3063240"/>
            <a:ext cx="1481328" cy="2148840"/>
          </a:xfrm>
          <a:prstGeom prst="roundRect">
            <a:avLst>
              <a:gd name="adj" fmla="val 4938"/>
            </a:avLst>
          </a:prstGeom>
          <a:solidFill>
            <a:srgbClr val="F7FAF9"/>
          </a:solidFill>
          <a:ln w="12700">
            <a:solidFill>
              <a:srgbClr val="F7FAF9"/>
            </a:solidFill>
            <a:prstDash val="solid"/>
          </a:ln>
        </p:spPr>
      </p:sp>
      <p:sp>
        <p:nvSpPr>
          <p:cNvPr id="61" name="Shape 59"/>
          <p:cNvSpPr/>
          <p:nvPr/>
        </p:nvSpPr>
        <p:spPr>
          <a:xfrm>
            <a:off x="8567928" y="3063240"/>
            <a:ext cx="1481328" cy="91440"/>
          </a:xfrm>
          <a:prstGeom prst="rect">
            <a:avLst/>
          </a:prstGeom>
          <a:solidFill>
            <a:srgbClr val="F7FAF9"/>
          </a:solidFill>
          <a:ln w="12700">
            <a:solidFill>
              <a:srgbClr val="F7FAF9"/>
            </a:solidFill>
            <a:prstDash val="solid"/>
          </a:ln>
        </p:spPr>
      </p:sp>
      <p:sp>
        <p:nvSpPr>
          <p:cNvPr id="62" name="Text 60"/>
          <p:cNvSpPr txBox="1"/>
          <p:nvPr/>
        </p:nvSpPr>
        <p:spPr>
          <a:xfrm>
            <a:off x="8732520" y="2112264"/>
            <a:ext cx="1152144" cy="201168"/>
          </a:xfrm>
          <a:prstGeom prst="rect">
            <a:avLst/>
          </a:prstGeom>
          <a:noFill/>
          <a:ln/>
        </p:spPr>
        <p:txBody>
          <a:bodyPr wrap="square" lIns="0" tIns="0" rIns="0" bIns="0" rtlCol="0" anchor="ctr"/>
          <a:lstStyle/>
          <a:p>
            <a:pPr indent="0" marL="0">
              <a:buNone/>
            </a:pPr>
            <a:r>
              <a:rPr lang="en-US" sz="950" b="1" dirty="0">
                <a:solidFill>
                  <a:srgbClr val="8FC3B5"/>
                </a:solidFill>
                <a:latin typeface="Consolas" pitchFamily="34" charset="0"/>
                <a:ea typeface="Consolas" pitchFamily="34" charset="-122"/>
                <a:cs typeface="Consolas" pitchFamily="34" charset="-120"/>
              </a:rPr>
              <a:t>STEP 6</a:t>
            </a:r>
            <a:endParaRPr lang="en-US" sz="950" dirty="0"/>
          </a:p>
        </p:txBody>
      </p:sp>
      <p:sp>
        <p:nvSpPr>
          <p:cNvPr id="63" name="Text 61"/>
          <p:cNvSpPr txBox="1"/>
          <p:nvPr/>
        </p:nvSpPr>
        <p:spPr>
          <a:xfrm>
            <a:off x="8732520" y="2304288"/>
            <a:ext cx="1152144" cy="66751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Write-up</a:t>
            </a:r>
            <a:endParaRPr lang="en-US" sz="1400" dirty="0"/>
          </a:p>
        </p:txBody>
      </p:sp>
      <p:sp>
        <p:nvSpPr>
          <p:cNvPr id="64" name="Text 62"/>
          <p:cNvSpPr txBox="1"/>
          <p:nvPr/>
        </p:nvSpPr>
        <p:spPr>
          <a:xfrm>
            <a:off x="8714232" y="3191256"/>
            <a:ext cx="1188720" cy="1892808"/>
          </a:xfrm>
          <a:prstGeom prst="rect">
            <a:avLst/>
          </a:prstGeom>
          <a:noFill/>
          <a:ln/>
        </p:spPr>
        <p:txBody>
          <a:bodyPr wrap="square" lIns="0" tIns="0" rIns="0" bIns="0" rtlCol="0" anchor="t"/>
          <a:lstStyle/>
          <a:p>
            <a:pPr indent="0" marL="0">
              <a:spcAft>
                <a:spcPts val="400"/>
              </a:spcAft>
              <a:buNone/>
            </a:pPr>
            <a:endParaRPr lang="en-US" sz="900" dirty="0"/>
          </a:p>
        </p:txBody>
      </p:sp>
      <p:sp>
        <p:nvSpPr>
          <p:cNvPr id="65" name="Text 63"/>
          <p:cNvSpPr txBox="1"/>
          <p:nvPr/>
        </p:nvSpPr>
        <p:spPr>
          <a:xfrm>
            <a:off x="8695944" y="3200400"/>
            <a:ext cx="1225296" cy="1463040"/>
          </a:xfrm>
          <a:prstGeom prst="rect">
            <a:avLst/>
          </a:prstGeom>
          <a:noFill/>
          <a:ln/>
        </p:spPr>
        <p:txBody>
          <a:bodyPr wrap="square" lIns="0" tIns="0" rIns="0" bIns="0" rtlCol="0" anchor="t"/>
          <a:lstStyle/>
          <a:p>
            <a:pPr indent="0" marL="0">
              <a:spcAft>
                <a:spcPts val="600"/>
              </a:spcAft>
              <a:buNone/>
            </a:pPr>
            <a:r>
              <a:rPr lang="en-US" sz="950" dirty="0">
                <a:solidFill>
                  <a:srgbClr val="16202B"/>
                </a:solidFill>
                <a:latin typeface="Calibri" pitchFamily="34" charset="0"/>
                <a:ea typeface="Calibri" pitchFamily="34" charset="-122"/>
                <a:cs typeface="Calibri" pitchFamily="34" charset="-120"/>
              </a:rPr>
              <a:t>Abstract, methods paragraph, background with PubMed-resolved references.</a:t>
            </a:r>
            <a:endParaRPr lang="en-US" sz="950" dirty="0"/>
          </a:p>
          <a:p>
            <a:pPr indent="0" marL="0">
              <a:buNone/>
            </a:pPr>
            <a:r>
              <a:rPr lang="en-US" sz="950" b="1" dirty="0">
                <a:solidFill>
                  <a:srgbClr val="0F4C43"/>
                </a:solidFill>
                <a:latin typeface="Calibri" pitchFamily="34" charset="0"/>
                <a:ea typeface="Calibri" pitchFamily="34" charset="-122"/>
                <a:cs typeface="Calibri" pitchFamily="34" charset="-120"/>
              </a:rPr>
              <a:t>On request.</a:t>
            </a:r>
            <a:endParaRPr lang="en-US" sz="950" dirty="0"/>
          </a:p>
        </p:txBody>
      </p:sp>
      <p:sp>
        <p:nvSpPr>
          <p:cNvPr id="66" name="Shape 64"/>
          <p:cNvSpPr/>
          <p:nvPr/>
        </p:nvSpPr>
        <p:spPr>
          <a:xfrm>
            <a:off x="8695944" y="4937760"/>
            <a:ext cx="118872" cy="118872"/>
          </a:xfrm>
          <a:prstGeom prst="rect">
            <a:avLst/>
          </a:prstGeom>
          <a:solidFill>
            <a:srgbClr val="0F4C43"/>
          </a:solidFill>
          <a:ln w="12700">
            <a:solidFill>
              <a:srgbClr val="0F4C43"/>
            </a:solidFill>
            <a:prstDash val="solid"/>
          </a:ln>
        </p:spPr>
      </p:sp>
      <p:sp>
        <p:nvSpPr>
          <p:cNvPr id="67" name="Shape 65"/>
          <p:cNvSpPr/>
          <p:nvPr/>
        </p:nvSpPr>
        <p:spPr>
          <a:xfrm>
            <a:off x="10168128" y="2011680"/>
            <a:ext cx="1481328" cy="1051560"/>
          </a:xfrm>
          <a:prstGeom prst="roundRect">
            <a:avLst>
              <a:gd name="adj" fmla="val 6957"/>
            </a:avLst>
          </a:prstGeom>
          <a:solidFill>
            <a:srgbClr val="0F4C43"/>
          </a:solidFill>
          <a:ln w="12700">
            <a:solidFill>
              <a:srgbClr val="0F4C43"/>
            </a:solidFill>
            <a:prstDash val="solid"/>
          </a:ln>
        </p:spPr>
      </p:sp>
      <p:sp>
        <p:nvSpPr>
          <p:cNvPr id="68" name="Shape 66"/>
          <p:cNvSpPr/>
          <p:nvPr/>
        </p:nvSpPr>
        <p:spPr>
          <a:xfrm>
            <a:off x="10168128" y="2953512"/>
            <a:ext cx="1481328" cy="109728"/>
          </a:xfrm>
          <a:prstGeom prst="rect">
            <a:avLst/>
          </a:prstGeom>
          <a:solidFill>
            <a:srgbClr val="0F4C43"/>
          </a:solidFill>
          <a:ln w="12700">
            <a:solidFill>
              <a:srgbClr val="0F4C43"/>
            </a:solidFill>
            <a:prstDash val="solid"/>
          </a:ln>
        </p:spPr>
      </p:sp>
      <p:sp>
        <p:nvSpPr>
          <p:cNvPr id="69" name="Shape 67"/>
          <p:cNvSpPr/>
          <p:nvPr/>
        </p:nvSpPr>
        <p:spPr>
          <a:xfrm>
            <a:off x="10168128" y="3063240"/>
            <a:ext cx="1481328" cy="2148840"/>
          </a:xfrm>
          <a:prstGeom prst="roundRect">
            <a:avLst>
              <a:gd name="adj" fmla="val 4938"/>
            </a:avLst>
          </a:prstGeom>
          <a:solidFill>
            <a:srgbClr val="F7FAF9"/>
          </a:solidFill>
          <a:ln w="12700">
            <a:solidFill>
              <a:srgbClr val="F7FAF9"/>
            </a:solidFill>
            <a:prstDash val="solid"/>
          </a:ln>
        </p:spPr>
      </p:sp>
      <p:sp>
        <p:nvSpPr>
          <p:cNvPr id="70" name="Shape 68"/>
          <p:cNvSpPr/>
          <p:nvPr/>
        </p:nvSpPr>
        <p:spPr>
          <a:xfrm>
            <a:off x="10168128" y="3063240"/>
            <a:ext cx="1481328" cy="91440"/>
          </a:xfrm>
          <a:prstGeom prst="rect">
            <a:avLst/>
          </a:prstGeom>
          <a:solidFill>
            <a:srgbClr val="F7FAF9"/>
          </a:solidFill>
          <a:ln w="12700">
            <a:solidFill>
              <a:srgbClr val="F7FAF9"/>
            </a:solidFill>
            <a:prstDash val="solid"/>
          </a:ln>
        </p:spPr>
      </p:sp>
      <p:sp>
        <p:nvSpPr>
          <p:cNvPr id="71" name="Text 69"/>
          <p:cNvSpPr txBox="1"/>
          <p:nvPr/>
        </p:nvSpPr>
        <p:spPr>
          <a:xfrm>
            <a:off x="10332720" y="2112264"/>
            <a:ext cx="1152144" cy="201168"/>
          </a:xfrm>
          <a:prstGeom prst="rect">
            <a:avLst/>
          </a:prstGeom>
          <a:noFill/>
          <a:ln/>
        </p:spPr>
        <p:txBody>
          <a:bodyPr wrap="square" lIns="0" tIns="0" rIns="0" bIns="0" rtlCol="0" anchor="ctr"/>
          <a:lstStyle/>
          <a:p>
            <a:pPr indent="0" marL="0">
              <a:buNone/>
            </a:pPr>
            <a:r>
              <a:rPr lang="en-US" sz="950" b="1" dirty="0">
                <a:solidFill>
                  <a:srgbClr val="8FC3B5"/>
                </a:solidFill>
                <a:latin typeface="Consolas" pitchFamily="34" charset="0"/>
                <a:ea typeface="Consolas" pitchFamily="34" charset="-122"/>
                <a:cs typeface="Consolas" pitchFamily="34" charset="-120"/>
              </a:rPr>
              <a:t>STEP 7</a:t>
            </a:r>
            <a:endParaRPr lang="en-US" sz="950" dirty="0"/>
          </a:p>
        </p:txBody>
      </p:sp>
      <p:sp>
        <p:nvSpPr>
          <p:cNvPr id="72" name="Text 70"/>
          <p:cNvSpPr txBox="1"/>
          <p:nvPr/>
        </p:nvSpPr>
        <p:spPr>
          <a:xfrm>
            <a:off x="10332720" y="2304288"/>
            <a:ext cx="1152144" cy="66751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Code</a:t>
            </a:r>
            <a:endParaRPr lang="en-US" sz="1400" dirty="0"/>
          </a:p>
        </p:txBody>
      </p:sp>
      <p:sp>
        <p:nvSpPr>
          <p:cNvPr id="73" name="Text 71"/>
          <p:cNvSpPr txBox="1"/>
          <p:nvPr/>
        </p:nvSpPr>
        <p:spPr>
          <a:xfrm>
            <a:off x="10314432" y="3191256"/>
            <a:ext cx="1188720" cy="1892808"/>
          </a:xfrm>
          <a:prstGeom prst="rect">
            <a:avLst/>
          </a:prstGeom>
          <a:noFill/>
          <a:ln/>
        </p:spPr>
        <p:txBody>
          <a:bodyPr wrap="square" lIns="0" tIns="0" rIns="0" bIns="0" rtlCol="0" anchor="t"/>
          <a:lstStyle/>
          <a:p>
            <a:pPr indent="0" marL="0">
              <a:spcAft>
                <a:spcPts val="400"/>
              </a:spcAft>
              <a:buNone/>
            </a:pPr>
            <a:endParaRPr lang="en-US" sz="900" dirty="0"/>
          </a:p>
        </p:txBody>
      </p:sp>
      <p:sp>
        <p:nvSpPr>
          <p:cNvPr id="74" name="Text 72"/>
          <p:cNvSpPr txBox="1"/>
          <p:nvPr/>
        </p:nvSpPr>
        <p:spPr>
          <a:xfrm>
            <a:off x="10296144" y="3200400"/>
            <a:ext cx="1225296" cy="1463040"/>
          </a:xfrm>
          <a:prstGeom prst="rect">
            <a:avLst/>
          </a:prstGeom>
          <a:noFill/>
          <a:ln/>
        </p:spPr>
        <p:txBody>
          <a:bodyPr wrap="square" lIns="0" tIns="0" rIns="0" bIns="0" rtlCol="0" anchor="t"/>
          <a:lstStyle/>
          <a:p>
            <a:pPr indent="0" marL="0">
              <a:spcAft>
                <a:spcPts val="600"/>
              </a:spcAft>
              <a:buNone/>
            </a:pPr>
            <a:r>
              <a:rPr lang="en-US" sz="950" dirty="0">
                <a:solidFill>
                  <a:srgbClr val="16202B"/>
                </a:solidFill>
                <a:latin typeface="Calibri" pitchFamily="34" charset="0"/>
                <a:ea typeface="Calibri" pitchFamily="34" charset="-122"/>
                <a:cs typeface="Calibri" pitchFamily="34" charset="-120"/>
              </a:rPr>
              <a:t>Runnable code in the investigator's software, never executed by Mallard.</a:t>
            </a:r>
            <a:endParaRPr lang="en-US" sz="950" dirty="0"/>
          </a:p>
          <a:p>
            <a:pPr indent="0" marL="0">
              <a:buNone/>
            </a:pPr>
            <a:r>
              <a:rPr lang="en-US" sz="950" b="1" dirty="0">
                <a:solidFill>
                  <a:srgbClr val="0F4C43"/>
                </a:solidFill>
                <a:latin typeface="Calibri" pitchFamily="34" charset="0"/>
                <a:ea typeface="Calibri" pitchFamily="34" charset="-122"/>
                <a:cs typeface="Calibri" pitchFamily="34" charset="-120"/>
              </a:rPr>
              <a:t>On request.</a:t>
            </a:r>
            <a:endParaRPr lang="en-US" sz="950" dirty="0"/>
          </a:p>
        </p:txBody>
      </p:sp>
      <p:sp>
        <p:nvSpPr>
          <p:cNvPr id="75" name="Shape 73"/>
          <p:cNvSpPr/>
          <p:nvPr/>
        </p:nvSpPr>
        <p:spPr>
          <a:xfrm>
            <a:off x="10296144" y="4937760"/>
            <a:ext cx="118872" cy="118872"/>
          </a:xfrm>
          <a:prstGeom prst="rect">
            <a:avLst/>
          </a:prstGeom>
          <a:solidFill>
            <a:srgbClr val="0F4C43"/>
          </a:solidFill>
          <a:ln w="12700">
            <a:solidFill>
              <a:srgbClr val="0F4C43"/>
            </a:solidFill>
            <a:prstDash val="solid"/>
          </a:ln>
        </p:spPr>
      </p:sp>
      <p:sp>
        <p:nvSpPr>
          <p:cNvPr id="76" name="Shape 74"/>
          <p:cNvSpPr/>
          <p:nvPr/>
        </p:nvSpPr>
        <p:spPr>
          <a:xfrm>
            <a:off x="548640" y="5742432"/>
            <a:ext cx="11091672" cy="603504"/>
          </a:xfrm>
          <a:prstGeom prst="rect">
            <a:avLst/>
          </a:prstGeom>
          <a:solidFill>
            <a:srgbClr val="EEF3F2"/>
          </a:solidFill>
          <a:ln w="12700">
            <a:solidFill>
              <a:srgbClr val="EEF3F2"/>
            </a:solidFill>
            <a:prstDash val="solid"/>
          </a:ln>
        </p:spPr>
      </p:sp>
      <p:sp>
        <p:nvSpPr>
          <p:cNvPr id="77" name="Text 75"/>
          <p:cNvSpPr txBox="1"/>
          <p:nvPr/>
        </p:nvSpPr>
        <p:spPr>
          <a:xfrm>
            <a:off x="786384" y="5742432"/>
            <a:ext cx="10607040" cy="603504"/>
          </a:xfrm>
          <a:prstGeom prst="rect">
            <a:avLst/>
          </a:prstGeom>
          <a:noFill/>
          <a:ln/>
        </p:spPr>
        <p:txBody>
          <a:bodyPr wrap="square" lIns="0" tIns="0" rIns="0" bIns="0" rtlCol="0" anchor="ctr"/>
          <a:lstStyle/>
          <a:p>
            <a:pPr indent="0" marL="0">
              <a:buNone/>
            </a:pPr>
            <a:r>
              <a:rPr lang="en-US" sz="1450" dirty="0">
                <a:solidFill>
                  <a:srgbClr val="16202B"/>
                </a:solidFill>
                <a:latin typeface="Calibri" pitchFamily="34" charset="0"/>
                <a:ea typeface="Calibri" pitchFamily="34" charset="-122"/>
                <a:cs typeface="Calibri" pitchFamily="34" charset="-120"/>
              </a:rPr>
              <a:t>Each step drafts only its own sections. The investigator's answers are pinned as facts no later step can overwrite, and re-running a step marks everything after it stale.</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0881360" cy="658368"/>
          </a:xfrm>
          <a:prstGeom prst="rect">
            <a:avLst/>
          </a:prstGeom>
          <a:noFill/>
          <a:ln/>
        </p:spPr>
        <p:txBody>
          <a:bodyPr wrap="square" lIns="0" tIns="0" rIns="0" bIns="0" rtlCol="0" anchor="ctr"/>
          <a:lstStyle/>
          <a:p>
            <a:pPr indent="0" marL="0">
              <a:buNone/>
            </a:pPr>
            <a:r>
              <a:rPr lang="en-US" sz="3400" b="1" dirty="0">
                <a:solidFill>
                  <a:srgbClr val="16202B"/>
                </a:solidFill>
                <a:latin typeface="Cambria" pitchFamily="34" charset="0"/>
                <a:ea typeface="Cambria" pitchFamily="34" charset="-122"/>
                <a:cs typeface="Cambria" pitchFamily="34" charset="-120"/>
              </a:rPr>
              <a:t>What it asks for that a general chatbot does not</a:t>
            </a:r>
            <a:endParaRPr lang="en-US" sz="3400" dirty="0"/>
          </a:p>
        </p:txBody>
      </p:sp>
      <p:sp>
        <p:nvSpPr>
          <p:cNvPr id="3" name="Text 1"/>
          <p:cNvSpPr txBox="1"/>
          <p:nvPr/>
        </p:nvSpPr>
        <p:spPr>
          <a:xfrm>
            <a:off x="566928" y="1060704"/>
            <a:ext cx="10881360"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Typed facts the code can hold the plan to, not free text a model fills from its priors</a:t>
            </a:r>
            <a:endParaRPr lang="en-US" sz="1500" dirty="0"/>
          </a:p>
        </p:txBody>
      </p:sp>
      <p:sp>
        <p:nvSpPr>
          <p:cNvPr id="4" name="Shape 2"/>
          <p:cNvSpPr/>
          <p:nvPr/>
        </p:nvSpPr>
        <p:spPr>
          <a:xfrm>
            <a:off x="566928" y="1645920"/>
            <a:ext cx="3520440" cy="1938528"/>
          </a:xfrm>
          <a:prstGeom prst="rect">
            <a:avLst/>
          </a:prstGeom>
          <a:solidFill>
            <a:srgbClr val="EEF3F2"/>
          </a:solidFill>
          <a:ln w="12700">
            <a:solidFill>
              <a:srgbClr val="EEF3F2"/>
            </a:solidFill>
            <a:prstDash val="solid"/>
          </a:ln>
        </p:spPr>
      </p:sp>
      <p:sp>
        <p:nvSpPr>
          <p:cNvPr id="5" name="Text 3"/>
          <p:cNvSpPr txBox="1"/>
          <p:nvPr/>
        </p:nvSpPr>
        <p:spPr>
          <a:xfrm>
            <a:off x="768096" y="1773936"/>
            <a:ext cx="3118104" cy="566928"/>
          </a:xfrm>
          <a:prstGeom prst="rect">
            <a:avLst/>
          </a:prstGeom>
          <a:noFill/>
          <a:ln/>
        </p:spPr>
        <p:txBody>
          <a:bodyPr wrap="square" lIns="0" tIns="0" rIns="0" bIns="0" rtlCol="0" anchor="t"/>
          <a:lstStyle/>
          <a:p>
            <a:pPr indent="0" marL="0">
              <a:buNone/>
            </a:pPr>
            <a:r>
              <a:rPr lang="en-US" sz="1400" b="1" dirty="0">
                <a:solidFill>
                  <a:srgbClr val="0F4C43"/>
                </a:solidFill>
                <a:latin typeface="Calibri" pitchFamily="34" charset="0"/>
                <a:ea typeface="Calibri" pitchFamily="34" charset="-122"/>
                <a:cs typeface="Calibri" pitchFamily="34" charset="-120"/>
              </a:rPr>
              <a:t>Context governs feasibility, never validity</a:t>
            </a:r>
            <a:endParaRPr lang="en-US" sz="1400" dirty="0"/>
          </a:p>
        </p:txBody>
      </p:sp>
      <p:sp>
        <p:nvSpPr>
          <p:cNvPr id="6" name="Text 4"/>
          <p:cNvSpPr txBox="1"/>
          <p:nvPr/>
        </p:nvSpPr>
        <p:spPr>
          <a:xfrm>
            <a:off x="768096" y="2377440"/>
            <a:ext cx="3118104" cy="1115568"/>
          </a:xfrm>
          <a:prstGeom prst="rect">
            <a:avLst/>
          </a:prstGeom>
          <a:noFill/>
          <a:ln/>
        </p:spPr>
        <p:txBody>
          <a:bodyPr wrap="square" lIns="0" tIns="0" rIns="0" bIns="0" rtlCol="0" anchor="t"/>
          <a:lstStyle/>
          <a:p>
            <a:pPr indent="0" marL="0">
              <a:buNone/>
            </a:pPr>
            <a:r>
              <a:rPr lang="en-US" sz="1050" dirty="0">
                <a:solidFill>
                  <a:srgbClr val="16202B"/>
                </a:solidFill>
                <a:latin typeface="Calibri" pitchFamily="34" charset="0"/>
                <a:ea typeface="Calibri" pitchFamily="34" charset="-122"/>
                <a:cs typeface="Calibri" pitchFamily="34" charset="-120"/>
              </a:rPr>
              <a:t>Nine typed fields: use, deadline, data state and source, funding, team roles, who analyses. Resources decide whether a method is reachable; they never make a weaker method acceptable. A test fails if any prompt says "simplest analysis" or "in a spreadsheet".</a:t>
            </a:r>
            <a:endParaRPr lang="en-US" sz="1050" dirty="0"/>
          </a:p>
        </p:txBody>
      </p:sp>
      <p:sp>
        <p:nvSpPr>
          <p:cNvPr id="7" name="Shape 5"/>
          <p:cNvSpPr/>
          <p:nvPr/>
        </p:nvSpPr>
        <p:spPr>
          <a:xfrm>
            <a:off x="4242816" y="1645920"/>
            <a:ext cx="3520440" cy="1938528"/>
          </a:xfrm>
          <a:prstGeom prst="rect">
            <a:avLst/>
          </a:prstGeom>
          <a:solidFill>
            <a:srgbClr val="EEF3F2"/>
          </a:solidFill>
          <a:ln w="12700">
            <a:solidFill>
              <a:srgbClr val="EEF3F2"/>
            </a:solidFill>
            <a:prstDash val="solid"/>
          </a:ln>
        </p:spPr>
      </p:sp>
      <p:sp>
        <p:nvSpPr>
          <p:cNvPr id="8" name="Text 6"/>
          <p:cNvSpPr txBox="1"/>
          <p:nvPr/>
        </p:nvSpPr>
        <p:spPr>
          <a:xfrm>
            <a:off x="4443984" y="1773936"/>
            <a:ext cx="3118104" cy="566928"/>
          </a:xfrm>
          <a:prstGeom prst="rect">
            <a:avLst/>
          </a:prstGeom>
          <a:noFill/>
          <a:ln/>
        </p:spPr>
        <p:txBody>
          <a:bodyPr wrap="square" lIns="0" tIns="0" rIns="0" bIns="0" rtlCol="0" anchor="t"/>
          <a:lstStyle/>
          <a:p>
            <a:pPr indent="0" marL="0">
              <a:buNone/>
            </a:pPr>
            <a:r>
              <a:rPr lang="en-US" sz="1400" b="1" dirty="0">
                <a:solidFill>
                  <a:srgbClr val="0F4C43"/>
                </a:solidFill>
                <a:latin typeface="Calibri" pitchFamily="34" charset="0"/>
                <a:ea typeface="Calibri" pitchFamily="34" charset="-122"/>
                <a:cs typeface="Calibri" pitchFamily="34" charset="-120"/>
              </a:rPr>
              <a:t>Data state against the chosen design</a:t>
            </a:r>
            <a:endParaRPr lang="en-US" sz="1400" dirty="0"/>
          </a:p>
        </p:txBody>
      </p:sp>
      <p:sp>
        <p:nvSpPr>
          <p:cNvPr id="9" name="Text 7"/>
          <p:cNvSpPr txBox="1"/>
          <p:nvPr/>
        </p:nvSpPr>
        <p:spPr>
          <a:xfrm>
            <a:off x="4443984" y="2377440"/>
            <a:ext cx="3118104" cy="1115568"/>
          </a:xfrm>
          <a:prstGeom prst="rect">
            <a:avLst/>
          </a:prstGeom>
          <a:noFill/>
          <a:ln/>
        </p:spPr>
        <p:txBody>
          <a:bodyPr wrap="square" lIns="0" tIns="0" rIns="0" bIns="0" rtlCol="0" anchor="t"/>
          <a:lstStyle/>
          <a:p>
            <a:pPr indent="0" marL="0">
              <a:buNone/>
            </a:pPr>
            <a:r>
              <a:rPr lang="en-US" sz="1050" dirty="0">
                <a:solidFill>
                  <a:srgbClr val="16202B"/>
                </a:solidFill>
                <a:latin typeface="Calibri" pitchFamily="34" charset="0"/>
                <a:ea typeface="Calibri" pitchFamily="34" charset="-122"/>
                <a:cs typeface="Calibri" pitchFamily="34" charset="-120"/>
              </a:rPr>
              <a:t>Records already in hand against a randomised or prospective design is a blocking conflict. Generate stays disabled until the investigator says which statement is true.</a:t>
            </a:r>
            <a:endParaRPr lang="en-US" sz="1050" dirty="0"/>
          </a:p>
        </p:txBody>
      </p:sp>
      <p:sp>
        <p:nvSpPr>
          <p:cNvPr id="10" name="Shape 8"/>
          <p:cNvSpPr/>
          <p:nvPr/>
        </p:nvSpPr>
        <p:spPr>
          <a:xfrm>
            <a:off x="7918704" y="1645920"/>
            <a:ext cx="3520440" cy="1938528"/>
          </a:xfrm>
          <a:prstGeom prst="rect">
            <a:avLst/>
          </a:prstGeom>
          <a:solidFill>
            <a:srgbClr val="EEF3F2"/>
          </a:solidFill>
          <a:ln w="12700">
            <a:solidFill>
              <a:srgbClr val="EEF3F2"/>
            </a:solidFill>
            <a:prstDash val="solid"/>
          </a:ln>
        </p:spPr>
      </p:sp>
      <p:sp>
        <p:nvSpPr>
          <p:cNvPr id="11" name="Text 9"/>
          <p:cNvSpPr txBox="1"/>
          <p:nvPr/>
        </p:nvSpPr>
        <p:spPr>
          <a:xfrm>
            <a:off x="8119872" y="1773936"/>
            <a:ext cx="3118104" cy="566928"/>
          </a:xfrm>
          <a:prstGeom prst="rect">
            <a:avLst/>
          </a:prstGeom>
          <a:noFill/>
          <a:ln/>
        </p:spPr>
        <p:txBody>
          <a:bodyPr wrap="square" lIns="0" tIns="0" rIns="0" bIns="0" rtlCol="0" anchor="t"/>
          <a:lstStyle/>
          <a:p>
            <a:pPr indent="0" marL="0">
              <a:buNone/>
            </a:pPr>
            <a:r>
              <a:rPr lang="en-US" sz="1400" b="1" dirty="0">
                <a:solidFill>
                  <a:srgbClr val="0F4C43"/>
                </a:solidFill>
                <a:latin typeface="Calibri" pitchFamily="34" charset="0"/>
                <a:ea typeface="Calibri" pitchFamily="34" charset="-122"/>
                <a:cs typeface="Calibri" pitchFamily="34" charset="-120"/>
              </a:rPr>
              <a:t>Aims with a role and a claim</a:t>
            </a:r>
            <a:endParaRPr lang="en-US" sz="1400" dirty="0"/>
          </a:p>
        </p:txBody>
      </p:sp>
      <p:sp>
        <p:nvSpPr>
          <p:cNvPr id="12" name="Text 10"/>
          <p:cNvSpPr txBox="1"/>
          <p:nvPr/>
        </p:nvSpPr>
        <p:spPr>
          <a:xfrm>
            <a:off x="8119872" y="2377440"/>
            <a:ext cx="3118104" cy="1115568"/>
          </a:xfrm>
          <a:prstGeom prst="rect">
            <a:avLst/>
          </a:prstGeom>
          <a:noFill/>
          <a:ln/>
        </p:spPr>
        <p:txBody>
          <a:bodyPr wrap="square" lIns="0" tIns="0" rIns="0" bIns="0" rtlCol="0" anchor="t"/>
          <a:lstStyle/>
          <a:p>
            <a:pPr indent="0" marL="0">
              <a:buNone/>
            </a:pPr>
            <a:r>
              <a:rPr lang="en-US" sz="1050" dirty="0">
                <a:solidFill>
                  <a:srgbClr val="16202B"/>
                </a:solidFill>
                <a:latin typeface="Calibri" pitchFamily="34" charset="0"/>
                <a:ea typeface="Calibri" pitchFamily="34" charset="-122"/>
                <a:cs typeface="Calibri" pitchFamily="34" charset="-120"/>
              </a:rPr>
              <a:t>Each aim is primary confirmatory, secondary confirmatory or exploratory, with an intended claim. A confirmatory aim requires a hypothesis and makes multiplicity fields mandatory. Placeholders are bracketed, never invented.</a:t>
            </a:r>
            <a:endParaRPr lang="en-US" sz="1050" dirty="0"/>
          </a:p>
        </p:txBody>
      </p:sp>
      <p:sp>
        <p:nvSpPr>
          <p:cNvPr id="13" name="Shape 11"/>
          <p:cNvSpPr/>
          <p:nvPr/>
        </p:nvSpPr>
        <p:spPr>
          <a:xfrm>
            <a:off x="566928" y="3703320"/>
            <a:ext cx="3520440" cy="1938528"/>
          </a:xfrm>
          <a:prstGeom prst="rect">
            <a:avLst/>
          </a:prstGeom>
          <a:solidFill>
            <a:srgbClr val="EEF3F2"/>
          </a:solidFill>
          <a:ln w="12700">
            <a:solidFill>
              <a:srgbClr val="EEF3F2"/>
            </a:solidFill>
            <a:prstDash val="solid"/>
          </a:ln>
        </p:spPr>
      </p:sp>
      <p:sp>
        <p:nvSpPr>
          <p:cNvPr id="14" name="Text 12"/>
          <p:cNvSpPr txBox="1"/>
          <p:nvPr/>
        </p:nvSpPr>
        <p:spPr>
          <a:xfrm>
            <a:off x="768096" y="3831336"/>
            <a:ext cx="3118104" cy="566928"/>
          </a:xfrm>
          <a:prstGeom prst="rect">
            <a:avLst/>
          </a:prstGeom>
          <a:noFill/>
          <a:ln/>
        </p:spPr>
        <p:txBody>
          <a:bodyPr wrap="square" lIns="0" tIns="0" rIns="0" bIns="0" rtlCol="0" anchor="t"/>
          <a:lstStyle/>
          <a:p>
            <a:pPr indent="0" marL="0">
              <a:buNone/>
            </a:pPr>
            <a:r>
              <a:rPr lang="en-US" sz="1400" b="1" dirty="0">
                <a:solidFill>
                  <a:srgbClr val="0F4C43"/>
                </a:solidFill>
                <a:latin typeface="Calibri" pitchFamily="34" charset="0"/>
                <a:ea typeface="Calibri" pitchFamily="34" charset="-122"/>
                <a:cs typeface="Calibri" pitchFamily="34" charset="-120"/>
              </a:rPr>
              <a:t>A typed estimand</a:t>
            </a:r>
            <a:endParaRPr lang="en-US" sz="1400" dirty="0"/>
          </a:p>
        </p:txBody>
      </p:sp>
      <p:sp>
        <p:nvSpPr>
          <p:cNvPr id="15" name="Text 13"/>
          <p:cNvSpPr txBox="1"/>
          <p:nvPr/>
        </p:nvSpPr>
        <p:spPr>
          <a:xfrm>
            <a:off x="768096" y="4434840"/>
            <a:ext cx="3118104" cy="1115568"/>
          </a:xfrm>
          <a:prstGeom prst="rect">
            <a:avLst/>
          </a:prstGeom>
          <a:noFill/>
          <a:ln/>
        </p:spPr>
        <p:txBody>
          <a:bodyPr wrap="square" lIns="0" tIns="0" rIns="0" bIns="0" rtlCol="0" anchor="t"/>
          <a:lstStyle/>
          <a:p>
            <a:pPr indent="0" marL="0">
              <a:buNone/>
            </a:pPr>
            <a:r>
              <a:rPr lang="en-US" sz="1050" dirty="0">
                <a:solidFill>
                  <a:srgbClr val="16202B"/>
                </a:solidFill>
                <a:latin typeface="Calibri" pitchFamily="34" charset="0"/>
                <a:ea typeface="Calibri" pitchFamily="34" charset="-122"/>
                <a:cs typeface="Calibri" pitchFamily="34" charset="-120"/>
              </a:rPr>
              <a:t>Target, population, exposure, comparator, outcome, summary measure, time horizon, assignment mechanism, clustering, repeated measures, competing events. Seventeen rules compare sizing, analysis and figures to it.</a:t>
            </a:r>
            <a:endParaRPr lang="en-US" sz="1050" dirty="0"/>
          </a:p>
        </p:txBody>
      </p:sp>
      <p:sp>
        <p:nvSpPr>
          <p:cNvPr id="16" name="Shape 14"/>
          <p:cNvSpPr/>
          <p:nvPr/>
        </p:nvSpPr>
        <p:spPr>
          <a:xfrm>
            <a:off x="4242816" y="3703320"/>
            <a:ext cx="3520440" cy="1938528"/>
          </a:xfrm>
          <a:prstGeom prst="rect">
            <a:avLst/>
          </a:prstGeom>
          <a:solidFill>
            <a:srgbClr val="EEF3F2"/>
          </a:solidFill>
          <a:ln w="12700">
            <a:solidFill>
              <a:srgbClr val="EEF3F2"/>
            </a:solidFill>
            <a:prstDash val="solid"/>
          </a:ln>
        </p:spPr>
      </p:sp>
      <p:sp>
        <p:nvSpPr>
          <p:cNvPr id="17" name="Text 15"/>
          <p:cNvSpPr txBox="1"/>
          <p:nvPr/>
        </p:nvSpPr>
        <p:spPr>
          <a:xfrm>
            <a:off x="4443984" y="3831336"/>
            <a:ext cx="3118104" cy="566928"/>
          </a:xfrm>
          <a:prstGeom prst="rect">
            <a:avLst/>
          </a:prstGeom>
          <a:noFill/>
          <a:ln/>
        </p:spPr>
        <p:txBody>
          <a:bodyPr wrap="square" lIns="0" tIns="0" rIns="0" bIns="0" rtlCol="0" anchor="t"/>
          <a:lstStyle/>
          <a:p>
            <a:pPr indent="0" marL="0">
              <a:buNone/>
            </a:pPr>
            <a:r>
              <a:rPr lang="en-US" sz="1400" b="1" dirty="0">
                <a:solidFill>
                  <a:srgbClr val="0F4C43"/>
                </a:solidFill>
                <a:latin typeface="Calibri" pitchFamily="34" charset="0"/>
                <a:ea typeface="Calibri" pitchFamily="34" charset="-122"/>
                <a:cs typeface="Calibri" pitchFamily="34" charset="-120"/>
              </a:rPr>
              <a:t>Variables with roles, timing and missingness</a:t>
            </a:r>
            <a:endParaRPr lang="en-US" sz="1400" dirty="0"/>
          </a:p>
        </p:txBody>
      </p:sp>
      <p:sp>
        <p:nvSpPr>
          <p:cNvPr id="18" name="Text 16"/>
          <p:cNvSpPr txBox="1"/>
          <p:nvPr/>
        </p:nvSpPr>
        <p:spPr>
          <a:xfrm>
            <a:off x="4443984" y="4434840"/>
            <a:ext cx="3118104" cy="1115568"/>
          </a:xfrm>
          <a:prstGeom prst="rect">
            <a:avLst/>
          </a:prstGeom>
          <a:noFill/>
          <a:ln/>
        </p:spPr>
        <p:txBody>
          <a:bodyPr wrap="square" lIns="0" tIns="0" rIns="0" bIns="0" rtlCol="0" anchor="t"/>
          <a:lstStyle/>
          <a:p>
            <a:pPr indent="0" marL="0">
              <a:buNone/>
            </a:pPr>
            <a:r>
              <a:rPr lang="en-US" sz="1050" dirty="0">
                <a:solidFill>
                  <a:srgbClr val="16202B"/>
                </a:solidFill>
                <a:latin typeface="Calibri" pitchFamily="34" charset="0"/>
                <a:ea typeface="Calibri" pitchFamily="34" charset="-122"/>
                <a:cs typeface="Calibri" pitchFamily="34" charset="-120"/>
              </a:rPr>
              <a:t>Outcome, exposure, confounder, mediator, effect modifier, selection factor. A variable that is both confounder and mediator blocks. The map refuses to choose an adjustment set for you.</a:t>
            </a:r>
            <a:endParaRPr lang="en-US" sz="1050" dirty="0"/>
          </a:p>
        </p:txBody>
      </p:sp>
      <p:sp>
        <p:nvSpPr>
          <p:cNvPr id="19" name="Shape 17"/>
          <p:cNvSpPr/>
          <p:nvPr/>
        </p:nvSpPr>
        <p:spPr>
          <a:xfrm>
            <a:off x="7918704" y="3703320"/>
            <a:ext cx="3520440" cy="1938528"/>
          </a:xfrm>
          <a:prstGeom prst="rect">
            <a:avLst/>
          </a:prstGeom>
          <a:solidFill>
            <a:srgbClr val="EEF3F2"/>
          </a:solidFill>
          <a:ln w="12700">
            <a:solidFill>
              <a:srgbClr val="EEF3F2"/>
            </a:solidFill>
            <a:prstDash val="solid"/>
          </a:ln>
        </p:spPr>
      </p:sp>
      <p:sp>
        <p:nvSpPr>
          <p:cNvPr id="20" name="Text 18"/>
          <p:cNvSpPr txBox="1"/>
          <p:nvPr/>
        </p:nvSpPr>
        <p:spPr>
          <a:xfrm>
            <a:off x="8119872" y="3831336"/>
            <a:ext cx="3118104" cy="566928"/>
          </a:xfrm>
          <a:prstGeom prst="rect">
            <a:avLst/>
          </a:prstGeom>
          <a:noFill/>
          <a:ln/>
        </p:spPr>
        <p:txBody>
          <a:bodyPr wrap="square" lIns="0" tIns="0" rIns="0" bIns="0" rtlCol="0" anchor="t"/>
          <a:lstStyle/>
          <a:p>
            <a:pPr indent="0" marL="0">
              <a:buNone/>
            </a:pPr>
            <a:r>
              <a:rPr lang="en-US" sz="1400" b="1" dirty="0">
                <a:solidFill>
                  <a:srgbClr val="0F4C43"/>
                </a:solidFill>
                <a:latin typeface="Calibri" pitchFamily="34" charset="0"/>
                <a:ea typeface="Calibri" pitchFamily="34" charset="-122"/>
                <a:cs typeface="Calibri" pitchFamily="34" charset="-120"/>
              </a:rPr>
              <a:t>Feasibility with a basis, counts reconciled</a:t>
            </a:r>
            <a:endParaRPr lang="en-US" sz="1400" dirty="0"/>
          </a:p>
        </p:txBody>
      </p:sp>
      <p:sp>
        <p:nvSpPr>
          <p:cNvPr id="21" name="Text 19"/>
          <p:cNvSpPr txBox="1"/>
          <p:nvPr/>
        </p:nvSpPr>
        <p:spPr>
          <a:xfrm>
            <a:off x="8119872" y="4434840"/>
            <a:ext cx="3118104" cy="1115568"/>
          </a:xfrm>
          <a:prstGeom prst="rect">
            <a:avLst/>
          </a:prstGeom>
          <a:noFill/>
          <a:ln/>
        </p:spPr>
        <p:txBody>
          <a:bodyPr wrap="square" lIns="0" tIns="0" rIns="0" bIns="0" rtlCol="0" anchor="t"/>
          <a:lstStyle/>
          <a:p>
            <a:pPr indent="0" marL="0">
              <a:buNone/>
            </a:pPr>
            <a:r>
              <a:rPr lang="en-US" sz="1050" dirty="0">
                <a:solidFill>
                  <a:srgbClr val="16202B"/>
                </a:solidFill>
                <a:latin typeface="Calibri" pitchFamily="34" charset="0"/>
                <a:ea typeface="Calibri" pitchFamily="34" charset="-122"/>
                <a:cs typeface="Calibri" pitchFamily="34" charset="-120"/>
              </a:rPr>
              <a:t>Every answer is a checked result or a planning assumption with an owner. A record count is never treated as evidence of power, and a count not yet established carries a caveat into the package.</a:t>
            </a:r>
            <a:endParaRPr lang="en-US" sz="1050" dirty="0"/>
          </a:p>
        </p:txBody>
      </p:sp>
      <p:sp>
        <p:nvSpPr>
          <p:cNvPr id="22" name="Shape 20"/>
          <p:cNvSpPr/>
          <p:nvPr/>
        </p:nvSpPr>
        <p:spPr>
          <a:xfrm>
            <a:off x="548640" y="5806440"/>
            <a:ext cx="11091672" cy="603504"/>
          </a:xfrm>
          <a:prstGeom prst="rect">
            <a:avLst/>
          </a:prstGeom>
          <a:solidFill>
            <a:srgbClr val="EEF3F2"/>
          </a:solidFill>
          <a:ln w="12700">
            <a:solidFill>
              <a:srgbClr val="EEF3F2"/>
            </a:solidFill>
            <a:prstDash val="solid"/>
          </a:ln>
        </p:spPr>
      </p:sp>
      <p:sp>
        <p:nvSpPr>
          <p:cNvPr id="23" name="Text 21"/>
          <p:cNvSpPr txBox="1"/>
          <p:nvPr/>
        </p:nvSpPr>
        <p:spPr>
          <a:xfrm>
            <a:off x="786384" y="5806440"/>
            <a:ext cx="10607040" cy="603504"/>
          </a:xfrm>
          <a:prstGeom prst="rect">
            <a:avLst/>
          </a:prstGeom>
          <a:noFill/>
          <a:ln/>
        </p:spPr>
        <p:txBody>
          <a:bodyPr wrap="square" lIns="0" tIns="0" rIns="0" bIns="0" rtlCol="0" anchor="ctr"/>
          <a:lstStyle/>
          <a:p>
            <a:pPr indent="0" marL="0">
              <a:buNone/>
            </a:pPr>
            <a:r>
              <a:rPr lang="en-US" sz="1450" dirty="0">
                <a:solidFill>
                  <a:srgbClr val="16202B"/>
                </a:solidFill>
                <a:latin typeface="Calibri" pitchFamily="34" charset="0"/>
                <a:ea typeface="Calibri" pitchFamily="34" charset="-122"/>
                <a:cs typeface="Calibri" pitchFamily="34" charset="-120"/>
              </a:rPr>
              <a:t>A chatbot can be prompted to ask all of this. It cannot refuse to print a number when the answers contradict each other.</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0881360" cy="658368"/>
          </a:xfrm>
          <a:prstGeom prst="rect">
            <a:avLst/>
          </a:prstGeom>
          <a:noFill/>
          <a:ln/>
        </p:spPr>
        <p:txBody>
          <a:bodyPr wrap="square" lIns="0" tIns="0" rIns="0" bIns="0" rtlCol="0" anchor="ctr"/>
          <a:lstStyle/>
          <a:p>
            <a:pPr indent="0" marL="0">
              <a:buNone/>
            </a:pPr>
            <a:r>
              <a:rPr lang="en-US" sz="3400" b="1" dirty="0">
                <a:solidFill>
                  <a:srgbClr val="16202B"/>
                </a:solidFill>
                <a:latin typeface="Cambria" pitchFamily="34" charset="0"/>
                <a:ea typeface="Cambria" pitchFamily="34" charset="-122"/>
                <a:cs typeface="Cambria" pitchFamily="34" charset="-120"/>
              </a:rPr>
              <a:t>How a draft becomes a plan</a:t>
            </a:r>
            <a:endParaRPr lang="en-US" sz="3400" dirty="0"/>
          </a:p>
        </p:txBody>
      </p:sp>
      <p:sp>
        <p:nvSpPr>
          <p:cNvPr id="3" name="Text 1"/>
          <p:cNvSpPr txBox="1"/>
          <p:nvPr/>
        </p:nvSpPr>
        <p:spPr>
          <a:xfrm>
            <a:off x="566928" y="1060704"/>
            <a:ext cx="10881360"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Two reviews, one guarded revision, a judge that never edits, and then the code</a:t>
            </a:r>
            <a:endParaRPr lang="en-US" sz="1500" dirty="0"/>
          </a:p>
        </p:txBody>
      </p:sp>
      <p:pic>
        <p:nvPicPr>
          <p:cNvPr id="4" name="Image 0" descr="loop.png">    </p:cNvPr>
          <p:cNvPicPr>
            <a:picLocks noChangeAspect="1"/>
          </p:cNvPicPr>
          <p:nvPr/>
        </p:nvPicPr>
        <p:blipFill>
          <a:blip r:embed="rId1"/>
          <a:stretch>
            <a:fillRect/>
          </a:stretch>
        </p:blipFill>
        <p:spPr>
          <a:xfrm>
            <a:off x="566928" y="1554480"/>
            <a:ext cx="2788920" cy="4389120"/>
          </a:xfrm>
          <a:prstGeom prst="rect">
            <a:avLst/>
          </a:prstGeom>
        </p:spPr>
      </p:pic>
      <p:sp>
        <p:nvSpPr>
          <p:cNvPr id="5" name="Shape 2"/>
          <p:cNvSpPr/>
          <p:nvPr/>
        </p:nvSpPr>
        <p:spPr>
          <a:xfrm>
            <a:off x="3749040" y="1591056"/>
            <a:ext cx="384048" cy="384048"/>
          </a:xfrm>
          <a:prstGeom prst="ellipse">
            <a:avLst/>
          </a:prstGeom>
          <a:solidFill>
            <a:srgbClr val="0F4C43"/>
          </a:solidFill>
          <a:ln w="12700">
            <a:solidFill>
              <a:srgbClr val="0F4C43"/>
            </a:solidFill>
            <a:prstDash val="solid"/>
          </a:ln>
        </p:spPr>
      </p:sp>
      <p:sp>
        <p:nvSpPr>
          <p:cNvPr id="6" name="Text 3"/>
          <p:cNvSpPr txBox="1"/>
          <p:nvPr/>
        </p:nvSpPr>
        <p:spPr>
          <a:xfrm>
            <a:off x="3749040" y="15910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4279392" y="1572768"/>
            <a:ext cx="7315200" cy="292608"/>
          </a:xfrm>
          <a:prstGeom prst="rect">
            <a:avLst/>
          </a:prstGeom>
          <a:noFill/>
          <a:ln/>
        </p:spPr>
        <p:txBody>
          <a:bodyPr wrap="square" lIns="0" tIns="0" rIns="0" bIns="0" rtlCol="0" anchor="ctr"/>
          <a:lstStyle/>
          <a:p>
            <a:pPr indent="0" marL="0">
              <a:buNone/>
            </a:pPr>
            <a:r>
              <a:rPr lang="en-US" sz="1450" b="1" dirty="0">
                <a:solidFill>
                  <a:srgbClr val="16202B"/>
                </a:solidFill>
                <a:latin typeface="Calibri" pitchFamily="34" charset="0"/>
                <a:ea typeface="Calibri" pitchFamily="34" charset="-122"/>
                <a:cs typeface="Calibri" pitchFamily="34" charset="-120"/>
              </a:rPr>
              <a:t>Two reviewers, merged worst case</a:t>
            </a:r>
            <a:endParaRPr lang="en-US" sz="1450" dirty="0"/>
          </a:p>
        </p:txBody>
      </p:sp>
      <p:sp>
        <p:nvSpPr>
          <p:cNvPr id="8" name="Text 5"/>
          <p:cNvSpPr txBox="1"/>
          <p:nvPr/>
        </p:nvSpPr>
        <p:spPr>
          <a:xfrm>
            <a:off x="4279392" y="1874520"/>
            <a:ext cx="7315200" cy="548640"/>
          </a:xfrm>
          <a:prstGeom prst="rect">
            <a:avLst/>
          </a:prstGeom>
          <a:noFill/>
          <a:ln/>
        </p:spPr>
        <p:txBody>
          <a:bodyPr wrap="square" lIns="0" tIns="0" rIns="0" bIns="0" rtlCol="0" anchor="t"/>
          <a:lstStyle/>
          <a:p>
            <a:pPr indent="0" marL="0">
              <a:buNone/>
            </a:pPr>
            <a:r>
              <a:rPr lang="en-US" sz="1100" dirty="0">
                <a:solidFill>
                  <a:srgbClr val="5A6B7A"/>
                </a:solidFill>
                <a:latin typeface="Calibri" pitchFamily="34" charset="0"/>
                <a:ea typeface="Calibri" pitchFamily="34" charset="-122"/>
                <a:cs typeface="Calibri" pitchFamily="34" charset="-120"/>
              </a:rPr>
              <a:t>Each returns ranked issues plus a verdict on seven safety domains. An unanswered domain is unknown, never pass, and a concern reaches the revision even without an issue slot.</a:t>
            </a:r>
            <a:endParaRPr lang="en-US" sz="1100" dirty="0"/>
          </a:p>
        </p:txBody>
      </p:sp>
      <p:sp>
        <p:nvSpPr>
          <p:cNvPr id="9" name="Shape 6"/>
          <p:cNvSpPr/>
          <p:nvPr/>
        </p:nvSpPr>
        <p:spPr>
          <a:xfrm>
            <a:off x="3749040" y="2478024"/>
            <a:ext cx="384048" cy="384048"/>
          </a:xfrm>
          <a:prstGeom prst="ellipse">
            <a:avLst/>
          </a:prstGeom>
          <a:solidFill>
            <a:srgbClr val="0F4C43"/>
          </a:solidFill>
          <a:ln w="12700">
            <a:solidFill>
              <a:srgbClr val="0F4C43"/>
            </a:solidFill>
            <a:prstDash val="solid"/>
          </a:ln>
        </p:spPr>
      </p:sp>
      <p:sp>
        <p:nvSpPr>
          <p:cNvPr id="10" name="Text 7"/>
          <p:cNvSpPr txBox="1"/>
          <p:nvPr/>
        </p:nvSpPr>
        <p:spPr>
          <a:xfrm>
            <a:off x="3749040" y="24780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8"/>
          <p:cNvSpPr txBox="1"/>
          <p:nvPr/>
        </p:nvSpPr>
        <p:spPr>
          <a:xfrm>
            <a:off x="4279392" y="2459736"/>
            <a:ext cx="7315200" cy="292608"/>
          </a:xfrm>
          <a:prstGeom prst="rect">
            <a:avLst/>
          </a:prstGeom>
          <a:noFill/>
          <a:ln/>
        </p:spPr>
        <p:txBody>
          <a:bodyPr wrap="square" lIns="0" tIns="0" rIns="0" bIns="0" rtlCol="0" anchor="ctr"/>
          <a:lstStyle/>
          <a:p>
            <a:pPr indent="0" marL="0">
              <a:buNone/>
            </a:pPr>
            <a:r>
              <a:rPr lang="en-US" sz="1450" b="1" dirty="0">
                <a:solidFill>
                  <a:srgbClr val="16202B"/>
                </a:solidFill>
                <a:latin typeface="Calibri" pitchFamily="34" charset="0"/>
                <a:ea typeface="Calibri" pitchFamily="34" charset="-122"/>
                <a:cs typeface="Calibri" pitchFamily="34" charset="-120"/>
              </a:rPr>
              <a:t>One guarded corrective patch</a:t>
            </a:r>
            <a:endParaRPr lang="en-US" sz="1450" dirty="0"/>
          </a:p>
        </p:txBody>
      </p:sp>
      <p:sp>
        <p:nvSpPr>
          <p:cNvPr id="12" name="Text 9"/>
          <p:cNvSpPr txBox="1"/>
          <p:nvPr/>
        </p:nvSpPr>
        <p:spPr>
          <a:xfrm>
            <a:off x="4279392" y="2761488"/>
            <a:ext cx="7315200" cy="548640"/>
          </a:xfrm>
          <a:prstGeom prst="rect">
            <a:avLst/>
          </a:prstGeom>
          <a:noFill/>
          <a:ln/>
        </p:spPr>
        <p:txBody>
          <a:bodyPr wrap="square" lIns="0" tIns="0" rIns="0" bIns="0" rtlCol="0" anchor="t"/>
          <a:lstStyle/>
          <a:p>
            <a:pPr indent="0" marL="0">
              <a:buNone/>
            </a:pPr>
            <a:r>
              <a:rPr lang="en-US" sz="1100" dirty="0">
                <a:solidFill>
                  <a:srgbClr val="5A6B7A"/>
                </a:solidFill>
                <a:latin typeface="Calibri" pitchFamily="34" charset="0"/>
                <a:ea typeface="Calibri" pitchFamily="34" charset="-122"/>
                <a:cs typeface="Calibri" pitchFamily="34" charset="-120"/>
              </a:rPr>
              <a:t>Only the step's own sections. A patch that changes a type, truncates, empties a section or invents a reviewer response is dropped; a thinner revision is rejected.</a:t>
            </a:r>
            <a:endParaRPr lang="en-US" sz="1100" dirty="0"/>
          </a:p>
        </p:txBody>
      </p:sp>
      <p:sp>
        <p:nvSpPr>
          <p:cNvPr id="13" name="Shape 10"/>
          <p:cNvSpPr/>
          <p:nvPr/>
        </p:nvSpPr>
        <p:spPr>
          <a:xfrm>
            <a:off x="3749040" y="3364992"/>
            <a:ext cx="384048" cy="384048"/>
          </a:xfrm>
          <a:prstGeom prst="ellipse">
            <a:avLst/>
          </a:prstGeom>
          <a:solidFill>
            <a:srgbClr val="0F4C43"/>
          </a:solidFill>
          <a:ln w="12700">
            <a:solidFill>
              <a:srgbClr val="0F4C43"/>
            </a:solidFill>
            <a:prstDash val="solid"/>
          </a:ln>
        </p:spPr>
      </p:sp>
      <p:sp>
        <p:nvSpPr>
          <p:cNvPr id="14" name="Text 11"/>
          <p:cNvSpPr txBox="1"/>
          <p:nvPr/>
        </p:nvSpPr>
        <p:spPr>
          <a:xfrm>
            <a:off x="3749040" y="33649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2"/>
          <p:cNvSpPr txBox="1"/>
          <p:nvPr/>
        </p:nvSpPr>
        <p:spPr>
          <a:xfrm>
            <a:off x="4279392" y="3346704"/>
            <a:ext cx="7315200" cy="292608"/>
          </a:xfrm>
          <a:prstGeom prst="rect">
            <a:avLst/>
          </a:prstGeom>
          <a:noFill/>
          <a:ln/>
        </p:spPr>
        <p:txBody>
          <a:bodyPr wrap="square" lIns="0" tIns="0" rIns="0" bIns="0" rtlCol="0" anchor="ctr"/>
          <a:lstStyle/>
          <a:p>
            <a:pPr indent="0" marL="0">
              <a:buNone/>
            </a:pPr>
            <a:r>
              <a:rPr lang="en-US" sz="1450" b="1" dirty="0">
                <a:solidFill>
                  <a:srgbClr val="16202B"/>
                </a:solidFill>
                <a:latin typeface="Calibri" pitchFamily="34" charset="0"/>
                <a:ea typeface="Calibri" pitchFamily="34" charset="-122"/>
                <a:cs typeface="Calibri" pitchFamily="34" charset="-120"/>
              </a:rPr>
              <a:t>An adjudicator that judges, never edits</a:t>
            </a:r>
            <a:endParaRPr lang="en-US" sz="1450" dirty="0"/>
          </a:p>
        </p:txBody>
      </p:sp>
      <p:sp>
        <p:nvSpPr>
          <p:cNvPr id="16" name="Text 13"/>
          <p:cNvSpPr txBox="1"/>
          <p:nvPr/>
        </p:nvSpPr>
        <p:spPr>
          <a:xfrm>
            <a:off x="4279392" y="3648456"/>
            <a:ext cx="7315200" cy="548640"/>
          </a:xfrm>
          <a:prstGeom prst="rect">
            <a:avLst/>
          </a:prstGeom>
          <a:noFill/>
          <a:ln/>
        </p:spPr>
        <p:txBody>
          <a:bodyPr wrap="square" lIns="0" tIns="0" rIns="0" bIns="0" rtlCol="0" anchor="t"/>
          <a:lstStyle/>
          <a:p>
            <a:pPr indent="0" marL="0">
              <a:buNone/>
            </a:pPr>
            <a:r>
              <a:rPr lang="en-US" sz="1100" dirty="0">
                <a:solidFill>
                  <a:srgbClr val="5A6B7A"/>
                </a:solidFill>
                <a:latin typeface="Calibri" pitchFamily="34" charset="0"/>
                <a:ea typeface="Calibri" pitchFamily="34" charset="-122"/>
                <a:cs typeface="Calibri" pitchFamily="34" charset="-120"/>
              </a:rPr>
              <a:t>It re-reads the final plan against the reviewer issues within 90 seconds. Its verdict is shown to the reader and never rewrites the plan.</a:t>
            </a:r>
            <a:endParaRPr lang="en-US" sz="1100" dirty="0"/>
          </a:p>
        </p:txBody>
      </p:sp>
      <p:sp>
        <p:nvSpPr>
          <p:cNvPr id="17" name="Shape 14"/>
          <p:cNvSpPr/>
          <p:nvPr/>
        </p:nvSpPr>
        <p:spPr>
          <a:xfrm>
            <a:off x="3749040" y="4251960"/>
            <a:ext cx="384048" cy="384048"/>
          </a:xfrm>
          <a:prstGeom prst="ellipse">
            <a:avLst/>
          </a:prstGeom>
          <a:solidFill>
            <a:srgbClr val="0F4C43"/>
          </a:solidFill>
          <a:ln w="12700">
            <a:solidFill>
              <a:srgbClr val="0F4C43"/>
            </a:solidFill>
            <a:prstDash val="solid"/>
          </a:ln>
        </p:spPr>
      </p:sp>
      <p:sp>
        <p:nvSpPr>
          <p:cNvPr id="18" name="Text 15"/>
          <p:cNvSpPr txBox="1"/>
          <p:nvPr/>
        </p:nvSpPr>
        <p:spPr>
          <a:xfrm>
            <a:off x="3749040" y="42519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9" name="Text 16"/>
          <p:cNvSpPr txBox="1"/>
          <p:nvPr/>
        </p:nvSpPr>
        <p:spPr>
          <a:xfrm>
            <a:off x="4279392" y="4233672"/>
            <a:ext cx="7315200" cy="292608"/>
          </a:xfrm>
          <a:prstGeom prst="rect">
            <a:avLst/>
          </a:prstGeom>
          <a:noFill/>
          <a:ln/>
        </p:spPr>
        <p:txBody>
          <a:bodyPr wrap="square" lIns="0" tIns="0" rIns="0" bIns="0" rtlCol="0" anchor="ctr"/>
          <a:lstStyle/>
          <a:p>
            <a:pPr indent="0" marL="0">
              <a:buNone/>
            </a:pPr>
            <a:r>
              <a:rPr lang="en-US" sz="1450" b="1" dirty="0">
                <a:solidFill>
                  <a:srgbClr val="16202B"/>
                </a:solidFill>
                <a:latin typeface="Calibri" pitchFamily="34" charset="0"/>
                <a:ea typeface="Calibri" pitchFamily="34" charset="-122"/>
                <a:cs typeface="Calibri" pitchFamily="34" charset="-120"/>
              </a:rPr>
              <a:t>The deterministic layer has the last word</a:t>
            </a:r>
            <a:endParaRPr lang="en-US" sz="1450" dirty="0"/>
          </a:p>
        </p:txBody>
      </p:sp>
      <p:sp>
        <p:nvSpPr>
          <p:cNvPr id="20" name="Text 17"/>
          <p:cNvSpPr txBox="1"/>
          <p:nvPr/>
        </p:nvSpPr>
        <p:spPr>
          <a:xfrm>
            <a:off x="4279392" y="4535424"/>
            <a:ext cx="7315200" cy="548640"/>
          </a:xfrm>
          <a:prstGeom prst="rect">
            <a:avLst/>
          </a:prstGeom>
          <a:noFill/>
          <a:ln/>
        </p:spPr>
        <p:txBody>
          <a:bodyPr wrap="square" lIns="0" tIns="0" rIns="0" bIns="0" rtlCol="0" anchor="t"/>
          <a:lstStyle/>
          <a:p>
            <a:pPr indent="0" marL="0">
              <a:buNone/>
            </a:pPr>
            <a:r>
              <a:rPr lang="en-US" sz="1100" dirty="0">
                <a:solidFill>
                  <a:srgbClr val="5A6B7A"/>
                </a:solidFill>
                <a:latin typeface="Calibri" pitchFamily="34" charset="0"/>
                <a:ea typeface="Calibri" pitchFamily="34" charset="-122"/>
                <a:cs typeface="Calibri" pitchFamily="34" charset="-120"/>
              </a:rPr>
              <a:t>Thirty-seven checks read the typed estimand, sizing method, analysis, diagram and exhibits and compare them. Seven codes withhold the sample size everywhere.</a:t>
            </a:r>
            <a:endParaRPr lang="en-US" sz="1100" dirty="0"/>
          </a:p>
        </p:txBody>
      </p:sp>
      <p:sp>
        <p:nvSpPr>
          <p:cNvPr id="21" name="Shape 18"/>
          <p:cNvSpPr/>
          <p:nvPr/>
        </p:nvSpPr>
        <p:spPr>
          <a:xfrm>
            <a:off x="3749040" y="5138928"/>
            <a:ext cx="384048" cy="384048"/>
          </a:xfrm>
          <a:prstGeom prst="ellipse">
            <a:avLst/>
          </a:prstGeom>
          <a:solidFill>
            <a:srgbClr val="0F4C43"/>
          </a:solidFill>
          <a:ln w="12700">
            <a:solidFill>
              <a:srgbClr val="0F4C43"/>
            </a:solidFill>
            <a:prstDash val="solid"/>
          </a:ln>
        </p:spPr>
      </p:sp>
      <p:sp>
        <p:nvSpPr>
          <p:cNvPr id="22" name="Text 19"/>
          <p:cNvSpPr txBox="1"/>
          <p:nvPr/>
        </p:nvSpPr>
        <p:spPr>
          <a:xfrm>
            <a:off x="3749040" y="51389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3" name="Text 20"/>
          <p:cNvSpPr txBox="1"/>
          <p:nvPr/>
        </p:nvSpPr>
        <p:spPr>
          <a:xfrm>
            <a:off x="4279392" y="5120640"/>
            <a:ext cx="7315200" cy="292608"/>
          </a:xfrm>
          <a:prstGeom prst="rect">
            <a:avLst/>
          </a:prstGeom>
          <a:noFill/>
          <a:ln/>
        </p:spPr>
        <p:txBody>
          <a:bodyPr wrap="square" lIns="0" tIns="0" rIns="0" bIns="0" rtlCol="0" anchor="ctr"/>
          <a:lstStyle/>
          <a:p>
            <a:pPr indent="0" marL="0">
              <a:buNone/>
            </a:pPr>
            <a:r>
              <a:rPr lang="en-US" sz="1450" b="1" dirty="0">
                <a:solidFill>
                  <a:srgbClr val="16202B"/>
                </a:solidFill>
                <a:latin typeface="Calibri" pitchFamily="34" charset="0"/>
                <a:ea typeface="Calibri" pitchFamily="34" charset="-122"/>
                <a:cs typeface="Calibri" pitchFamily="34" charset="-120"/>
              </a:rPr>
              <a:t>The investigator closes the loop</a:t>
            </a:r>
            <a:endParaRPr lang="en-US" sz="1450" dirty="0"/>
          </a:p>
        </p:txBody>
      </p:sp>
      <p:sp>
        <p:nvSpPr>
          <p:cNvPr id="24" name="Text 21"/>
          <p:cNvSpPr txBox="1"/>
          <p:nvPr/>
        </p:nvSpPr>
        <p:spPr>
          <a:xfrm>
            <a:off x="4279392" y="5422392"/>
            <a:ext cx="7315200" cy="548640"/>
          </a:xfrm>
          <a:prstGeom prst="rect">
            <a:avLst/>
          </a:prstGeom>
          <a:noFill/>
          <a:ln/>
        </p:spPr>
        <p:txBody>
          <a:bodyPr wrap="square" lIns="0" tIns="0" rIns="0" bIns="0" rtlCol="0" anchor="t"/>
          <a:lstStyle/>
          <a:p>
            <a:pPr indent="0" marL="0">
              <a:buNone/>
            </a:pPr>
            <a:r>
              <a:rPr lang="en-US" sz="1100" dirty="0">
                <a:solidFill>
                  <a:srgbClr val="5A6B7A"/>
                </a:solidFill>
                <a:latin typeface="Calibri" pitchFamily="34" charset="0"/>
                <a:ea typeface="Calibri" pitchFamily="34" charset="-122"/>
                <a:cs typeface="Calibri" pitchFamily="34" charset="-120"/>
              </a:rPr>
              <a:t>Open findings become one form: values only they know, contradictions to reconcile, mechanical fixes. One button, one revision, one credit.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0881360" cy="658368"/>
          </a:xfrm>
          <a:prstGeom prst="rect">
            <a:avLst/>
          </a:prstGeom>
          <a:noFill/>
          <a:ln/>
        </p:spPr>
        <p:txBody>
          <a:bodyPr wrap="square" lIns="0" tIns="0" rIns="0" bIns="0" rtlCol="0" anchor="ctr"/>
          <a:lstStyle/>
          <a:p>
            <a:pPr indent="0" marL="0">
              <a:buNone/>
            </a:pPr>
            <a:r>
              <a:rPr lang="en-US" sz="3400" b="1" dirty="0">
                <a:solidFill>
                  <a:srgbClr val="16202B"/>
                </a:solidFill>
                <a:latin typeface="Cambria" pitchFamily="34" charset="0"/>
                <a:ea typeface="Cambria" pitchFamily="34" charset="-122"/>
                <a:cs typeface="Cambria" pitchFamily="34" charset="-120"/>
              </a:rPr>
              <a:t>What failing looks like</a:t>
            </a:r>
            <a:endParaRPr lang="en-US" sz="3400" dirty="0"/>
          </a:p>
        </p:txBody>
      </p:sp>
      <p:sp>
        <p:nvSpPr>
          <p:cNvPr id="3" name="Text 1"/>
          <p:cNvSpPr txBox="1"/>
          <p:nvPr/>
        </p:nvSpPr>
        <p:spPr>
          <a:xfrm>
            <a:off x="566928" y="1060704"/>
            <a:ext cx="10881360"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The plan is never blanked or regenerated by the checks. Findings are ranked and always shown.</a:t>
            </a:r>
            <a:endParaRPr lang="en-US" sz="1500" dirty="0"/>
          </a:p>
        </p:txBody>
      </p:sp>
      <p:sp>
        <p:nvSpPr>
          <p:cNvPr id="4" name="Text 2"/>
          <p:cNvSpPr txBox="1"/>
          <p:nvPr/>
        </p:nvSpPr>
        <p:spPr>
          <a:xfrm>
            <a:off x="685800" y="1645920"/>
            <a:ext cx="2926080" cy="256032"/>
          </a:xfrm>
          <a:prstGeom prst="rect">
            <a:avLst/>
          </a:prstGeom>
          <a:noFill/>
          <a:ln/>
        </p:spPr>
        <p:txBody>
          <a:bodyPr wrap="square" lIns="0" tIns="0" rIns="0" bIns="0" rtlCol="0" anchor="ctr"/>
          <a:lstStyle/>
          <a:p>
            <a:pPr indent="0" marL="0">
              <a:buNone/>
            </a:pPr>
            <a:r>
              <a:rPr lang="en-US" sz="1050" b="1" dirty="0">
                <a:solidFill>
                  <a:srgbClr val="9B3324"/>
                </a:solidFill>
                <a:latin typeface="Calibri" pitchFamily="34" charset="0"/>
                <a:ea typeface="Calibri" pitchFamily="34" charset="-122"/>
                <a:cs typeface="Calibri" pitchFamily="34" charset="-120"/>
              </a:rPr>
              <a:t>OUTCOME</a:t>
            </a:r>
            <a:endParaRPr lang="en-US" sz="1050" dirty="0"/>
          </a:p>
        </p:txBody>
      </p:sp>
      <p:sp>
        <p:nvSpPr>
          <p:cNvPr id="5" name="Text 3"/>
          <p:cNvSpPr txBox="1"/>
          <p:nvPr/>
        </p:nvSpPr>
        <p:spPr>
          <a:xfrm>
            <a:off x="3749040" y="1645920"/>
            <a:ext cx="3291840" cy="256032"/>
          </a:xfrm>
          <a:prstGeom prst="rect">
            <a:avLst/>
          </a:prstGeom>
          <a:noFill/>
          <a:ln/>
        </p:spPr>
        <p:txBody>
          <a:bodyPr wrap="square" lIns="0" tIns="0" rIns="0" bIns="0" rtlCol="0" anchor="ctr"/>
          <a:lstStyle/>
          <a:p>
            <a:pPr indent="0" marL="0">
              <a:buNone/>
            </a:pPr>
            <a:r>
              <a:rPr lang="en-US" sz="1050" b="1" dirty="0">
                <a:solidFill>
                  <a:srgbClr val="0F4C43"/>
                </a:solidFill>
                <a:latin typeface="Calibri" pitchFamily="34" charset="0"/>
                <a:ea typeface="Calibri" pitchFamily="34" charset="-122"/>
                <a:cs typeface="Calibri" pitchFamily="34" charset="-120"/>
              </a:rPr>
              <a:t>TRIGGER</a:t>
            </a:r>
            <a:endParaRPr lang="en-US" sz="1050" dirty="0"/>
          </a:p>
        </p:txBody>
      </p:sp>
      <p:sp>
        <p:nvSpPr>
          <p:cNvPr id="6" name="Text 4"/>
          <p:cNvSpPr txBox="1"/>
          <p:nvPr/>
        </p:nvSpPr>
        <p:spPr>
          <a:xfrm>
            <a:off x="7223760" y="1645920"/>
            <a:ext cx="4206240" cy="256032"/>
          </a:xfrm>
          <a:prstGeom prst="rect">
            <a:avLst/>
          </a:prstGeom>
          <a:noFill/>
          <a:ln/>
        </p:spPr>
        <p:txBody>
          <a:bodyPr wrap="square" lIns="0" tIns="0" rIns="0" bIns="0" rtlCol="0" anchor="ctr"/>
          <a:lstStyle/>
          <a:p>
            <a:pPr indent="0" marL="0">
              <a:buNone/>
            </a:pPr>
            <a:r>
              <a:rPr lang="en-US" sz="1050" b="1" dirty="0">
                <a:solidFill>
                  <a:srgbClr val="0F4C43"/>
                </a:solidFill>
                <a:latin typeface="Calibri" pitchFamily="34" charset="0"/>
                <a:ea typeface="Calibri" pitchFamily="34" charset="-122"/>
                <a:cs typeface="Calibri" pitchFamily="34" charset="-120"/>
              </a:rPr>
              <a:t>WHAT THE INVESTIGATOR SEES</a:t>
            </a:r>
            <a:endParaRPr lang="en-US" sz="1050" dirty="0"/>
          </a:p>
        </p:txBody>
      </p:sp>
      <p:sp>
        <p:nvSpPr>
          <p:cNvPr id="7" name="Shape 5"/>
          <p:cNvSpPr/>
          <p:nvPr/>
        </p:nvSpPr>
        <p:spPr>
          <a:xfrm>
            <a:off x="566928" y="1892808"/>
            <a:ext cx="10927080" cy="896112"/>
          </a:xfrm>
          <a:prstGeom prst="rect">
            <a:avLst/>
          </a:prstGeom>
          <a:solidFill>
            <a:srgbClr val="EEF3F2"/>
          </a:solidFill>
          <a:ln w="12700">
            <a:solidFill>
              <a:srgbClr val="EEF3F2"/>
            </a:solidFill>
            <a:prstDash val="solid"/>
          </a:ln>
        </p:spPr>
      </p:sp>
      <p:sp>
        <p:nvSpPr>
          <p:cNvPr id="8" name="Text 6"/>
          <p:cNvSpPr txBox="1"/>
          <p:nvPr/>
        </p:nvSpPr>
        <p:spPr>
          <a:xfrm>
            <a:off x="685800" y="1965960"/>
            <a:ext cx="2926080" cy="7772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Warning</a:t>
            </a:r>
            <a:endParaRPr lang="en-US" sz="1400" dirty="0"/>
          </a:p>
        </p:txBody>
      </p:sp>
      <p:sp>
        <p:nvSpPr>
          <p:cNvPr id="9" name="Text 7"/>
          <p:cNvSpPr txBox="1"/>
          <p:nvPr/>
        </p:nvSpPr>
        <p:spPr>
          <a:xfrm>
            <a:off x="3749040" y="1965960"/>
            <a:ext cx="3291840" cy="777240"/>
          </a:xfrm>
          <a:prstGeom prst="rect">
            <a:avLst/>
          </a:prstGeom>
          <a:noFill/>
          <a:ln/>
        </p:spPr>
        <p:txBody>
          <a:bodyPr wrap="square" lIns="0" tIns="0" rIns="0" bIns="0" rtlCol="0" anchor="t"/>
          <a:lstStyle/>
          <a:p>
            <a:pPr indent="0" marL="0">
              <a:buNone/>
            </a:pPr>
            <a:r>
              <a:rPr lang="en-US" sz="1150" dirty="0">
                <a:solidFill>
                  <a:srgbClr val="16202B"/>
                </a:solidFill>
                <a:latin typeface="Calibri" pitchFamily="34" charset="0"/>
                <a:ea typeface="Calibri" pitchFamily="34" charset="-122"/>
                <a:cs typeface="Calibri" pitchFamily="34" charset="-120"/>
              </a:rPr>
              <a:t>Any warn-level finding</a:t>
            </a:r>
            <a:endParaRPr lang="en-US" sz="1150" dirty="0"/>
          </a:p>
        </p:txBody>
      </p:sp>
      <p:sp>
        <p:nvSpPr>
          <p:cNvPr id="10" name="Text 8"/>
          <p:cNvSpPr txBox="1"/>
          <p:nvPr/>
        </p:nvSpPr>
        <p:spPr>
          <a:xfrm>
            <a:off x="7223760" y="1965960"/>
            <a:ext cx="4206240" cy="777240"/>
          </a:xfrm>
          <a:prstGeom prst="rect">
            <a:avLst/>
          </a:prstGeom>
          <a:noFill/>
          <a:ln/>
        </p:spPr>
        <p:txBody>
          <a:bodyPr wrap="square" lIns="0" tIns="0" rIns="0" bIns="0" rtlCol="0" anchor="t"/>
          <a:lstStyle/>
          <a:p>
            <a:pPr indent="0" marL="0">
              <a:buNone/>
            </a:pPr>
            <a:r>
              <a:rPr lang="en-US" sz="1150" dirty="0">
                <a:solidFill>
                  <a:srgbClr val="16202B"/>
                </a:solidFill>
                <a:latin typeface="Calibri" pitchFamily="34" charset="0"/>
                <a:ea typeface="Calibri" pitchFamily="34" charset="-122"/>
                <a:cs typeface="Calibri" pitchFamily="34" charset="-120"/>
              </a:rPr>
              <a:t>A banner above the plan, and the finding named in the audit's consistency row in every export</a:t>
            </a:r>
            <a:endParaRPr lang="en-US" sz="1150" dirty="0"/>
          </a:p>
        </p:txBody>
      </p:sp>
      <p:sp>
        <p:nvSpPr>
          <p:cNvPr id="11" name="Text 9"/>
          <p:cNvSpPr txBox="1"/>
          <p:nvPr/>
        </p:nvSpPr>
        <p:spPr>
          <a:xfrm>
            <a:off x="685800" y="2880360"/>
            <a:ext cx="2926080" cy="7772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Block</a:t>
            </a:r>
            <a:endParaRPr lang="en-US" sz="1400" dirty="0"/>
          </a:p>
        </p:txBody>
      </p:sp>
      <p:sp>
        <p:nvSpPr>
          <p:cNvPr id="12" name="Text 10"/>
          <p:cNvSpPr txBox="1"/>
          <p:nvPr/>
        </p:nvSpPr>
        <p:spPr>
          <a:xfrm>
            <a:off x="3749040" y="2880360"/>
            <a:ext cx="3291840" cy="777240"/>
          </a:xfrm>
          <a:prstGeom prst="rect">
            <a:avLst/>
          </a:prstGeom>
          <a:noFill/>
          <a:ln/>
        </p:spPr>
        <p:txBody>
          <a:bodyPr wrap="square" lIns="0" tIns="0" rIns="0" bIns="0" rtlCol="0" anchor="t"/>
          <a:lstStyle/>
          <a:p>
            <a:pPr indent="0" marL="0">
              <a:buNone/>
            </a:pPr>
            <a:r>
              <a:rPr lang="en-US" sz="1150" dirty="0">
                <a:solidFill>
                  <a:srgbClr val="16202B"/>
                </a:solidFill>
                <a:latin typeface="Calibri" pitchFamily="34" charset="0"/>
                <a:ea typeface="Calibri" pitchFamily="34" charset="-122"/>
                <a:cs typeface="Calibri" pitchFamily="34" charset="-120"/>
              </a:rPr>
              <a:t>Any block-level finding</a:t>
            </a:r>
            <a:endParaRPr lang="en-US" sz="1150" dirty="0"/>
          </a:p>
        </p:txBody>
      </p:sp>
      <p:sp>
        <p:nvSpPr>
          <p:cNvPr id="13" name="Text 11"/>
          <p:cNvSpPr txBox="1"/>
          <p:nvPr/>
        </p:nvSpPr>
        <p:spPr>
          <a:xfrm>
            <a:off x="7223760" y="2880360"/>
            <a:ext cx="4206240" cy="777240"/>
          </a:xfrm>
          <a:prstGeom prst="rect">
            <a:avLst/>
          </a:prstGeom>
          <a:noFill/>
          <a:ln/>
        </p:spPr>
        <p:txBody>
          <a:bodyPr wrap="square" lIns="0" tIns="0" rIns="0" bIns="0" rtlCol="0" anchor="t"/>
          <a:lstStyle/>
          <a:p>
            <a:pPr indent="0" marL="0">
              <a:buNone/>
            </a:pPr>
            <a:r>
              <a:rPr lang="en-US" sz="1150" dirty="0">
                <a:solidFill>
                  <a:srgbClr val="16202B"/>
                </a:solidFill>
                <a:latin typeface="Calibri" pitchFamily="34" charset="0"/>
                <a:ea typeface="Calibri" pitchFamily="34" charset="-122"/>
                <a:cs typeface="Calibri" pitchFamily="34" charset="-120"/>
              </a:rPr>
              <a:t>The same banner, red, headed "This plan contradicts itself"</a:t>
            </a:r>
            <a:endParaRPr lang="en-US" sz="1150" dirty="0"/>
          </a:p>
        </p:txBody>
      </p:sp>
      <p:sp>
        <p:nvSpPr>
          <p:cNvPr id="14" name="Shape 12"/>
          <p:cNvSpPr/>
          <p:nvPr/>
        </p:nvSpPr>
        <p:spPr>
          <a:xfrm>
            <a:off x="566928" y="3721608"/>
            <a:ext cx="10927080" cy="896112"/>
          </a:xfrm>
          <a:prstGeom prst="rect">
            <a:avLst/>
          </a:prstGeom>
          <a:solidFill>
            <a:srgbClr val="EEF3F2"/>
          </a:solidFill>
          <a:ln w="12700">
            <a:solidFill>
              <a:srgbClr val="EEF3F2"/>
            </a:solidFill>
            <a:prstDash val="solid"/>
          </a:ln>
        </p:spPr>
      </p:sp>
      <p:sp>
        <p:nvSpPr>
          <p:cNvPr id="15" name="Text 13"/>
          <p:cNvSpPr txBox="1"/>
          <p:nvPr/>
        </p:nvSpPr>
        <p:spPr>
          <a:xfrm>
            <a:off x="685800" y="3794760"/>
            <a:ext cx="2926080" cy="7772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Headline withheld</a:t>
            </a:r>
            <a:endParaRPr lang="en-US" sz="1400" dirty="0"/>
          </a:p>
        </p:txBody>
      </p:sp>
      <p:sp>
        <p:nvSpPr>
          <p:cNvPr id="16" name="Text 14"/>
          <p:cNvSpPr txBox="1"/>
          <p:nvPr/>
        </p:nvSpPr>
        <p:spPr>
          <a:xfrm>
            <a:off x="3749040" y="3794760"/>
            <a:ext cx="3291840" cy="777240"/>
          </a:xfrm>
          <a:prstGeom prst="rect">
            <a:avLst/>
          </a:prstGeom>
          <a:noFill/>
          <a:ln/>
        </p:spPr>
        <p:txBody>
          <a:bodyPr wrap="square" lIns="0" tIns="0" rIns="0" bIns="0" rtlCol="0" anchor="t"/>
          <a:lstStyle/>
          <a:p>
            <a:pPr indent="0" marL="0">
              <a:buNone/>
            </a:pPr>
            <a:r>
              <a:rPr lang="en-US" sz="1150" dirty="0">
                <a:solidFill>
                  <a:srgbClr val="16202B"/>
                </a:solidFill>
                <a:latin typeface="Calibri" pitchFamily="34" charset="0"/>
                <a:ea typeface="Calibri" pitchFamily="34" charset="-122"/>
                <a:cs typeface="Calibri" pitchFamily="34" charset="-120"/>
              </a:rPr>
              <a:t>One of seven headline-suppressing codes, or an unresolved reviewer point typed as affecting the sample size</a:t>
            </a:r>
            <a:endParaRPr lang="en-US" sz="1150" dirty="0"/>
          </a:p>
        </p:txBody>
      </p:sp>
      <p:sp>
        <p:nvSpPr>
          <p:cNvPr id="17" name="Text 15"/>
          <p:cNvSpPr txBox="1"/>
          <p:nvPr/>
        </p:nvSpPr>
        <p:spPr>
          <a:xfrm>
            <a:off x="7223760" y="3794760"/>
            <a:ext cx="4206240" cy="777240"/>
          </a:xfrm>
          <a:prstGeom prst="rect">
            <a:avLst/>
          </a:prstGeom>
          <a:noFill/>
          <a:ln/>
        </p:spPr>
        <p:txBody>
          <a:bodyPr wrap="square" lIns="0" tIns="0" rIns="0" bIns="0" rtlCol="0" anchor="t"/>
          <a:lstStyle/>
          <a:p>
            <a:pPr indent="0" marL="0">
              <a:buNone/>
            </a:pPr>
            <a:r>
              <a:rPr lang="en-US" sz="1150" dirty="0">
                <a:solidFill>
                  <a:srgbClr val="16202B"/>
                </a:solidFill>
                <a:latin typeface="Calibri" pitchFamily="34" charset="0"/>
                <a:ea typeface="Calibri" pitchFamily="34" charset="-122"/>
                <a:cs typeface="Calibri" pitchFamily="34" charset="-120"/>
              </a:rPr>
              <a:t>No sample-size number anywhere: screen, memo, HTML, Word. The panel says whether the reason is a contradiction, an open review point, or that no formula fits</a:t>
            </a:r>
            <a:endParaRPr lang="en-US" sz="1150" dirty="0"/>
          </a:p>
        </p:txBody>
      </p:sp>
      <p:sp>
        <p:nvSpPr>
          <p:cNvPr id="18" name="Text 16"/>
          <p:cNvSpPr txBox="1"/>
          <p:nvPr/>
        </p:nvSpPr>
        <p:spPr>
          <a:xfrm>
            <a:off x="685800" y="4709160"/>
            <a:ext cx="2926080" cy="7772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Needs statistical review</a:t>
            </a:r>
            <a:endParaRPr lang="en-US" sz="1400" dirty="0"/>
          </a:p>
        </p:txBody>
      </p:sp>
      <p:sp>
        <p:nvSpPr>
          <p:cNvPr id="19" name="Text 17"/>
          <p:cNvSpPr txBox="1"/>
          <p:nvPr/>
        </p:nvSpPr>
        <p:spPr>
          <a:xfrm>
            <a:off x="3749040" y="4709160"/>
            <a:ext cx="3291840" cy="777240"/>
          </a:xfrm>
          <a:prstGeom prst="rect">
            <a:avLst/>
          </a:prstGeom>
          <a:noFill/>
          <a:ln/>
        </p:spPr>
        <p:txBody>
          <a:bodyPr wrap="square" lIns="0" tIns="0" rIns="0" bIns="0" rtlCol="0" anchor="t"/>
          <a:lstStyle/>
          <a:p>
            <a:pPr indent="0" marL="0">
              <a:buNone/>
            </a:pPr>
            <a:r>
              <a:rPr lang="en-US" sz="1150" dirty="0">
                <a:solidFill>
                  <a:srgbClr val="16202B"/>
                </a:solidFill>
                <a:latin typeface="Calibri" pitchFamily="34" charset="0"/>
                <a:ea typeface="Calibri" pitchFamily="34" charset="-122"/>
                <a:cs typeface="Calibri" pitchFamily="34" charset="-120"/>
              </a:rPr>
              <a:t>An unresolved reviewer point affecting the primary analysis</a:t>
            </a:r>
            <a:endParaRPr lang="en-US" sz="1150" dirty="0"/>
          </a:p>
        </p:txBody>
      </p:sp>
      <p:sp>
        <p:nvSpPr>
          <p:cNvPr id="20" name="Text 18"/>
          <p:cNvSpPr txBox="1"/>
          <p:nvPr/>
        </p:nvSpPr>
        <p:spPr>
          <a:xfrm>
            <a:off x="7223760" y="4709160"/>
            <a:ext cx="4206240" cy="777240"/>
          </a:xfrm>
          <a:prstGeom prst="rect">
            <a:avLst/>
          </a:prstGeom>
          <a:noFill/>
          <a:ln/>
        </p:spPr>
        <p:txBody>
          <a:bodyPr wrap="square" lIns="0" tIns="0" rIns="0" bIns="0" rtlCol="0" anchor="t"/>
          <a:lstStyle/>
          <a:p>
            <a:pPr indent="0" marL="0">
              <a:buNone/>
            </a:pPr>
            <a:r>
              <a:rPr lang="en-US" sz="1150" dirty="0">
                <a:solidFill>
                  <a:srgbClr val="16202B"/>
                </a:solidFill>
                <a:latin typeface="Calibri" pitchFamily="34" charset="0"/>
                <a:ea typeface="Calibri" pitchFamily="34" charset="-122"/>
                <a:cs typeface="Calibri" pitchFamily="34" charset="-120"/>
              </a:rPr>
              <a:t>A status carried to the screen, memo, audit and library card. The analysis stays visible</a:t>
            </a:r>
            <a:endParaRPr lang="en-US" sz="1150" dirty="0"/>
          </a:p>
        </p:txBody>
      </p:sp>
      <p:sp>
        <p:nvSpPr>
          <p:cNvPr id="21" name="Text 19"/>
          <p:cNvSpPr txBox="1"/>
          <p:nvPr/>
        </p:nvSpPr>
        <p:spPr>
          <a:xfrm>
            <a:off x="566928" y="5806440"/>
            <a:ext cx="10881360" cy="548640"/>
          </a:xfrm>
          <a:prstGeom prst="rect">
            <a:avLst/>
          </a:prstGeom>
          <a:noFill/>
          <a:ln/>
        </p:spPr>
        <p:txBody>
          <a:bodyPr wrap="square" lIns="0" tIns="0" rIns="0" bIns="0" rtlCol="0" anchor="ctr"/>
          <a:lstStyle/>
          <a:p>
            <a:pPr indent="0" marL="0">
              <a:buNone/>
            </a:pPr>
            <a:r>
              <a:rPr lang="en-US" sz="1400" b="1" dirty="0">
                <a:solidFill>
                  <a:srgbClr val="0F4C43"/>
                </a:solidFill>
                <a:latin typeface="Calibri" pitchFamily="34" charset="0"/>
                <a:ea typeface="Calibri" pitchFamily="34" charset="-122"/>
                <a:cs typeface="Calibri" pitchFamily="34" charset="-120"/>
              </a:rPr>
              <a:t>A false positive that shows a blank screen destroys work a paid credit bought. So a contradiction removes the number, not the reasoning, and the reader can see why.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0881360" cy="658368"/>
          </a:xfrm>
          <a:prstGeom prst="rect">
            <a:avLst/>
          </a:prstGeom>
          <a:noFill/>
          <a:ln/>
        </p:spPr>
        <p:txBody>
          <a:bodyPr wrap="square" lIns="0" tIns="0" rIns="0" bIns="0" rtlCol="0" anchor="ctr"/>
          <a:lstStyle/>
          <a:p>
            <a:pPr indent="0" marL="0">
              <a:buNone/>
            </a:pPr>
            <a:r>
              <a:rPr lang="en-US" sz="3400" b="1" dirty="0">
                <a:solidFill>
                  <a:srgbClr val="16202B"/>
                </a:solidFill>
                <a:latin typeface="Cambria" pitchFamily="34" charset="0"/>
                <a:ea typeface="Cambria" pitchFamily="34" charset="-122"/>
                <a:cs typeface="Cambria" pitchFamily="34" charset="-120"/>
              </a:rPr>
              <a:t>Who decides what</a:t>
            </a:r>
            <a:endParaRPr lang="en-US" sz="3400" dirty="0"/>
          </a:p>
        </p:txBody>
      </p:sp>
      <p:sp>
        <p:nvSpPr>
          <p:cNvPr id="3" name="Text 1"/>
          <p:cNvSpPr txBox="1"/>
          <p:nvPr/>
        </p:nvSpPr>
        <p:spPr>
          <a:xfrm>
            <a:off x="566928" y="1060704"/>
            <a:ext cx="10881360"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Every activity sits in one of three lanes, and nothing reaches the export without the third</a:t>
            </a:r>
            <a:endParaRPr lang="en-US" sz="1500" dirty="0"/>
          </a:p>
        </p:txBody>
      </p:sp>
      <p:sp>
        <p:nvSpPr>
          <p:cNvPr id="4" name="Shape 2"/>
          <p:cNvSpPr/>
          <p:nvPr/>
        </p:nvSpPr>
        <p:spPr>
          <a:xfrm>
            <a:off x="566928" y="1600200"/>
            <a:ext cx="3520440" cy="987552"/>
          </a:xfrm>
          <a:prstGeom prst="roundRect">
            <a:avLst>
              <a:gd name="adj" fmla="val 7407"/>
            </a:avLst>
          </a:prstGeom>
          <a:solidFill>
            <a:srgbClr val="0F4C43"/>
          </a:solidFill>
          <a:ln w="12700">
            <a:solidFill>
              <a:srgbClr val="0F4C43"/>
            </a:solidFill>
            <a:prstDash val="solid"/>
          </a:ln>
        </p:spPr>
      </p:sp>
      <p:sp>
        <p:nvSpPr>
          <p:cNvPr id="5" name="Shape 3"/>
          <p:cNvSpPr/>
          <p:nvPr/>
        </p:nvSpPr>
        <p:spPr>
          <a:xfrm>
            <a:off x="566928" y="2478024"/>
            <a:ext cx="3520440" cy="109728"/>
          </a:xfrm>
          <a:prstGeom prst="rect">
            <a:avLst/>
          </a:prstGeom>
          <a:solidFill>
            <a:srgbClr val="0F4C43"/>
          </a:solidFill>
          <a:ln w="12700">
            <a:solidFill>
              <a:srgbClr val="0F4C43"/>
            </a:solidFill>
            <a:prstDash val="solid"/>
          </a:ln>
        </p:spPr>
      </p:sp>
      <p:sp>
        <p:nvSpPr>
          <p:cNvPr id="6" name="Shape 4"/>
          <p:cNvSpPr/>
          <p:nvPr/>
        </p:nvSpPr>
        <p:spPr>
          <a:xfrm>
            <a:off x="566928" y="2587752"/>
            <a:ext cx="3520440" cy="2971800"/>
          </a:xfrm>
          <a:prstGeom prst="roundRect">
            <a:avLst>
              <a:gd name="adj" fmla="val 2462"/>
            </a:avLst>
          </a:prstGeom>
          <a:solidFill>
            <a:srgbClr val="F7FAF9"/>
          </a:solidFill>
          <a:ln w="12700">
            <a:solidFill>
              <a:srgbClr val="F7FAF9"/>
            </a:solidFill>
            <a:prstDash val="solid"/>
          </a:ln>
        </p:spPr>
      </p:sp>
      <p:sp>
        <p:nvSpPr>
          <p:cNvPr id="7" name="Shape 5"/>
          <p:cNvSpPr/>
          <p:nvPr/>
        </p:nvSpPr>
        <p:spPr>
          <a:xfrm>
            <a:off x="566928" y="2587752"/>
            <a:ext cx="3520440" cy="91440"/>
          </a:xfrm>
          <a:prstGeom prst="rect">
            <a:avLst/>
          </a:prstGeom>
          <a:solidFill>
            <a:srgbClr val="F7FAF9"/>
          </a:solidFill>
          <a:ln w="12700">
            <a:solidFill>
              <a:srgbClr val="F7FAF9"/>
            </a:solidFill>
            <a:prstDash val="solid"/>
          </a:ln>
        </p:spPr>
      </p:sp>
      <p:sp>
        <p:nvSpPr>
          <p:cNvPr id="8" name="Text 6"/>
          <p:cNvSpPr txBox="1"/>
          <p:nvPr/>
        </p:nvSpPr>
        <p:spPr>
          <a:xfrm>
            <a:off x="731520" y="1700784"/>
            <a:ext cx="3191256" cy="201168"/>
          </a:xfrm>
          <a:prstGeom prst="rect">
            <a:avLst/>
          </a:prstGeom>
          <a:noFill/>
          <a:ln/>
        </p:spPr>
        <p:txBody>
          <a:bodyPr wrap="square" lIns="0" tIns="0" rIns="0" bIns="0" rtlCol="0" anchor="ctr"/>
          <a:lstStyle/>
          <a:p>
            <a:pPr indent="0" marL="0">
              <a:buNone/>
            </a:pPr>
            <a:r>
              <a:rPr lang="en-US" sz="950" b="1" dirty="0">
                <a:solidFill>
                  <a:srgbClr val="8FC3B5"/>
                </a:solidFill>
                <a:latin typeface="Consolas" pitchFamily="34" charset="0"/>
                <a:ea typeface="Consolas" pitchFamily="34" charset="-122"/>
                <a:cs typeface="Consolas" pitchFamily="34" charset="-120"/>
              </a:rPr>
              <a:t>LANE 1</a:t>
            </a:r>
            <a:endParaRPr lang="en-US" sz="950" dirty="0"/>
          </a:p>
        </p:txBody>
      </p:sp>
      <p:sp>
        <p:nvSpPr>
          <p:cNvPr id="9" name="Text 7"/>
          <p:cNvSpPr txBox="1"/>
          <p:nvPr/>
        </p:nvSpPr>
        <p:spPr>
          <a:xfrm>
            <a:off x="731520" y="1892808"/>
            <a:ext cx="3191256" cy="603504"/>
          </a:xfrm>
          <a:prstGeom prst="rect">
            <a:avLst/>
          </a:prstGeom>
          <a:noFill/>
          <a:ln/>
        </p:spPr>
        <p:txBody>
          <a:bodyPr wrap="square" lIns="0" tIns="0" rIns="0" bIns="0" rtlCol="0" anchor="t"/>
          <a:lstStyle/>
          <a:p>
            <a:pPr indent="0" marL="0">
              <a:buNone/>
            </a:pPr>
            <a:r>
              <a:rPr lang="en-US" sz="1900" b="1" dirty="0">
                <a:solidFill>
                  <a:srgbClr val="FFFFFF"/>
                </a:solidFill>
                <a:latin typeface="Cambria" pitchFamily="34" charset="0"/>
                <a:ea typeface="Cambria" pitchFamily="34" charset="-122"/>
                <a:cs typeface="Cambria" pitchFamily="34" charset="-120"/>
              </a:rPr>
              <a:t>The investigator</a:t>
            </a:r>
            <a:endParaRPr lang="en-US" sz="1900" dirty="0"/>
          </a:p>
        </p:txBody>
      </p:sp>
      <p:sp>
        <p:nvSpPr>
          <p:cNvPr id="10" name="Text 8"/>
          <p:cNvSpPr txBox="1"/>
          <p:nvPr/>
        </p:nvSpPr>
        <p:spPr>
          <a:xfrm>
            <a:off x="713232" y="2715768"/>
            <a:ext cx="3227832" cy="2715768"/>
          </a:xfrm>
          <a:prstGeom prst="rect">
            <a:avLst/>
          </a:prstGeom>
          <a:noFill/>
          <a:ln/>
        </p:spPr>
        <p:txBody>
          <a:bodyPr wrap="square" lIns="0" tIns="0" rIns="0" bIns="0" rtlCol="0" anchor="t"/>
          <a:lstStyle/>
          <a:p>
            <a:pPr indent="0" marL="0">
              <a:spcAft>
                <a:spcPts val="400"/>
              </a:spcAft>
              <a:buNone/>
            </a:pPr>
            <a:r>
              <a:rPr lang="en-US" sz="1200" b="1" dirty="0">
                <a:solidFill>
                  <a:srgbClr val="0F4C43"/>
                </a:solidFill>
                <a:latin typeface="Calibri" pitchFamily="34" charset="0"/>
                <a:ea typeface="Calibri" pitchFamily="34" charset="-122"/>
                <a:cs typeface="Calibri" pitchFamily="34" charset="-120"/>
              </a:rPr>
              <a:t>●  11 typed inputs</a:t>
            </a:r>
            <a:endParaRPr lang="en-US" sz="1200" dirty="0"/>
          </a:p>
          <a:p>
            <a:pPr indent="0" marL="0">
              <a:spcAft>
                <a:spcPts val="600"/>
              </a:spcAft>
              <a:buNone/>
            </a:pPr>
            <a:r>
              <a:rPr lang="en-US" sz="1200" dirty="0">
                <a:solidFill>
                  <a:srgbClr val="16202B"/>
                </a:solidFill>
                <a:latin typeface="Calibri" pitchFamily="34" charset="0"/>
                <a:ea typeface="Calibri" pitchFamily="34" charset="-122"/>
                <a:cs typeface="Calibri" pitchFamily="34" charset="-120"/>
              </a:rPr>
              <a:t>Context fields, aims and hypotheses, feasibility answers, estimand and variables, analysis contract and sizing inputs, counts, execution, finalisation.</a:t>
            </a:r>
            <a:endParaRPr lang="en-US" sz="1200" dirty="0"/>
          </a:p>
          <a:p>
            <a:pPr indent="0" marL="0">
              <a:spcAft>
                <a:spcPts val="400"/>
              </a:spcAft>
              <a:buNone/>
            </a:pPr>
            <a:r>
              <a:rPr lang="en-US" sz="1200" b="1" dirty="0">
                <a:solidFill>
                  <a:srgbClr val="0F4C43"/>
                </a:solidFill>
                <a:latin typeface="Calibri" pitchFamily="34" charset="0"/>
                <a:ea typeface="Calibri" pitchFamily="34" charset="-122"/>
                <a:cs typeface="Calibri" pitchFamily="34" charset="-120"/>
              </a:rPr>
              <a:t>●  11 decisions</a:t>
            </a:r>
            <a:endParaRPr lang="en-US" sz="1200" dirty="0"/>
          </a:p>
          <a:p>
            <a:pPr indent="0" marL="0">
              <a:spcAft>
                <a:spcPts val="600"/>
              </a:spcAft>
              <a:buNone/>
            </a:pPr>
            <a:r>
              <a:rPr lang="en-US" sz="1200" dirty="0">
                <a:solidFill>
                  <a:srgbClr val="16202B"/>
                </a:solidFill>
                <a:latin typeface="Calibri" pitchFamily="34" charset="0"/>
                <a:ea typeface="Calibri" pitchFamily="34" charset="-122"/>
                <a:cs typeface="Calibri" pitchFamily="34" charset="-120"/>
              </a:rPr>
              <a:t>Confirmatory or not, aims-check disposition, basis per answer, approve or alternative, each design condition, biostatistician review, multiplicity, data requests, revise, readiness, write-up and code.</a:t>
            </a:r>
            <a:endParaRPr lang="en-US" sz="1200" dirty="0"/>
          </a:p>
        </p:txBody>
      </p:sp>
      <p:sp>
        <p:nvSpPr>
          <p:cNvPr id="11" name="Shape 9"/>
          <p:cNvSpPr/>
          <p:nvPr/>
        </p:nvSpPr>
        <p:spPr>
          <a:xfrm>
            <a:off x="4242816" y="1600200"/>
            <a:ext cx="3520440" cy="987552"/>
          </a:xfrm>
          <a:prstGeom prst="roundRect">
            <a:avLst>
              <a:gd name="adj" fmla="val 7407"/>
            </a:avLst>
          </a:prstGeom>
          <a:solidFill>
            <a:srgbClr val="0F4C43"/>
          </a:solidFill>
          <a:ln w="12700">
            <a:solidFill>
              <a:srgbClr val="0F4C43"/>
            </a:solidFill>
            <a:prstDash val="solid"/>
          </a:ln>
        </p:spPr>
      </p:sp>
      <p:sp>
        <p:nvSpPr>
          <p:cNvPr id="12" name="Shape 10"/>
          <p:cNvSpPr/>
          <p:nvPr/>
        </p:nvSpPr>
        <p:spPr>
          <a:xfrm>
            <a:off x="4242816" y="2478024"/>
            <a:ext cx="3520440" cy="109728"/>
          </a:xfrm>
          <a:prstGeom prst="rect">
            <a:avLst/>
          </a:prstGeom>
          <a:solidFill>
            <a:srgbClr val="0F4C43"/>
          </a:solidFill>
          <a:ln w="12700">
            <a:solidFill>
              <a:srgbClr val="0F4C43"/>
            </a:solidFill>
            <a:prstDash val="solid"/>
          </a:ln>
        </p:spPr>
      </p:sp>
      <p:sp>
        <p:nvSpPr>
          <p:cNvPr id="13" name="Shape 11"/>
          <p:cNvSpPr/>
          <p:nvPr/>
        </p:nvSpPr>
        <p:spPr>
          <a:xfrm>
            <a:off x="4242816" y="2587752"/>
            <a:ext cx="3520440" cy="2971800"/>
          </a:xfrm>
          <a:prstGeom prst="roundRect">
            <a:avLst>
              <a:gd name="adj" fmla="val 2462"/>
            </a:avLst>
          </a:prstGeom>
          <a:solidFill>
            <a:srgbClr val="F7FAF9"/>
          </a:solidFill>
          <a:ln w="12700">
            <a:solidFill>
              <a:srgbClr val="F7FAF9"/>
            </a:solidFill>
            <a:prstDash val="solid"/>
          </a:ln>
        </p:spPr>
      </p:sp>
      <p:sp>
        <p:nvSpPr>
          <p:cNvPr id="14" name="Shape 12"/>
          <p:cNvSpPr/>
          <p:nvPr/>
        </p:nvSpPr>
        <p:spPr>
          <a:xfrm>
            <a:off x="4242816" y="2587752"/>
            <a:ext cx="3520440" cy="91440"/>
          </a:xfrm>
          <a:prstGeom prst="rect">
            <a:avLst/>
          </a:prstGeom>
          <a:solidFill>
            <a:srgbClr val="F7FAF9"/>
          </a:solidFill>
          <a:ln w="12700">
            <a:solidFill>
              <a:srgbClr val="F7FAF9"/>
            </a:solidFill>
            <a:prstDash val="solid"/>
          </a:ln>
        </p:spPr>
      </p:sp>
      <p:sp>
        <p:nvSpPr>
          <p:cNvPr id="15" name="Text 13"/>
          <p:cNvSpPr txBox="1"/>
          <p:nvPr/>
        </p:nvSpPr>
        <p:spPr>
          <a:xfrm>
            <a:off x="4407408" y="1700784"/>
            <a:ext cx="3191256" cy="201168"/>
          </a:xfrm>
          <a:prstGeom prst="rect">
            <a:avLst/>
          </a:prstGeom>
          <a:noFill/>
          <a:ln/>
        </p:spPr>
        <p:txBody>
          <a:bodyPr wrap="square" lIns="0" tIns="0" rIns="0" bIns="0" rtlCol="0" anchor="ctr"/>
          <a:lstStyle/>
          <a:p>
            <a:pPr indent="0" marL="0">
              <a:buNone/>
            </a:pPr>
            <a:r>
              <a:rPr lang="en-US" sz="950" b="1" dirty="0">
                <a:solidFill>
                  <a:srgbClr val="8FC3B5"/>
                </a:solidFill>
                <a:latin typeface="Consolas" pitchFamily="34" charset="0"/>
                <a:ea typeface="Consolas" pitchFamily="34" charset="-122"/>
                <a:cs typeface="Consolas" pitchFamily="34" charset="-120"/>
              </a:rPr>
              <a:t>LANE 2</a:t>
            </a:r>
            <a:endParaRPr lang="en-US" sz="950" dirty="0"/>
          </a:p>
        </p:txBody>
      </p:sp>
      <p:sp>
        <p:nvSpPr>
          <p:cNvPr id="16" name="Text 14"/>
          <p:cNvSpPr txBox="1"/>
          <p:nvPr/>
        </p:nvSpPr>
        <p:spPr>
          <a:xfrm>
            <a:off x="4407408" y="1892808"/>
            <a:ext cx="3191256" cy="603504"/>
          </a:xfrm>
          <a:prstGeom prst="rect">
            <a:avLst/>
          </a:prstGeom>
          <a:noFill/>
          <a:ln/>
        </p:spPr>
        <p:txBody>
          <a:bodyPr wrap="square" lIns="0" tIns="0" rIns="0" bIns="0" rtlCol="0" anchor="t"/>
          <a:lstStyle/>
          <a:p>
            <a:pPr indent="0" marL="0">
              <a:buNone/>
            </a:pPr>
            <a:r>
              <a:rPr lang="en-US" sz="1900" b="1" dirty="0">
                <a:solidFill>
                  <a:srgbClr val="FFFFFF"/>
                </a:solidFill>
                <a:latin typeface="Cambria" pitchFamily="34" charset="0"/>
                <a:ea typeface="Cambria" pitchFamily="34" charset="-122"/>
                <a:cs typeface="Cambria" pitchFamily="34" charset="-120"/>
              </a:rPr>
              <a:t>Stochastic language models</a:t>
            </a:r>
            <a:endParaRPr lang="en-US" sz="1900" dirty="0"/>
          </a:p>
        </p:txBody>
      </p:sp>
      <p:sp>
        <p:nvSpPr>
          <p:cNvPr id="17" name="Text 15"/>
          <p:cNvSpPr txBox="1"/>
          <p:nvPr/>
        </p:nvSpPr>
        <p:spPr>
          <a:xfrm>
            <a:off x="4389120" y="2715768"/>
            <a:ext cx="3227832" cy="2715768"/>
          </a:xfrm>
          <a:prstGeom prst="rect">
            <a:avLst/>
          </a:prstGeom>
          <a:noFill/>
          <a:ln/>
        </p:spPr>
        <p:txBody>
          <a:bodyPr wrap="square" lIns="0" tIns="0" rIns="0" bIns="0" rtlCol="0" anchor="t"/>
          <a:lstStyle/>
          <a:p>
            <a:pPr indent="0" marL="0">
              <a:spcAft>
                <a:spcPts val="400"/>
              </a:spcAft>
              <a:buNone/>
            </a:pPr>
            <a:r>
              <a:rPr lang="en-US" sz="1200" b="1" dirty="0">
                <a:solidFill>
                  <a:srgbClr val="0F4C43"/>
                </a:solidFill>
                <a:latin typeface="Calibri" pitchFamily="34" charset="0"/>
                <a:ea typeface="Calibri" pitchFamily="34" charset="-122"/>
                <a:cs typeface="Calibri" pitchFamily="34" charset="-120"/>
              </a:rPr>
              <a:t>●  Draft and review</a:t>
            </a:r>
            <a:endParaRPr lang="en-US" sz="1200" dirty="0"/>
          </a:p>
          <a:p>
            <a:pPr indent="0" marL="0">
              <a:spcAft>
                <a:spcPts val="600"/>
              </a:spcAft>
              <a:buNone/>
            </a:pPr>
            <a:r>
              <a:rPr lang="en-US" sz="1200" dirty="0">
                <a:solidFill>
                  <a:srgbClr val="16202B"/>
                </a:solidFill>
                <a:latin typeface="Calibri" pitchFamily="34" charset="0"/>
                <a:ea typeface="Calibri" pitchFamily="34" charset="-122"/>
                <a:cs typeface="Calibri" pitchFamily="34" charset="-120"/>
              </a:rPr>
              <a:t>Suggest aims, draft the brief and each step, review as two independent labs, propose one patch, adjudicate.</a:t>
            </a:r>
            <a:endParaRPr lang="en-US" sz="1200" dirty="0"/>
          </a:p>
          <a:p>
            <a:pPr indent="0" marL="0">
              <a:spcAft>
                <a:spcPts val="400"/>
              </a:spcAft>
              <a:buNone/>
            </a:pPr>
            <a:r>
              <a:rPr lang="en-US" sz="1200" b="1" dirty="0">
                <a:solidFill>
                  <a:srgbClr val="0F4C43"/>
                </a:solidFill>
                <a:latin typeface="Calibri" pitchFamily="34" charset="0"/>
                <a:ea typeface="Calibri" pitchFamily="34" charset="-122"/>
                <a:cs typeface="Calibri" pitchFamily="34" charset="-120"/>
              </a:rPr>
              <a:t>●  Output varies run to run</a:t>
            </a:r>
            <a:endParaRPr lang="en-US" sz="1200" dirty="0"/>
          </a:p>
          <a:p>
            <a:pPr indent="0" marL="0">
              <a:spcAft>
                <a:spcPts val="600"/>
              </a:spcAft>
              <a:buNone/>
            </a:pPr>
            <a:r>
              <a:rPr lang="en-US" sz="1200" dirty="0">
                <a:solidFill>
                  <a:srgbClr val="16202B"/>
                </a:solidFill>
                <a:latin typeface="Calibri" pitchFamily="34" charset="0"/>
                <a:ea typeface="Calibri" pitchFamily="34" charset="-122"/>
                <a:cs typeface="Calibri" pitchFamily="34" charset="-120"/>
              </a:rPr>
              <a:t>So nothing a model writes is trusted on its own. Every draft is checked against the typed facts before it is shown.</a:t>
            </a:r>
            <a:endParaRPr lang="en-US" sz="1200" dirty="0"/>
          </a:p>
        </p:txBody>
      </p:sp>
      <p:sp>
        <p:nvSpPr>
          <p:cNvPr id="18" name="Shape 16"/>
          <p:cNvSpPr/>
          <p:nvPr/>
        </p:nvSpPr>
        <p:spPr>
          <a:xfrm>
            <a:off x="7918704" y="1600200"/>
            <a:ext cx="3520440" cy="987552"/>
          </a:xfrm>
          <a:prstGeom prst="roundRect">
            <a:avLst>
              <a:gd name="adj" fmla="val 7407"/>
            </a:avLst>
          </a:prstGeom>
          <a:solidFill>
            <a:srgbClr val="0F4C43"/>
          </a:solidFill>
          <a:ln w="12700">
            <a:solidFill>
              <a:srgbClr val="0F4C43"/>
            </a:solidFill>
            <a:prstDash val="solid"/>
          </a:ln>
        </p:spPr>
      </p:sp>
      <p:sp>
        <p:nvSpPr>
          <p:cNvPr id="19" name="Shape 17"/>
          <p:cNvSpPr/>
          <p:nvPr/>
        </p:nvSpPr>
        <p:spPr>
          <a:xfrm>
            <a:off x="7918704" y="2478024"/>
            <a:ext cx="3520440" cy="109728"/>
          </a:xfrm>
          <a:prstGeom prst="rect">
            <a:avLst/>
          </a:prstGeom>
          <a:solidFill>
            <a:srgbClr val="0F4C43"/>
          </a:solidFill>
          <a:ln w="12700">
            <a:solidFill>
              <a:srgbClr val="0F4C43"/>
            </a:solidFill>
            <a:prstDash val="solid"/>
          </a:ln>
        </p:spPr>
      </p:sp>
      <p:sp>
        <p:nvSpPr>
          <p:cNvPr id="20" name="Shape 18"/>
          <p:cNvSpPr/>
          <p:nvPr/>
        </p:nvSpPr>
        <p:spPr>
          <a:xfrm>
            <a:off x="7918704" y="2587752"/>
            <a:ext cx="3520440" cy="2971800"/>
          </a:xfrm>
          <a:prstGeom prst="roundRect">
            <a:avLst>
              <a:gd name="adj" fmla="val 2462"/>
            </a:avLst>
          </a:prstGeom>
          <a:solidFill>
            <a:srgbClr val="F7FAF9"/>
          </a:solidFill>
          <a:ln w="12700">
            <a:solidFill>
              <a:srgbClr val="F7FAF9"/>
            </a:solidFill>
            <a:prstDash val="solid"/>
          </a:ln>
        </p:spPr>
      </p:sp>
      <p:sp>
        <p:nvSpPr>
          <p:cNvPr id="21" name="Shape 19"/>
          <p:cNvSpPr/>
          <p:nvPr/>
        </p:nvSpPr>
        <p:spPr>
          <a:xfrm>
            <a:off x="7918704" y="2587752"/>
            <a:ext cx="3520440" cy="91440"/>
          </a:xfrm>
          <a:prstGeom prst="rect">
            <a:avLst/>
          </a:prstGeom>
          <a:solidFill>
            <a:srgbClr val="F7FAF9"/>
          </a:solidFill>
          <a:ln w="12700">
            <a:solidFill>
              <a:srgbClr val="F7FAF9"/>
            </a:solidFill>
            <a:prstDash val="solid"/>
          </a:ln>
        </p:spPr>
      </p:sp>
      <p:sp>
        <p:nvSpPr>
          <p:cNvPr id="22" name="Text 20"/>
          <p:cNvSpPr txBox="1"/>
          <p:nvPr/>
        </p:nvSpPr>
        <p:spPr>
          <a:xfrm>
            <a:off x="8083296" y="1700784"/>
            <a:ext cx="3191256" cy="201168"/>
          </a:xfrm>
          <a:prstGeom prst="rect">
            <a:avLst/>
          </a:prstGeom>
          <a:noFill/>
          <a:ln/>
        </p:spPr>
        <p:txBody>
          <a:bodyPr wrap="square" lIns="0" tIns="0" rIns="0" bIns="0" rtlCol="0" anchor="ctr"/>
          <a:lstStyle/>
          <a:p>
            <a:pPr indent="0" marL="0">
              <a:buNone/>
            </a:pPr>
            <a:r>
              <a:rPr lang="en-US" sz="950" b="1" dirty="0">
                <a:solidFill>
                  <a:srgbClr val="8FC3B5"/>
                </a:solidFill>
                <a:latin typeface="Consolas" pitchFamily="34" charset="0"/>
                <a:ea typeface="Consolas" pitchFamily="34" charset="-122"/>
                <a:cs typeface="Consolas" pitchFamily="34" charset="-120"/>
              </a:rPr>
              <a:t>LANE 3</a:t>
            </a:r>
            <a:endParaRPr lang="en-US" sz="950" dirty="0"/>
          </a:p>
        </p:txBody>
      </p:sp>
      <p:sp>
        <p:nvSpPr>
          <p:cNvPr id="23" name="Text 21"/>
          <p:cNvSpPr txBox="1"/>
          <p:nvPr/>
        </p:nvSpPr>
        <p:spPr>
          <a:xfrm>
            <a:off x="8083296" y="1892808"/>
            <a:ext cx="3191256" cy="603504"/>
          </a:xfrm>
          <a:prstGeom prst="rect">
            <a:avLst/>
          </a:prstGeom>
          <a:noFill/>
          <a:ln/>
        </p:spPr>
        <p:txBody>
          <a:bodyPr wrap="square" lIns="0" tIns="0" rIns="0" bIns="0" rtlCol="0" anchor="t"/>
          <a:lstStyle/>
          <a:p>
            <a:pPr indent="0" marL="0">
              <a:buNone/>
            </a:pPr>
            <a:r>
              <a:rPr lang="en-US" sz="1900" b="1" dirty="0">
                <a:solidFill>
                  <a:srgbClr val="FFFFFF"/>
                </a:solidFill>
                <a:latin typeface="Cambria" pitchFamily="34" charset="0"/>
                <a:ea typeface="Cambria" pitchFamily="34" charset="-122"/>
                <a:cs typeface="Cambria" pitchFamily="34" charset="-120"/>
              </a:rPr>
              <a:t>Deterministic code</a:t>
            </a:r>
            <a:endParaRPr lang="en-US" sz="1900" dirty="0"/>
          </a:p>
        </p:txBody>
      </p:sp>
      <p:sp>
        <p:nvSpPr>
          <p:cNvPr id="24" name="Text 22"/>
          <p:cNvSpPr txBox="1"/>
          <p:nvPr/>
        </p:nvSpPr>
        <p:spPr>
          <a:xfrm>
            <a:off x="8065008" y="2715768"/>
            <a:ext cx="3227832" cy="2715768"/>
          </a:xfrm>
          <a:prstGeom prst="rect">
            <a:avLst/>
          </a:prstGeom>
          <a:noFill/>
          <a:ln/>
        </p:spPr>
        <p:txBody>
          <a:bodyPr wrap="square" lIns="0" tIns="0" rIns="0" bIns="0" rtlCol="0" anchor="t"/>
          <a:lstStyle/>
          <a:p>
            <a:pPr indent="0" marL="0">
              <a:spcAft>
                <a:spcPts val="400"/>
              </a:spcAft>
              <a:buNone/>
            </a:pPr>
            <a:r>
              <a:rPr lang="en-US" sz="1200" b="1" dirty="0">
                <a:solidFill>
                  <a:srgbClr val="0F4C43"/>
                </a:solidFill>
                <a:latin typeface="Calibri" pitchFamily="34" charset="0"/>
                <a:ea typeface="Calibri" pitchFamily="34" charset="-122"/>
                <a:cs typeface="Calibri" pitchFamily="34" charset="-120"/>
              </a:rPr>
              <a:t>●  11 gates and checks</a:t>
            </a:r>
            <a:endParaRPr lang="en-US" sz="1200" dirty="0"/>
          </a:p>
          <a:p>
            <a:pPr indent="0" marL="0">
              <a:spcAft>
                <a:spcPts val="600"/>
              </a:spcAft>
              <a:buNone/>
            </a:pPr>
            <a:r>
              <a:rPr lang="en-US" sz="1200" dirty="0">
                <a:solidFill>
                  <a:srgbClr val="16202B"/>
                </a:solidFill>
                <a:latin typeface="Calibri" pitchFamily="34" charset="0"/>
                <a:ea typeface="Calibri" pitchFamily="34" charset="-122"/>
                <a:cs typeface="Calibri" pitchFamily="34" charset="-120"/>
              </a:rPr>
              <a:t>PHI stripping, context, question, feasibility, conflict, design, credit, 37 plan checks, counts, analysis, execution and finalisation gates, then the export.</a:t>
            </a:r>
            <a:endParaRPr lang="en-US" sz="1200" dirty="0"/>
          </a:p>
          <a:p>
            <a:pPr indent="0" marL="0">
              <a:spcAft>
                <a:spcPts val="400"/>
              </a:spcAft>
              <a:buNone/>
            </a:pPr>
            <a:r>
              <a:rPr lang="en-US" sz="1200" b="1" dirty="0">
                <a:solidFill>
                  <a:srgbClr val="0F4C43"/>
                </a:solidFill>
                <a:latin typeface="Calibri" pitchFamily="34" charset="0"/>
                <a:ea typeface="Calibri" pitchFamily="34" charset="-122"/>
                <a:cs typeface="Calibri" pitchFamily="34" charset="-120"/>
              </a:rPr>
              <a:t>●  The only reproducible lane</a:t>
            </a:r>
            <a:endParaRPr lang="en-US" sz="1200" dirty="0"/>
          </a:p>
          <a:p>
            <a:pPr indent="0" marL="0">
              <a:spcAft>
                <a:spcPts val="600"/>
              </a:spcAft>
              <a:buNone/>
            </a:pPr>
            <a:r>
              <a:rPr lang="en-US" sz="1200" dirty="0">
                <a:solidFill>
                  <a:srgbClr val="16202B"/>
                </a:solidFill>
                <a:latin typeface="Calibri" pitchFamily="34" charset="0"/>
                <a:ea typeface="Calibri" pitchFamily="34" charset="-122"/>
                <a:cs typeface="Calibri" pitchFamily="34" charset="-120"/>
              </a:rPr>
              <a:t>Same input, same verdict, every time. It is the only path to the export and the only thing that can withhold a number.</a:t>
            </a:r>
            <a:endParaRPr lang="en-US" sz="1200" dirty="0"/>
          </a:p>
        </p:txBody>
      </p:sp>
      <p:sp>
        <p:nvSpPr>
          <p:cNvPr id="25" name="Shape 23"/>
          <p:cNvSpPr/>
          <p:nvPr/>
        </p:nvSpPr>
        <p:spPr>
          <a:xfrm>
            <a:off x="548640" y="5806440"/>
            <a:ext cx="11091672" cy="603504"/>
          </a:xfrm>
          <a:prstGeom prst="rect">
            <a:avLst/>
          </a:prstGeom>
          <a:solidFill>
            <a:srgbClr val="EEF3F2"/>
          </a:solidFill>
          <a:ln w="12700">
            <a:solidFill>
              <a:srgbClr val="EEF3F2"/>
            </a:solidFill>
            <a:prstDash val="solid"/>
          </a:ln>
        </p:spPr>
      </p:sp>
      <p:sp>
        <p:nvSpPr>
          <p:cNvPr id="26" name="Text 24"/>
          <p:cNvSpPr txBox="1"/>
          <p:nvPr/>
        </p:nvSpPr>
        <p:spPr>
          <a:xfrm>
            <a:off x="786384" y="5806440"/>
            <a:ext cx="10607040" cy="603504"/>
          </a:xfrm>
          <a:prstGeom prst="rect">
            <a:avLst/>
          </a:prstGeom>
          <a:noFill/>
          <a:ln/>
        </p:spPr>
        <p:txBody>
          <a:bodyPr wrap="square" lIns="0" tIns="0" rIns="0" bIns="0" rtlCol="0" anchor="ctr"/>
          <a:lstStyle/>
          <a:p>
            <a:pPr indent="0" marL="0">
              <a:buNone/>
            </a:pPr>
            <a:r>
              <a:rPr lang="en-US" sz="1450" dirty="0">
                <a:solidFill>
                  <a:srgbClr val="16202B"/>
                </a:solidFill>
                <a:latin typeface="Calibri" pitchFamily="34" charset="0"/>
                <a:ea typeface="Calibri" pitchFamily="34" charset="-122"/>
                <a:cs typeface="Calibri" pitchFamily="34" charset="-120"/>
              </a:rPr>
              <a:t>The one loop back from the code lane to the models is the investigator's fixup form, and it costs a credit.</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0881360" cy="658368"/>
          </a:xfrm>
          <a:prstGeom prst="rect">
            <a:avLst/>
          </a:prstGeom>
          <a:noFill/>
          <a:ln/>
        </p:spPr>
        <p:txBody>
          <a:bodyPr wrap="square" lIns="0" tIns="0" rIns="0" bIns="0" rtlCol="0" anchor="ctr"/>
          <a:lstStyle/>
          <a:p>
            <a:pPr indent="0" marL="0">
              <a:buNone/>
            </a:pPr>
            <a:r>
              <a:rPr lang="en-US" sz="3400" b="1" dirty="0">
                <a:solidFill>
                  <a:srgbClr val="16202B"/>
                </a:solidFill>
                <a:latin typeface="Cambria" pitchFamily="34" charset="0"/>
                <a:ea typeface="Cambria" pitchFamily="34" charset="-122"/>
                <a:cs typeface="Cambria" pitchFamily="34" charset="-120"/>
              </a:rPr>
              <a:t>One panel of the process map: analysis and sizing</a:t>
            </a:r>
            <a:endParaRPr lang="en-US" sz="3400" dirty="0"/>
          </a:p>
        </p:txBody>
      </p:sp>
      <p:sp>
        <p:nvSpPr>
          <p:cNvPr id="3" name="Text 1"/>
          <p:cNvSpPr txBox="1"/>
          <p:nvPr/>
        </p:nvSpPr>
        <p:spPr>
          <a:xfrm>
            <a:off x="566928" y="1060704"/>
            <a:ext cx="10881360"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Parallelogram = investigator input · diamond = decision · rectangle = process · numbered circle = continues on the next panel</a:t>
            </a:r>
            <a:endParaRPr lang="en-US" sz="1500" dirty="0"/>
          </a:p>
        </p:txBody>
      </p:sp>
      <p:pic>
        <p:nvPicPr>
          <p:cNvPr id="4" name="Image 0" descr="panelD.png">    </p:cNvPr>
          <p:cNvPicPr>
            <a:picLocks noChangeAspect="1"/>
          </p:cNvPicPr>
          <p:nvPr/>
        </p:nvPicPr>
        <p:blipFill>
          <a:blip r:embed="rId1"/>
          <a:stretch>
            <a:fillRect/>
          </a:stretch>
        </p:blipFill>
        <p:spPr>
          <a:xfrm>
            <a:off x="566928" y="1572768"/>
            <a:ext cx="9418320" cy="4681728"/>
          </a:xfrm>
          <a:prstGeom prst="rect">
            <a:avLst/>
          </a:prstGeom>
        </p:spPr>
      </p:pic>
      <p:sp>
        <p:nvSpPr>
          <p:cNvPr id="5" name="Text 2"/>
          <p:cNvSpPr txBox="1"/>
          <p:nvPr/>
        </p:nvSpPr>
        <p:spPr>
          <a:xfrm>
            <a:off x="10149840" y="1600200"/>
            <a:ext cx="1737360" cy="4846320"/>
          </a:xfrm>
          <a:prstGeom prst="rect">
            <a:avLst/>
          </a:prstGeom>
          <a:noFill/>
          <a:ln/>
        </p:spPr>
        <p:txBody>
          <a:bodyPr wrap="square" lIns="0" tIns="0" rIns="0" bIns="0" rtlCol="0" anchor="t"/>
          <a:lstStyle/>
          <a:p>
            <a:pPr indent="0" marL="0">
              <a:spcAft>
                <a:spcPts val="600"/>
              </a:spcAft>
              <a:buNone/>
            </a:pPr>
            <a:r>
              <a:rPr lang="en-US" sz="1050" b="1" dirty="0">
                <a:solidFill>
                  <a:srgbClr val="16202B"/>
                </a:solidFill>
                <a:latin typeface="Calibri" pitchFamily="34" charset="0"/>
                <a:ea typeface="Calibri" pitchFamily="34" charset="-122"/>
                <a:cs typeface="Calibri" pitchFamily="34" charset="-120"/>
              </a:rPr>
              <a:t>Read it left to right.</a:t>
            </a:r>
            <a:endParaRPr lang="en-US" sz="1050" dirty="0"/>
          </a:p>
          <a:p>
            <a:pPr indent="0" marL="0">
              <a:spcAft>
                <a:spcPts val="600"/>
              </a:spcAft>
              <a:buNone/>
            </a:pPr>
            <a:r>
              <a:rPr lang="en-US" sz="1050" dirty="0">
                <a:solidFill>
                  <a:srgbClr val="16202B"/>
                </a:solidFill>
                <a:latin typeface="Calibri" pitchFamily="34" charset="0"/>
                <a:ea typeface="Calibri" pitchFamily="34" charset="-122"/>
                <a:cs typeface="Calibri" pitchFamily="34" charset="-120"/>
              </a:rPr>
              <a:t>The investigator supplies the contract and presses Calculate; the code recomputes the number and runs the checks; the fixup form is the only route back to the models.</a:t>
            </a:r>
            <a:endParaRPr lang="en-US" sz="1050" dirty="0"/>
          </a:p>
          <a:p>
            <a:pPr indent="0" marL="0">
              <a:spcAft>
                <a:spcPts val="600"/>
              </a:spcAft>
              <a:buNone/>
            </a:pPr>
            <a:endParaRPr lang="en-US" sz="1050" dirty="0"/>
          </a:p>
          <a:p>
            <a:pPr indent="0" marL="0">
              <a:spcAft>
                <a:spcPts val="600"/>
              </a:spcAft>
              <a:buNone/>
            </a:pPr>
            <a:r>
              <a:rPr lang="en-US" sz="1050" dirty="0">
                <a:solidFill>
                  <a:srgbClr val="5A6B7A"/>
                </a:solidFill>
                <a:latin typeface="Calibri" pitchFamily="34" charset="0"/>
                <a:ea typeface="Calibri" pitchFamily="34" charset="-122"/>
                <a:cs typeface="Calibri" pitchFamily="34" charset="-120"/>
              </a:rPr>
              <a:t>Five panels cover the whole flow, tagged I1 to I11 and D1 to D11.</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0881360" cy="658368"/>
          </a:xfrm>
          <a:prstGeom prst="rect">
            <a:avLst/>
          </a:prstGeom>
          <a:noFill/>
          <a:ln/>
        </p:spPr>
        <p:txBody>
          <a:bodyPr wrap="square" lIns="0" tIns="0" rIns="0" bIns="0" rtlCol="0" anchor="ctr"/>
          <a:lstStyle/>
          <a:p>
            <a:pPr indent="0" marL="0">
              <a:buNone/>
            </a:pPr>
            <a:r>
              <a:rPr lang="en-US" sz="3400" b="1" dirty="0">
                <a:solidFill>
                  <a:srgbClr val="16202B"/>
                </a:solidFill>
                <a:latin typeface="Cambria" pitchFamily="34" charset="0"/>
                <a:ea typeface="Cambria" pitchFamily="34" charset="-122"/>
                <a:cs typeface="Cambria" pitchFamily="34" charset="-120"/>
              </a:rPr>
              <a:t>The eleven decisions an investigator makes</a:t>
            </a:r>
            <a:endParaRPr lang="en-US" sz="3400" dirty="0"/>
          </a:p>
        </p:txBody>
      </p:sp>
      <p:sp>
        <p:nvSpPr>
          <p:cNvPr id="3" name="Text 1"/>
          <p:cNvSpPr txBox="1"/>
          <p:nvPr/>
        </p:nvSpPr>
        <p:spPr>
          <a:xfrm>
            <a:off x="566928" y="1060704"/>
            <a:ext cx="10881360"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In the order they are asked, and who acts on each one next</a:t>
            </a:r>
            <a:endParaRPr lang="en-US" sz="1500" dirty="0"/>
          </a:p>
        </p:txBody>
      </p:sp>
      <p:sp>
        <p:nvSpPr>
          <p:cNvPr id="4" name="Shape 2"/>
          <p:cNvSpPr/>
          <p:nvPr/>
        </p:nvSpPr>
        <p:spPr>
          <a:xfrm>
            <a:off x="566928" y="1618488"/>
            <a:ext cx="457200" cy="457200"/>
          </a:xfrm>
          <a:prstGeom prst="ellipse">
            <a:avLst/>
          </a:prstGeom>
          <a:solidFill>
            <a:srgbClr val="0F4C43"/>
          </a:solidFill>
          <a:ln w="12700">
            <a:solidFill>
              <a:srgbClr val="0F4C43"/>
            </a:solidFill>
            <a:prstDash val="solid"/>
          </a:ln>
        </p:spPr>
      </p:sp>
      <p:sp>
        <p:nvSpPr>
          <p:cNvPr id="5" name="Text 3"/>
          <p:cNvSpPr txBox="1"/>
          <p:nvPr/>
        </p:nvSpPr>
        <p:spPr>
          <a:xfrm>
            <a:off x="566928" y="1618488"/>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D1</a:t>
            </a:r>
            <a:endParaRPr lang="en-US" sz="1000" dirty="0"/>
          </a:p>
        </p:txBody>
      </p:sp>
      <p:sp>
        <p:nvSpPr>
          <p:cNvPr id="6" name="Text 4"/>
          <p:cNvSpPr txBox="1"/>
          <p:nvPr/>
        </p:nvSpPr>
        <p:spPr>
          <a:xfrm>
            <a:off x="1161288" y="1600200"/>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Any aim confirmatory?</a:t>
            </a:r>
            <a:endParaRPr lang="en-US" sz="1250" dirty="0"/>
          </a:p>
        </p:txBody>
      </p:sp>
      <p:sp>
        <p:nvSpPr>
          <p:cNvPr id="7" name="Text 5"/>
          <p:cNvSpPr txBox="1"/>
          <p:nvPr/>
        </p:nvSpPr>
        <p:spPr>
          <a:xfrm>
            <a:off x="1161288" y="1874520"/>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Investigator writes the hypothesis; multiplicity becomes required</a:t>
            </a:r>
            <a:endParaRPr lang="en-US" sz="1050" dirty="0"/>
          </a:p>
        </p:txBody>
      </p:sp>
      <p:sp>
        <p:nvSpPr>
          <p:cNvPr id="8" name="Shape 6"/>
          <p:cNvSpPr/>
          <p:nvPr/>
        </p:nvSpPr>
        <p:spPr>
          <a:xfrm>
            <a:off x="566928" y="2331720"/>
            <a:ext cx="457200" cy="457200"/>
          </a:xfrm>
          <a:prstGeom prst="ellipse">
            <a:avLst/>
          </a:prstGeom>
          <a:solidFill>
            <a:srgbClr val="0F4C43"/>
          </a:solidFill>
          <a:ln w="12700">
            <a:solidFill>
              <a:srgbClr val="0F4C43"/>
            </a:solidFill>
            <a:prstDash val="solid"/>
          </a:ln>
        </p:spPr>
      </p:sp>
      <p:sp>
        <p:nvSpPr>
          <p:cNvPr id="9" name="Text 7"/>
          <p:cNvSpPr txBox="1"/>
          <p:nvPr/>
        </p:nvSpPr>
        <p:spPr>
          <a:xfrm>
            <a:off x="566928" y="2331720"/>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D2</a:t>
            </a:r>
            <a:endParaRPr lang="en-US" sz="1000" dirty="0"/>
          </a:p>
        </p:txBody>
      </p:sp>
      <p:sp>
        <p:nvSpPr>
          <p:cNvPr id="10" name="Text 8"/>
          <p:cNvSpPr txBox="1"/>
          <p:nvPr/>
        </p:nvSpPr>
        <p:spPr>
          <a:xfrm>
            <a:off x="1161288" y="2313432"/>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Aims-check finding: apply, keep with a reason, or skip</a:t>
            </a:r>
            <a:endParaRPr lang="en-US" sz="1250" dirty="0"/>
          </a:p>
        </p:txBody>
      </p:sp>
      <p:sp>
        <p:nvSpPr>
          <p:cNvPr id="11" name="Text 9"/>
          <p:cNvSpPr txBox="1"/>
          <p:nvPr/>
        </p:nvSpPr>
        <p:spPr>
          <a:xfrm>
            <a:off x="1161288" y="2587752"/>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Model runs the literature scan</a:t>
            </a:r>
            <a:endParaRPr lang="en-US" sz="1050" dirty="0"/>
          </a:p>
        </p:txBody>
      </p:sp>
      <p:sp>
        <p:nvSpPr>
          <p:cNvPr id="12" name="Shape 10"/>
          <p:cNvSpPr/>
          <p:nvPr/>
        </p:nvSpPr>
        <p:spPr>
          <a:xfrm>
            <a:off x="566928" y="3044952"/>
            <a:ext cx="457200" cy="457200"/>
          </a:xfrm>
          <a:prstGeom prst="ellipse">
            <a:avLst/>
          </a:prstGeom>
          <a:solidFill>
            <a:srgbClr val="0F4C43"/>
          </a:solidFill>
          <a:ln w="12700">
            <a:solidFill>
              <a:srgbClr val="0F4C43"/>
            </a:solidFill>
            <a:prstDash val="solid"/>
          </a:ln>
        </p:spPr>
      </p:sp>
      <p:sp>
        <p:nvSpPr>
          <p:cNvPr id="13" name="Text 11"/>
          <p:cNvSpPr txBox="1"/>
          <p:nvPr/>
        </p:nvSpPr>
        <p:spPr>
          <a:xfrm>
            <a:off x="566928" y="3044952"/>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D3</a:t>
            </a:r>
            <a:endParaRPr lang="en-US" sz="1000" dirty="0"/>
          </a:p>
        </p:txBody>
      </p:sp>
      <p:sp>
        <p:nvSpPr>
          <p:cNvPr id="14" name="Text 12"/>
          <p:cNvSpPr txBox="1"/>
          <p:nvPr/>
        </p:nvSpPr>
        <p:spPr>
          <a:xfrm>
            <a:off x="1161288" y="3026664"/>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Basis per feasibility answer: checked, assumption, or task</a:t>
            </a:r>
            <a:endParaRPr lang="en-US" sz="1250" dirty="0"/>
          </a:p>
        </p:txBody>
      </p:sp>
      <p:sp>
        <p:nvSpPr>
          <p:cNvPr id="15" name="Text 13"/>
          <p:cNvSpPr txBox="1"/>
          <p:nvPr/>
        </p:nvSpPr>
        <p:spPr>
          <a:xfrm>
            <a:off x="1161288" y="3300984"/>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Code feasibility gate; a task blocks design until closed</a:t>
            </a:r>
            <a:endParaRPr lang="en-US" sz="1050" dirty="0"/>
          </a:p>
        </p:txBody>
      </p:sp>
      <p:sp>
        <p:nvSpPr>
          <p:cNvPr id="16" name="Shape 14"/>
          <p:cNvSpPr/>
          <p:nvPr/>
        </p:nvSpPr>
        <p:spPr>
          <a:xfrm>
            <a:off x="566928" y="3758184"/>
            <a:ext cx="457200" cy="457200"/>
          </a:xfrm>
          <a:prstGeom prst="ellipse">
            <a:avLst/>
          </a:prstGeom>
          <a:solidFill>
            <a:srgbClr val="0F4C43"/>
          </a:solidFill>
          <a:ln w="12700">
            <a:solidFill>
              <a:srgbClr val="0F4C43"/>
            </a:solidFill>
            <a:prstDash val="solid"/>
          </a:ln>
        </p:spPr>
      </p:sp>
      <p:sp>
        <p:nvSpPr>
          <p:cNvPr id="17" name="Text 15"/>
          <p:cNvSpPr txBox="1"/>
          <p:nvPr/>
        </p:nvSpPr>
        <p:spPr>
          <a:xfrm>
            <a:off x="566928" y="3758184"/>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D4</a:t>
            </a:r>
            <a:endParaRPr lang="en-US" sz="1000" dirty="0"/>
          </a:p>
        </p:txBody>
      </p:sp>
      <p:sp>
        <p:nvSpPr>
          <p:cNvPr id="18" name="Text 16"/>
          <p:cNvSpPr txBox="1"/>
          <p:nvPr/>
        </p:nvSpPr>
        <p:spPr>
          <a:xfrm>
            <a:off x="1161288" y="3739896"/>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Approve the design, or pick an alternative</a:t>
            </a:r>
            <a:endParaRPr lang="en-US" sz="1250" dirty="0"/>
          </a:p>
        </p:txBody>
      </p:sp>
      <p:sp>
        <p:nvSpPr>
          <p:cNvPr id="19" name="Text 17"/>
          <p:cNvSpPr txBox="1"/>
          <p:nvPr/>
        </p:nvSpPr>
        <p:spPr>
          <a:xfrm>
            <a:off x="1161288" y="4014216"/>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Model re-runs the brief, free; or code runs the conflict gate</a:t>
            </a:r>
            <a:endParaRPr lang="en-US" sz="1050" dirty="0"/>
          </a:p>
        </p:txBody>
      </p:sp>
      <p:sp>
        <p:nvSpPr>
          <p:cNvPr id="20" name="Shape 18"/>
          <p:cNvSpPr/>
          <p:nvPr/>
        </p:nvSpPr>
        <p:spPr>
          <a:xfrm>
            <a:off x="566928" y="4471416"/>
            <a:ext cx="457200" cy="457200"/>
          </a:xfrm>
          <a:prstGeom prst="ellipse">
            <a:avLst/>
          </a:prstGeom>
          <a:solidFill>
            <a:srgbClr val="0F4C43"/>
          </a:solidFill>
          <a:ln w="12700">
            <a:solidFill>
              <a:srgbClr val="0F4C43"/>
            </a:solidFill>
            <a:prstDash val="solid"/>
          </a:ln>
        </p:spPr>
      </p:sp>
      <p:sp>
        <p:nvSpPr>
          <p:cNvPr id="21" name="Text 19"/>
          <p:cNvSpPr txBox="1"/>
          <p:nvPr/>
        </p:nvSpPr>
        <p:spPr>
          <a:xfrm>
            <a:off x="566928" y="4471416"/>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D5</a:t>
            </a:r>
            <a:endParaRPr lang="en-US" sz="1000" dirty="0"/>
          </a:p>
        </p:txBody>
      </p:sp>
      <p:sp>
        <p:nvSpPr>
          <p:cNvPr id="22" name="Text 20"/>
          <p:cNvSpPr txBox="1"/>
          <p:nvPr/>
        </p:nvSpPr>
        <p:spPr>
          <a:xfrm>
            <a:off x="1161288" y="4453128"/>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Each design condition: confirmed, to check, or not available</a:t>
            </a:r>
            <a:endParaRPr lang="en-US" sz="1250" dirty="0"/>
          </a:p>
        </p:txBody>
      </p:sp>
      <p:sp>
        <p:nvSpPr>
          <p:cNvPr id="23" name="Text 21"/>
          <p:cNvSpPr txBox="1"/>
          <p:nvPr/>
        </p:nvSpPr>
        <p:spPr>
          <a:xfrm>
            <a:off x="1161288" y="4727448"/>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Investigator defines the estimand and variables</a:t>
            </a:r>
            <a:endParaRPr lang="en-US" sz="1050" dirty="0"/>
          </a:p>
        </p:txBody>
      </p:sp>
      <p:sp>
        <p:nvSpPr>
          <p:cNvPr id="24" name="Shape 22"/>
          <p:cNvSpPr/>
          <p:nvPr/>
        </p:nvSpPr>
        <p:spPr>
          <a:xfrm>
            <a:off x="566928" y="5184648"/>
            <a:ext cx="457200" cy="457200"/>
          </a:xfrm>
          <a:prstGeom prst="ellipse">
            <a:avLst/>
          </a:prstGeom>
          <a:solidFill>
            <a:srgbClr val="0F4C43"/>
          </a:solidFill>
          <a:ln w="12700">
            <a:solidFill>
              <a:srgbClr val="0F4C43"/>
            </a:solidFill>
            <a:prstDash val="solid"/>
          </a:ln>
        </p:spPr>
      </p:sp>
      <p:sp>
        <p:nvSpPr>
          <p:cNvPr id="25" name="Text 23"/>
          <p:cNvSpPr txBox="1"/>
          <p:nvPr/>
        </p:nvSpPr>
        <p:spPr>
          <a:xfrm>
            <a:off x="566928" y="5184648"/>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D6</a:t>
            </a:r>
            <a:endParaRPr lang="en-US" sz="1000" dirty="0"/>
          </a:p>
        </p:txBody>
      </p:sp>
      <p:sp>
        <p:nvSpPr>
          <p:cNvPr id="26" name="Text 24"/>
          <p:cNvSpPr txBox="1"/>
          <p:nvPr/>
        </p:nvSpPr>
        <p:spPr>
          <a:xfrm>
            <a:off x="1161288" y="5166360"/>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Request a biostatistician design review?</a:t>
            </a:r>
            <a:endParaRPr lang="en-US" sz="1250" dirty="0"/>
          </a:p>
        </p:txBody>
      </p:sp>
      <p:sp>
        <p:nvSpPr>
          <p:cNvPr id="27" name="Text 25"/>
          <p:cNvSpPr txBox="1"/>
          <p:nvPr/>
        </p:nvSpPr>
        <p:spPr>
          <a:xfrm>
            <a:off x="1161288" y="5440680"/>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Code pins the review to the decisions; any change makes it stale</a:t>
            </a:r>
            <a:endParaRPr lang="en-US" sz="1050" dirty="0"/>
          </a:p>
        </p:txBody>
      </p:sp>
      <p:sp>
        <p:nvSpPr>
          <p:cNvPr id="28" name="Shape 26"/>
          <p:cNvSpPr/>
          <p:nvPr/>
        </p:nvSpPr>
        <p:spPr>
          <a:xfrm>
            <a:off x="6144768" y="1618488"/>
            <a:ext cx="457200" cy="457200"/>
          </a:xfrm>
          <a:prstGeom prst="ellipse">
            <a:avLst/>
          </a:prstGeom>
          <a:solidFill>
            <a:srgbClr val="0F4C43"/>
          </a:solidFill>
          <a:ln w="12700">
            <a:solidFill>
              <a:srgbClr val="0F4C43"/>
            </a:solidFill>
            <a:prstDash val="solid"/>
          </a:ln>
        </p:spPr>
      </p:sp>
      <p:sp>
        <p:nvSpPr>
          <p:cNvPr id="29" name="Text 27"/>
          <p:cNvSpPr txBox="1"/>
          <p:nvPr/>
        </p:nvSpPr>
        <p:spPr>
          <a:xfrm>
            <a:off x="6144768" y="1618488"/>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D7</a:t>
            </a:r>
            <a:endParaRPr lang="en-US" sz="1000" dirty="0"/>
          </a:p>
        </p:txBody>
      </p:sp>
      <p:sp>
        <p:nvSpPr>
          <p:cNvPr id="30" name="Text 28"/>
          <p:cNvSpPr txBox="1"/>
          <p:nvPr/>
        </p:nvSpPr>
        <p:spPr>
          <a:xfrm>
            <a:off x="6739128" y="1600200"/>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Multiplicity family, method and sizing implication</a:t>
            </a:r>
            <a:endParaRPr lang="en-US" sz="1250" dirty="0"/>
          </a:p>
        </p:txBody>
      </p:sp>
      <p:sp>
        <p:nvSpPr>
          <p:cNvPr id="31" name="Text 29"/>
          <p:cNvSpPr txBox="1"/>
          <p:nvPr/>
        </p:nvSpPr>
        <p:spPr>
          <a:xfrm>
            <a:off x="6739128" y="1874520"/>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Code analysis gate</a:t>
            </a:r>
            <a:endParaRPr lang="en-US" sz="1050" dirty="0"/>
          </a:p>
        </p:txBody>
      </p:sp>
      <p:sp>
        <p:nvSpPr>
          <p:cNvPr id="32" name="Shape 30"/>
          <p:cNvSpPr/>
          <p:nvPr/>
        </p:nvSpPr>
        <p:spPr>
          <a:xfrm>
            <a:off x="6144768" y="2331720"/>
            <a:ext cx="457200" cy="457200"/>
          </a:xfrm>
          <a:prstGeom prst="ellipse">
            <a:avLst/>
          </a:prstGeom>
          <a:solidFill>
            <a:srgbClr val="0F4C43"/>
          </a:solidFill>
          <a:ln w="12700">
            <a:solidFill>
              <a:srgbClr val="0F4C43"/>
            </a:solidFill>
            <a:prstDash val="solid"/>
          </a:ln>
        </p:spPr>
      </p:sp>
      <p:sp>
        <p:nvSpPr>
          <p:cNvPr id="33" name="Text 31"/>
          <p:cNvSpPr txBox="1"/>
          <p:nvPr/>
        </p:nvSpPr>
        <p:spPr>
          <a:xfrm>
            <a:off x="6144768" y="2331720"/>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D8</a:t>
            </a:r>
            <a:endParaRPr lang="en-US" sz="1000" dirty="0"/>
          </a:p>
        </p:txBody>
      </p:sp>
      <p:sp>
        <p:nvSpPr>
          <p:cNvPr id="34" name="Text 32"/>
          <p:cNvSpPr txBox="1"/>
          <p:nvPr/>
        </p:nvSpPr>
        <p:spPr>
          <a:xfrm>
            <a:off x="6739128" y="2313432"/>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Data beyond the map: add it, or remove from the analysis</a:t>
            </a:r>
            <a:endParaRPr lang="en-US" sz="1250" dirty="0"/>
          </a:p>
        </p:txBody>
      </p:sp>
      <p:sp>
        <p:nvSpPr>
          <p:cNvPr id="35" name="Text 33"/>
          <p:cNvSpPr txBox="1"/>
          <p:nvPr/>
        </p:nvSpPr>
        <p:spPr>
          <a:xfrm>
            <a:off x="6739128" y="2587752"/>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Code analysis gate</a:t>
            </a:r>
            <a:endParaRPr lang="en-US" sz="1050" dirty="0"/>
          </a:p>
        </p:txBody>
      </p:sp>
      <p:sp>
        <p:nvSpPr>
          <p:cNvPr id="36" name="Shape 34"/>
          <p:cNvSpPr/>
          <p:nvPr/>
        </p:nvSpPr>
        <p:spPr>
          <a:xfrm>
            <a:off x="6144768" y="3044952"/>
            <a:ext cx="457200" cy="457200"/>
          </a:xfrm>
          <a:prstGeom prst="ellipse">
            <a:avLst/>
          </a:prstGeom>
          <a:solidFill>
            <a:srgbClr val="0F4C43"/>
          </a:solidFill>
          <a:ln w="12700">
            <a:solidFill>
              <a:srgbClr val="0F4C43"/>
            </a:solidFill>
            <a:prstDash val="solid"/>
          </a:ln>
        </p:spPr>
      </p:sp>
      <p:sp>
        <p:nvSpPr>
          <p:cNvPr id="37" name="Text 35"/>
          <p:cNvSpPr txBox="1"/>
          <p:nvPr/>
        </p:nvSpPr>
        <p:spPr>
          <a:xfrm>
            <a:off x="6144768" y="3044952"/>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D9</a:t>
            </a:r>
            <a:endParaRPr lang="en-US" sz="1000" dirty="0"/>
          </a:p>
        </p:txBody>
      </p:sp>
      <p:sp>
        <p:nvSpPr>
          <p:cNvPr id="38" name="Text 36"/>
          <p:cNvSpPr txBox="1"/>
          <p:nvPr/>
        </p:nvSpPr>
        <p:spPr>
          <a:xfrm>
            <a:off x="6739128" y="3026664"/>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Send the fixup form as one revision?</a:t>
            </a:r>
            <a:endParaRPr lang="en-US" sz="1250" dirty="0"/>
          </a:p>
        </p:txBody>
      </p:sp>
      <p:sp>
        <p:nvSpPr>
          <p:cNvPr id="39" name="Text 37"/>
          <p:cNvSpPr txBox="1"/>
          <p:nvPr/>
        </p:nvSpPr>
        <p:spPr>
          <a:xfrm>
            <a:off x="6739128" y="3300984"/>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Models: guarded patch and adjudication; one credit</a:t>
            </a:r>
            <a:endParaRPr lang="en-US" sz="1050" dirty="0"/>
          </a:p>
        </p:txBody>
      </p:sp>
      <p:sp>
        <p:nvSpPr>
          <p:cNvPr id="40" name="Shape 38"/>
          <p:cNvSpPr/>
          <p:nvPr/>
        </p:nvSpPr>
        <p:spPr>
          <a:xfrm>
            <a:off x="6144768" y="3758184"/>
            <a:ext cx="457200" cy="457200"/>
          </a:xfrm>
          <a:prstGeom prst="ellipse">
            <a:avLst/>
          </a:prstGeom>
          <a:solidFill>
            <a:srgbClr val="0F4C43"/>
          </a:solidFill>
          <a:ln w="12700">
            <a:solidFill>
              <a:srgbClr val="0F4C43"/>
            </a:solidFill>
            <a:prstDash val="solid"/>
          </a:ln>
        </p:spPr>
      </p:sp>
      <p:sp>
        <p:nvSpPr>
          <p:cNvPr id="41" name="Text 39"/>
          <p:cNvSpPr txBox="1"/>
          <p:nvPr/>
        </p:nvSpPr>
        <p:spPr>
          <a:xfrm>
            <a:off x="6144768" y="3758184"/>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D10</a:t>
            </a:r>
            <a:endParaRPr lang="en-US" sz="1000" dirty="0"/>
          </a:p>
        </p:txBody>
      </p:sp>
      <p:sp>
        <p:nvSpPr>
          <p:cNvPr id="42" name="Text 40"/>
          <p:cNvSpPr txBox="1"/>
          <p:nvPr/>
        </p:nvSpPr>
        <p:spPr>
          <a:xfrm>
            <a:off x="6739128" y="3739896"/>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Readiness: ready, conditional or infeasible</a:t>
            </a:r>
            <a:endParaRPr lang="en-US" sz="1250" dirty="0"/>
          </a:p>
        </p:txBody>
      </p:sp>
      <p:sp>
        <p:nvSpPr>
          <p:cNvPr id="43" name="Text 41"/>
          <p:cNvSpPr txBox="1"/>
          <p:nvPr/>
        </p:nvSpPr>
        <p:spPr>
          <a:xfrm>
            <a:off x="6739128" y="4014216"/>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Code execution gate; infeasible blocks the phase</a:t>
            </a:r>
            <a:endParaRPr lang="en-US" sz="1050" dirty="0"/>
          </a:p>
        </p:txBody>
      </p:sp>
      <p:sp>
        <p:nvSpPr>
          <p:cNvPr id="44" name="Shape 42"/>
          <p:cNvSpPr/>
          <p:nvPr/>
        </p:nvSpPr>
        <p:spPr>
          <a:xfrm>
            <a:off x="6144768" y="4471416"/>
            <a:ext cx="457200" cy="457200"/>
          </a:xfrm>
          <a:prstGeom prst="ellipse">
            <a:avLst/>
          </a:prstGeom>
          <a:solidFill>
            <a:srgbClr val="0F4C43"/>
          </a:solidFill>
          <a:ln w="12700">
            <a:solidFill>
              <a:srgbClr val="0F4C43"/>
            </a:solidFill>
            <a:prstDash val="solid"/>
          </a:ln>
        </p:spPr>
      </p:sp>
      <p:sp>
        <p:nvSpPr>
          <p:cNvPr id="45" name="Text 43"/>
          <p:cNvSpPr txBox="1"/>
          <p:nvPr/>
        </p:nvSpPr>
        <p:spPr>
          <a:xfrm>
            <a:off x="6144768" y="4471416"/>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D11</a:t>
            </a:r>
            <a:endParaRPr lang="en-US" sz="1000" dirty="0"/>
          </a:p>
        </p:txBody>
      </p:sp>
      <p:sp>
        <p:nvSpPr>
          <p:cNvPr id="46" name="Text 44"/>
          <p:cNvSpPr txBox="1"/>
          <p:nvPr/>
        </p:nvSpPr>
        <p:spPr>
          <a:xfrm>
            <a:off x="6739128" y="4453128"/>
            <a:ext cx="4846320" cy="274320"/>
          </a:xfrm>
          <a:prstGeom prst="rect">
            <a:avLst/>
          </a:prstGeom>
          <a:noFill/>
          <a:ln/>
        </p:spPr>
        <p:txBody>
          <a:bodyPr wrap="square" lIns="0" tIns="0" rIns="0" bIns="0" rtlCol="0" anchor="ctr"/>
          <a:lstStyle/>
          <a:p>
            <a:pPr indent="0" marL="0">
              <a:buNone/>
            </a:pPr>
            <a:r>
              <a:rPr lang="en-US" sz="1250" b="1" dirty="0">
                <a:solidFill>
                  <a:srgbClr val="16202B"/>
                </a:solidFill>
                <a:latin typeface="Calibri" pitchFamily="34" charset="0"/>
                <a:ea typeface="Calibri" pitchFamily="34" charset="-122"/>
                <a:cs typeface="Calibri" pitchFamily="34" charset="-120"/>
              </a:rPr>
              <a:t>Request the write-up and code, and in which languages</a:t>
            </a:r>
            <a:endParaRPr lang="en-US" sz="1250" dirty="0"/>
          </a:p>
        </p:txBody>
      </p:sp>
      <p:sp>
        <p:nvSpPr>
          <p:cNvPr id="47" name="Text 45"/>
          <p:cNvSpPr txBox="1"/>
          <p:nvPr/>
        </p:nvSpPr>
        <p:spPr>
          <a:xfrm>
            <a:off x="6739128" y="4727448"/>
            <a:ext cx="4846320" cy="384048"/>
          </a:xfrm>
          <a:prstGeom prst="rect">
            <a:avLst/>
          </a:prstGeom>
          <a:noFill/>
          <a:ln/>
        </p:spPr>
        <p:txBody>
          <a:bodyPr wrap="square" lIns="0" tIns="0" rIns="0" bIns="0" rtlCol="0" anchor="t"/>
          <a:lstStyle/>
          <a:p>
            <a:pPr indent="0" marL="0">
              <a:buNone/>
            </a:pPr>
            <a:r>
              <a:rPr lang="en-US" sz="1050" dirty="0">
                <a:solidFill>
                  <a:srgbClr val="5A6B7A"/>
                </a:solidFill>
                <a:latin typeface="Calibri" pitchFamily="34" charset="0"/>
                <a:ea typeface="Calibri" pitchFamily="34" charset="-122"/>
                <a:cs typeface="Calibri" pitchFamily="34" charset="-120"/>
              </a:rPr>
              <a:t>Models draft steps 6 and 7 on request; code is never executed</a:t>
            </a:r>
            <a:endParaRPr lang="en-US" sz="1050" dirty="0"/>
          </a:p>
        </p:txBody>
      </p:sp>
      <p:sp>
        <p:nvSpPr>
          <p:cNvPr id="48" name="Shape 46"/>
          <p:cNvSpPr/>
          <p:nvPr/>
        </p:nvSpPr>
        <p:spPr>
          <a:xfrm>
            <a:off x="6144768" y="5166360"/>
            <a:ext cx="5349240" cy="685800"/>
          </a:xfrm>
          <a:prstGeom prst="rect">
            <a:avLst/>
          </a:prstGeom>
          <a:solidFill>
            <a:srgbClr val="EEF3F2"/>
          </a:solidFill>
          <a:ln w="12700">
            <a:solidFill>
              <a:srgbClr val="EEF3F2"/>
            </a:solidFill>
            <a:prstDash val="solid"/>
          </a:ln>
        </p:spPr>
      </p:sp>
      <p:sp>
        <p:nvSpPr>
          <p:cNvPr id="49" name="Text 47"/>
          <p:cNvSpPr txBox="1"/>
          <p:nvPr/>
        </p:nvSpPr>
        <p:spPr>
          <a:xfrm>
            <a:off x="6309360" y="5193792"/>
            <a:ext cx="5029200" cy="640080"/>
          </a:xfrm>
          <a:prstGeom prst="rect">
            <a:avLst/>
          </a:prstGeom>
          <a:noFill/>
          <a:ln/>
        </p:spPr>
        <p:txBody>
          <a:bodyPr wrap="square" lIns="0" tIns="0" rIns="0" bIns="0" rtlCol="0" anchor="ctr"/>
          <a:lstStyle/>
          <a:p>
            <a:pPr indent="0" marL="0">
              <a:buNone/>
            </a:pPr>
            <a:r>
              <a:rPr lang="en-US" sz="1000" dirty="0">
                <a:solidFill>
                  <a:srgbClr val="16202B"/>
                </a:solidFill>
                <a:latin typeface="Calibri" pitchFamily="34" charset="0"/>
                <a:ea typeface="Calibri" pitchFamily="34" charset="-122"/>
                <a:cs typeface="Calibri" pitchFamily="34" charset="-120"/>
              </a:rPr>
              <a:t>Eleven more items are typed inputs rather than choices: the context fields, aims, hypotheses, feasibility answers, conflict answers, estimand and variables, the model's questions, the analysis contract, counts, execution fields and finalisation.</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0881360" cy="658368"/>
          </a:xfrm>
          <a:prstGeom prst="rect">
            <a:avLst/>
          </a:prstGeom>
          <a:noFill/>
          <a:ln/>
        </p:spPr>
        <p:txBody>
          <a:bodyPr wrap="square" lIns="0" tIns="0" rIns="0" bIns="0" rtlCol="0" anchor="ctr"/>
          <a:lstStyle/>
          <a:p>
            <a:pPr indent="0" marL="0">
              <a:buNone/>
            </a:pPr>
            <a:r>
              <a:rPr lang="en-US" sz="3400" b="1" dirty="0">
                <a:solidFill>
                  <a:srgbClr val="16202B"/>
                </a:solidFill>
                <a:latin typeface="Cambria" pitchFamily="34" charset="0"/>
                <a:ea typeface="Cambria" pitchFamily="34" charset="-122"/>
                <a:cs typeface="Cambria" pitchFamily="34" charset="-120"/>
              </a:rPr>
              <a:t>Where it does not yet help</a:t>
            </a:r>
            <a:endParaRPr lang="en-US" sz="3400" dirty="0"/>
          </a:p>
        </p:txBody>
      </p:sp>
      <p:sp>
        <p:nvSpPr>
          <p:cNvPr id="3" name="Text 1"/>
          <p:cNvSpPr txBox="1"/>
          <p:nvPr/>
        </p:nvSpPr>
        <p:spPr>
          <a:xfrm>
            <a:off x="566928" y="1060704"/>
            <a:ext cx="10881360"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Taken from the code, the Learn library and the roadmap notes, not inferred</a:t>
            </a:r>
            <a:endParaRPr lang="en-US" sz="1500" dirty="0"/>
          </a:p>
        </p:txBody>
      </p:sp>
      <p:sp>
        <p:nvSpPr>
          <p:cNvPr id="4" name="Shape 2"/>
          <p:cNvSpPr/>
          <p:nvPr/>
        </p:nvSpPr>
        <p:spPr>
          <a:xfrm>
            <a:off x="566928" y="1691640"/>
            <a:ext cx="5349240" cy="1920240"/>
          </a:xfrm>
          <a:prstGeom prst="rect">
            <a:avLst/>
          </a:prstGeom>
          <a:solidFill>
            <a:srgbClr val="EEF3F2"/>
          </a:solidFill>
          <a:ln w="12700">
            <a:solidFill>
              <a:srgbClr val="EEF3F2"/>
            </a:solidFill>
            <a:prstDash val="solid"/>
          </a:ln>
        </p:spPr>
      </p:sp>
      <p:sp>
        <p:nvSpPr>
          <p:cNvPr id="5" name="Text 3"/>
          <p:cNvSpPr txBox="1"/>
          <p:nvPr/>
        </p:nvSpPr>
        <p:spPr>
          <a:xfrm>
            <a:off x="841248" y="1892808"/>
            <a:ext cx="4800600" cy="365760"/>
          </a:xfrm>
          <a:prstGeom prst="rect">
            <a:avLst/>
          </a:prstGeom>
          <a:noFill/>
          <a:ln/>
        </p:spPr>
        <p:txBody>
          <a:bodyPr wrap="square" lIns="0" tIns="0" rIns="0" bIns="0" rtlCol="0" anchor="ctr"/>
          <a:lstStyle/>
          <a:p>
            <a:pPr indent="0" marL="0">
              <a:buNone/>
            </a:pPr>
            <a:r>
              <a:rPr lang="en-US" sz="1600" b="1" dirty="0">
                <a:solidFill>
                  <a:srgbClr val="0F4C43"/>
                </a:solidFill>
                <a:latin typeface="Calibri" pitchFamily="34" charset="0"/>
                <a:ea typeface="Calibri" pitchFamily="34" charset="-122"/>
                <a:cs typeface="Calibri" pitchFamily="34" charset="-120"/>
              </a:rPr>
              <a:t>Designs it will not size</a:t>
            </a:r>
            <a:endParaRPr lang="en-US" sz="1600" dirty="0"/>
          </a:p>
        </p:txBody>
      </p:sp>
      <p:sp>
        <p:nvSpPr>
          <p:cNvPr id="6" name="Text 4"/>
          <p:cNvSpPr txBox="1"/>
          <p:nvPr/>
        </p:nvSpPr>
        <p:spPr>
          <a:xfrm>
            <a:off x="841248" y="2331720"/>
            <a:ext cx="4800600" cy="1143000"/>
          </a:xfrm>
          <a:prstGeom prst="rect">
            <a:avLst/>
          </a:prstGeom>
          <a:noFill/>
          <a:ln/>
        </p:spPr>
        <p:txBody>
          <a:bodyPr wrap="square" lIns="0" tIns="0" rIns="0" bIns="0" rtlCol="0" anchor="t"/>
          <a:lstStyle/>
          <a:p>
            <a:pPr indent="0" marL="0">
              <a:buNone/>
            </a:pPr>
            <a:r>
              <a:rPr lang="en-US" sz="1200" dirty="0">
                <a:solidFill>
                  <a:srgbClr val="16202B"/>
                </a:solidFill>
                <a:latin typeface="Calibri" pitchFamily="34" charset="0"/>
                <a:ea typeface="Calibri" pitchFamily="34" charset="-122"/>
                <a:cs typeface="Calibri" pitchFamily="34" charset="-120"/>
              </a:rPr>
              <a:t>Cluster and stepped-wedge rollouts, mediation, repeated measures, matched case-control, prediction models, equivalence: the method is named and no number is printed. Adaptive, Bayesian, platform and SMART designs have no path at all.</a:t>
            </a:r>
            <a:endParaRPr lang="en-US" sz="1200" dirty="0"/>
          </a:p>
        </p:txBody>
      </p:sp>
      <p:sp>
        <p:nvSpPr>
          <p:cNvPr id="7" name="Shape 5"/>
          <p:cNvSpPr/>
          <p:nvPr/>
        </p:nvSpPr>
        <p:spPr>
          <a:xfrm>
            <a:off x="6236208" y="1691640"/>
            <a:ext cx="5349240" cy="1920240"/>
          </a:xfrm>
          <a:prstGeom prst="rect">
            <a:avLst/>
          </a:prstGeom>
          <a:solidFill>
            <a:srgbClr val="EEF3F2"/>
          </a:solidFill>
          <a:ln w="12700">
            <a:solidFill>
              <a:srgbClr val="EEF3F2"/>
            </a:solidFill>
            <a:prstDash val="solid"/>
          </a:ln>
        </p:spPr>
      </p:sp>
      <p:sp>
        <p:nvSpPr>
          <p:cNvPr id="8" name="Text 6"/>
          <p:cNvSpPr txBox="1"/>
          <p:nvPr/>
        </p:nvSpPr>
        <p:spPr>
          <a:xfrm>
            <a:off x="6510528" y="1892808"/>
            <a:ext cx="4800600" cy="365760"/>
          </a:xfrm>
          <a:prstGeom prst="rect">
            <a:avLst/>
          </a:prstGeom>
          <a:noFill/>
          <a:ln/>
        </p:spPr>
        <p:txBody>
          <a:bodyPr wrap="square" lIns="0" tIns="0" rIns="0" bIns="0" rtlCol="0" anchor="ctr"/>
          <a:lstStyle/>
          <a:p>
            <a:pPr indent="0" marL="0">
              <a:buNone/>
            </a:pPr>
            <a:r>
              <a:rPr lang="en-US" sz="1600" b="1" dirty="0">
                <a:solidFill>
                  <a:srgbClr val="0F4C43"/>
                </a:solidFill>
                <a:latin typeface="Calibri" pitchFamily="34" charset="0"/>
                <a:ea typeface="Calibri" pitchFamily="34" charset="-122"/>
                <a:cs typeface="Calibri" pitchFamily="34" charset="-120"/>
              </a:rPr>
              <a:t>The checks confirm naming, not application</a:t>
            </a:r>
            <a:endParaRPr lang="en-US" sz="1600" dirty="0"/>
          </a:p>
        </p:txBody>
      </p:sp>
      <p:sp>
        <p:nvSpPr>
          <p:cNvPr id="9" name="Text 7"/>
          <p:cNvSpPr txBox="1"/>
          <p:nvPr/>
        </p:nvSpPr>
        <p:spPr>
          <a:xfrm>
            <a:off x="6510528" y="2331720"/>
            <a:ext cx="4800600" cy="1143000"/>
          </a:xfrm>
          <a:prstGeom prst="rect">
            <a:avLst/>
          </a:prstGeom>
          <a:noFill/>
          <a:ln/>
        </p:spPr>
        <p:txBody>
          <a:bodyPr wrap="square" lIns="0" tIns="0" rIns="0" bIns="0" rtlCol="0" anchor="t"/>
          <a:lstStyle/>
          <a:p>
            <a:pPr indent="0" marL="0">
              <a:buNone/>
            </a:pPr>
            <a:r>
              <a:rPr lang="en-US" sz="1200" dirty="0">
                <a:solidFill>
                  <a:srgbClr val="16202B"/>
                </a:solidFill>
                <a:latin typeface="Calibri" pitchFamily="34" charset="0"/>
                <a:ea typeface="Calibri" pitchFamily="34" charset="-122"/>
                <a:cs typeface="Calibri" pitchFamily="34" charset="-120"/>
              </a:rPr>
              <a:t>They confirm a plan named the right method. They cannot confirm it was applied correctly, that its assumptions hold, or that the plan is good. No rule covers interim analyses or alpha spending.</a:t>
            </a:r>
            <a:endParaRPr lang="en-US" sz="1200" dirty="0"/>
          </a:p>
        </p:txBody>
      </p:sp>
      <p:sp>
        <p:nvSpPr>
          <p:cNvPr id="10" name="Shape 8"/>
          <p:cNvSpPr/>
          <p:nvPr/>
        </p:nvSpPr>
        <p:spPr>
          <a:xfrm>
            <a:off x="566928" y="3794760"/>
            <a:ext cx="5349240" cy="1920240"/>
          </a:xfrm>
          <a:prstGeom prst="rect">
            <a:avLst/>
          </a:prstGeom>
          <a:solidFill>
            <a:srgbClr val="EEF3F2"/>
          </a:solidFill>
          <a:ln w="12700">
            <a:solidFill>
              <a:srgbClr val="EEF3F2"/>
            </a:solidFill>
            <a:prstDash val="solid"/>
          </a:ln>
        </p:spPr>
      </p:sp>
      <p:sp>
        <p:nvSpPr>
          <p:cNvPr id="11" name="Text 9"/>
          <p:cNvSpPr txBox="1"/>
          <p:nvPr/>
        </p:nvSpPr>
        <p:spPr>
          <a:xfrm>
            <a:off x="841248" y="3995928"/>
            <a:ext cx="4800600" cy="365760"/>
          </a:xfrm>
          <a:prstGeom prst="rect">
            <a:avLst/>
          </a:prstGeom>
          <a:noFill/>
          <a:ln/>
        </p:spPr>
        <p:txBody>
          <a:bodyPr wrap="square" lIns="0" tIns="0" rIns="0" bIns="0" rtlCol="0" anchor="ctr"/>
          <a:lstStyle/>
          <a:p>
            <a:pPr indent="0" marL="0">
              <a:buNone/>
            </a:pPr>
            <a:r>
              <a:rPr lang="en-US" sz="1600" b="1" dirty="0">
                <a:solidFill>
                  <a:srgbClr val="0F4C43"/>
                </a:solidFill>
                <a:latin typeface="Calibri" pitchFamily="34" charset="0"/>
                <a:ea typeface="Calibri" pitchFamily="34" charset="-122"/>
                <a:cs typeface="Calibri" pitchFamily="34" charset="-120"/>
              </a:rPr>
              <a:t>No independent evaluation</a:t>
            </a:r>
            <a:endParaRPr lang="en-US" sz="1600" dirty="0"/>
          </a:p>
        </p:txBody>
      </p:sp>
      <p:sp>
        <p:nvSpPr>
          <p:cNvPr id="12" name="Text 10"/>
          <p:cNvSpPr txBox="1"/>
          <p:nvPr/>
        </p:nvSpPr>
        <p:spPr>
          <a:xfrm>
            <a:off x="841248" y="4434840"/>
            <a:ext cx="4800600" cy="1143000"/>
          </a:xfrm>
          <a:prstGeom prst="rect">
            <a:avLst/>
          </a:prstGeom>
          <a:noFill/>
          <a:ln/>
        </p:spPr>
        <p:txBody>
          <a:bodyPr wrap="square" lIns="0" tIns="0" rIns="0" bIns="0" rtlCol="0" anchor="t"/>
          <a:lstStyle/>
          <a:p>
            <a:pPr indent="0" marL="0">
              <a:buNone/>
            </a:pPr>
            <a:r>
              <a:rPr lang="en-US" sz="1200" dirty="0">
                <a:solidFill>
                  <a:srgbClr val="16202B"/>
                </a:solidFill>
                <a:latin typeface="Calibri" pitchFamily="34" charset="0"/>
                <a:ea typeface="Calibri" pitchFamily="34" charset="-122"/>
                <a:cs typeface="Calibri" pitchFamily="34" charset="-120"/>
              </a:rPr>
              <a:t>The evaluation was run by the person who built the tool, on scenarios he chose. There is no outcome evidence that studies planned with it are better studies. A September evaluation record measured the write-up step failing on about half of eight attempts.</a:t>
            </a:r>
            <a:endParaRPr lang="en-US" sz="1200" dirty="0"/>
          </a:p>
        </p:txBody>
      </p:sp>
      <p:sp>
        <p:nvSpPr>
          <p:cNvPr id="13" name="Shape 11"/>
          <p:cNvSpPr/>
          <p:nvPr/>
        </p:nvSpPr>
        <p:spPr>
          <a:xfrm>
            <a:off x="6236208" y="3794760"/>
            <a:ext cx="5349240" cy="1920240"/>
          </a:xfrm>
          <a:prstGeom prst="rect">
            <a:avLst/>
          </a:prstGeom>
          <a:solidFill>
            <a:srgbClr val="EEF3F2"/>
          </a:solidFill>
          <a:ln w="12700">
            <a:solidFill>
              <a:srgbClr val="EEF3F2"/>
            </a:solidFill>
            <a:prstDash val="solid"/>
          </a:ln>
        </p:spPr>
      </p:sp>
      <p:sp>
        <p:nvSpPr>
          <p:cNvPr id="14" name="Text 12"/>
          <p:cNvSpPr txBox="1"/>
          <p:nvPr/>
        </p:nvSpPr>
        <p:spPr>
          <a:xfrm>
            <a:off x="6510528" y="3995928"/>
            <a:ext cx="4800600" cy="365760"/>
          </a:xfrm>
          <a:prstGeom prst="rect">
            <a:avLst/>
          </a:prstGeom>
          <a:noFill/>
          <a:ln/>
        </p:spPr>
        <p:txBody>
          <a:bodyPr wrap="square" lIns="0" tIns="0" rIns="0" bIns="0" rtlCol="0" anchor="ctr"/>
          <a:lstStyle/>
          <a:p>
            <a:pPr indent="0" marL="0">
              <a:buNone/>
            </a:pPr>
            <a:r>
              <a:rPr lang="en-US" sz="1600" b="1" dirty="0">
                <a:solidFill>
                  <a:srgbClr val="0F4C43"/>
                </a:solidFill>
                <a:latin typeface="Calibri" pitchFamily="34" charset="0"/>
                <a:ea typeface="Calibri" pitchFamily="34" charset="-122"/>
                <a:cs typeface="Calibri" pitchFamily="34" charset="-120"/>
              </a:rPr>
              <a:t>Code and citations are drafts</a:t>
            </a:r>
            <a:endParaRPr lang="en-US" sz="1600" dirty="0"/>
          </a:p>
        </p:txBody>
      </p:sp>
      <p:sp>
        <p:nvSpPr>
          <p:cNvPr id="15" name="Text 13"/>
          <p:cNvSpPr txBox="1"/>
          <p:nvPr/>
        </p:nvSpPr>
        <p:spPr>
          <a:xfrm>
            <a:off x="6510528" y="4434840"/>
            <a:ext cx="4800600" cy="1143000"/>
          </a:xfrm>
          <a:prstGeom prst="rect">
            <a:avLst/>
          </a:prstGeom>
          <a:noFill/>
          <a:ln/>
        </p:spPr>
        <p:txBody>
          <a:bodyPr wrap="square" lIns="0" tIns="0" rIns="0" bIns="0" rtlCol="0" anchor="t"/>
          <a:lstStyle/>
          <a:p>
            <a:pPr indent="0" marL="0">
              <a:buNone/>
            </a:pPr>
            <a:r>
              <a:rPr lang="en-US" sz="1200" dirty="0">
                <a:solidFill>
                  <a:srgbClr val="16202B"/>
                </a:solidFill>
                <a:latin typeface="Calibri" pitchFamily="34" charset="0"/>
                <a:ea typeface="Calibri" pitchFamily="34" charset="-122"/>
                <a:cs typeface="Calibri" pitchFamily="34" charset="-120"/>
              </a:rPr>
              <a:t>Generated code is never executed, and every export says so. A reference is verified as a PubMed record, not as a claim: the investigator must confirm it supports the use.</a:t>
            </a:r>
            <a:endParaRPr lang="en-US" sz="1200" dirty="0"/>
          </a:p>
        </p:txBody>
      </p:sp>
      <p:sp>
        <p:nvSpPr>
          <p:cNvPr id="16" name="Text 14"/>
          <p:cNvSpPr txBox="1"/>
          <p:nvPr/>
        </p:nvSpPr>
        <p:spPr>
          <a:xfrm>
            <a:off x="566928" y="5943600"/>
            <a:ext cx="10972800" cy="457200"/>
          </a:xfrm>
          <a:prstGeom prst="rect">
            <a:avLst/>
          </a:prstGeom>
          <a:noFill/>
          <a:ln/>
        </p:spPr>
        <p:txBody>
          <a:bodyPr wrap="square" lIns="0" tIns="0" rIns="0" bIns="0" rtlCol="0" anchor="ctr"/>
          <a:lstStyle/>
          <a:p>
            <a:pPr indent="0" marL="0">
              <a:buNone/>
            </a:pPr>
            <a:r>
              <a:rPr lang="en-US" sz="1200" dirty="0">
                <a:solidFill>
                  <a:srgbClr val="5A6B7A"/>
                </a:solidFill>
                <a:latin typeface="Calibri" pitchFamily="34" charset="0"/>
                <a:ea typeface="Calibri" pitchFamily="34" charset="-122"/>
                <a:cs typeface="Calibri" pitchFamily="34" charset="-120"/>
              </a:rPr>
              <a:t>The product's own methods page lists what it refuses: IRB determinations, final interpretation of results, a sample size it cannot justify, replacing collaborators, writing citations from memory.</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3831"/>
        </a:solidFill>
      </p:bgPr>
    </p:bg>
    <p:spTree>
      <p:nvGrpSpPr>
        <p:cNvPr id="1" name=""/>
        <p:cNvGrpSpPr/>
        <p:nvPr/>
      </p:nvGrpSpPr>
      <p:grpSpPr>
        <a:xfrm>
          <a:off x="0" y="0"/>
          <a:ext cx="0" cy="0"/>
          <a:chOff x="0" y="0"/>
          <a:chExt cx="0" cy="0"/>
        </a:xfrm>
      </p:grpSpPr>
      <p:sp>
        <p:nvSpPr>
          <p:cNvPr id="2" name="Text 0"/>
          <p:cNvSpPr txBox="1"/>
          <p:nvPr/>
        </p:nvSpPr>
        <p:spPr>
          <a:xfrm>
            <a:off x="731520" y="64008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What to take from this</a:t>
            </a:r>
            <a:endParaRPr lang="en-US" sz="3600" dirty="0"/>
          </a:p>
        </p:txBody>
      </p:sp>
      <p:sp>
        <p:nvSpPr>
          <p:cNvPr id="3" name="Shape 1"/>
          <p:cNvSpPr/>
          <p:nvPr/>
        </p:nvSpPr>
        <p:spPr>
          <a:xfrm>
            <a:off x="777240" y="1801368"/>
            <a:ext cx="420624" cy="420624"/>
          </a:xfrm>
          <a:prstGeom prst="ellipse">
            <a:avLst/>
          </a:prstGeom>
          <a:solidFill>
            <a:srgbClr val="4E8C7E"/>
          </a:solidFill>
          <a:ln w="12700">
            <a:solidFill>
              <a:srgbClr val="4E8C7E"/>
            </a:solidFill>
            <a:prstDash val="solid"/>
          </a:ln>
        </p:spPr>
      </p:sp>
      <p:sp>
        <p:nvSpPr>
          <p:cNvPr id="4" name="Text 2"/>
          <p:cNvSpPr txBox="1"/>
          <p:nvPr/>
        </p:nvSpPr>
        <p:spPr>
          <a:xfrm>
            <a:off x="777240" y="1801368"/>
            <a:ext cx="420624" cy="420624"/>
          </a:xfrm>
          <a:prstGeom prst="rect">
            <a:avLst/>
          </a:prstGeom>
          <a:noFill/>
          <a:ln/>
        </p:spPr>
        <p:txBody>
          <a:bodyPr wrap="square" lIns="0" tIns="0" rIns="0" bIns="0" rtlCol="0" anchor="ctr"/>
          <a:lstStyle/>
          <a:p>
            <a:pPr algn="ctr" indent="0" marL="0">
              <a:buNone/>
            </a:pPr>
            <a:r>
              <a:rPr lang="en-US" sz="1600" b="1" dirty="0">
                <a:solidFill>
                  <a:srgbClr val="0A3831"/>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417320" y="1764792"/>
            <a:ext cx="96012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The safeguard is typed inputs plus a refusal to print</a:t>
            </a:r>
            <a:endParaRPr lang="en-US" sz="1900" dirty="0"/>
          </a:p>
        </p:txBody>
      </p:sp>
      <p:sp>
        <p:nvSpPr>
          <p:cNvPr id="6" name="Text 4"/>
          <p:cNvSpPr txBox="1"/>
          <p:nvPr/>
        </p:nvSpPr>
        <p:spPr>
          <a:xfrm>
            <a:off x="1417320" y="2148840"/>
            <a:ext cx="9601200" cy="548640"/>
          </a:xfrm>
          <a:prstGeom prst="rect">
            <a:avLst/>
          </a:prstGeom>
          <a:noFill/>
          <a:ln/>
        </p:spPr>
        <p:txBody>
          <a:bodyPr wrap="square" lIns="0" tIns="0" rIns="0" bIns="0" rtlCol="0" anchor="t"/>
          <a:lstStyle/>
          <a:p>
            <a:pPr indent="0" marL="0">
              <a:buNone/>
            </a:pPr>
            <a:r>
              <a:rPr lang="en-US" sz="1400" dirty="0">
                <a:solidFill>
                  <a:srgbClr val="BFD8D2"/>
                </a:solidFill>
                <a:latin typeface="Calibri" pitchFamily="34" charset="0"/>
                <a:ea typeface="Calibri" pitchFamily="34" charset="-122"/>
                <a:cs typeface="Calibri" pitchFamily="34" charset="-120"/>
              </a:rPr>
              <a:t>Any tool can ask good questions. Ask whether it can hold a plan to the answers, and what it does when they contradict.</a:t>
            </a:r>
            <a:endParaRPr lang="en-US" sz="1400" dirty="0"/>
          </a:p>
        </p:txBody>
      </p:sp>
      <p:sp>
        <p:nvSpPr>
          <p:cNvPr id="7" name="Shape 5"/>
          <p:cNvSpPr/>
          <p:nvPr/>
        </p:nvSpPr>
        <p:spPr>
          <a:xfrm>
            <a:off x="777240" y="3008376"/>
            <a:ext cx="420624" cy="420624"/>
          </a:xfrm>
          <a:prstGeom prst="ellipse">
            <a:avLst/>
          </a:prstGeom>
          <a:solidFill>
            <a:srgbClr val="4E8C7E"/>
          </a:solidFill>
          <a:ln w="12700">
            <a:solidFill>
              <a:srgbClr val="4E8C7E"/>
            </a:solidFill>
            <a:prstDash val="solid"/>
          </a:ln>
        </p:spPr>
      </p:sp>
      <p:sp>
        <p:nvSpPr>
          <p:cNvPr id="8" name="Text 6"/>
          <p:cNvSpPr txBox="1"/>
          <p:nvPr/>
        </p:nvSpPr>
        <p:spPr>
          <a:xfrm>
            <a:off x="777240" y="3008376"/>
            <a:ext cx="420624" cy="420624"/>
          </a:xfrm>
          <a:prstGeom prst="rect">
            <a:avLst/>
          </a:prstGeom>
          <a:noFill/>
          <a:ln/>
        </p:spPr>
        <p:txBody>
          <a:bodyPr wrap="square" lIns="0" tIns="0" rIns="0" bIns="0" rtlCol="0" anchor="ctr"/>
          <a:lstStyle/>
          <a:p>
            <a:pPr algn="ctr" indent="0" marL="0">
              <a:buNone/>
            </a:pPr>
            <a:r>
              <a:rPr lang="en-US" sz="1600" b="1" dirty="0">
                <a:solidFill>
                  <a:srgbClr val="0A3831"/>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417320" y="2971800"/>
            <a:ext cx="96012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Treat every output as a draft for a statistician and an IRB</a:t>
            </a:r>
            <a:endParaRPr lang="en-US" sz="1900" dirty="0"/>
          </a:p>
        </p:txBody>
      </p:sp>
      <p:sp>
        <p:nvSpPr>
          <p:cNvPr id="10" name="Text 8"/>
          <p:cNvSpPr txBox="1"/>
          <p:nvPr/>
        </p:nvSpPr>
        <p:spPr>
          <a:xfrm>
            <a:off x="1417320" y="3355848"/>
            <a:ext cx="9601200" cy="548640"/>
          </a:xfrm>
          <a:prstGeom prst="rect">
            <a:avLst/>
          </a:prstGeom>
          <a:noFill/>
          <a:ln/>
        </p:spPr>
        <p:txBody>
          <a:bodyPr wrap="square" lIns="0" tIns="0" rIns="0" bIns="0" rtlCol="0" anchor="t"/>
          <a:lstStyle/>
          <a:p>
            <a:pPr indent="0" marL="0">
              <a:buNone/>
            </a:pPr>
            <a:r>
              <a:rPr lang="en-US" sz="1400" dirty="0">
                <a:solidFill>
                  <a:srgbClr val="BFD8D2"/>
                </a:solidFill>
                <a:latin typeface="Calibri" pitchFamily="34" charset="0"/>
                <a:ea typeface="Calibri" pitchFamily="34" charset="-122"/>
                <a:cs typeface="Calibri" pitchFamily="34" charset="-120"/>
              </a:rPr>
              <a:t>The product says so on every export. The design brief and the pinned facts are what a consultation should start from.</a:t>
            </a:r>
            <a:endParaRPr lang="en-US" sz="1400" dirty="0"/>
          </a:p>
        </p:txBody>
      </p:sp>
      <p:sp>
        <p:nvSpPr>
          <p:cNvPr id="11" name="Shape 9"/>
          <p:cNvSpPr/>
          <p:nvPr/>
        </p:nvSpPr>
        <p:spPr>
          <a:xfrm>
            <a:off x="777240" y="4215384"/>
            <a:ext cx="420624" cy="420624"/>
          </a:xfrm>
          <a:prstGeom prst="ellipse">
            <a:avLst/>
          </a:prstGeom>
          <a:solidFill>
            <a:srgbClr val="4E8C7E"/>
          </a:solidFill>
          <a:ln w="12700">
            <a:solidFill>
              <a:srgbClr val="4E8C7E"/>
            </a:solidFill>
            <a:prstDash val="solid"/>
          </a:ln>
        </p:spPr>
      </p:sp>
      <p:sp>
        <p:nvSpPr>
          <p:cNvPr id="12" name="Text 10"/>
          <p:cNvSpPr txBox="1"/>
          <p:nvPr/>
        </p:nvSpPr>
        <p:spPr>
          <a:xfrm>
            <a:off x="777240" y="4215384"/>
            <a:ext cx="420624" cy="420624"/>
          </a:xfrm>
          <a:prstGeom prst="rect">
            <a:avLst/>
          </a:prstGeom>
          <a:noFill/>
          <a:ln/>
        </p:spPr>
        <p:txBody>
          <a:bodyPr wrap="square" lIns="0" tIns="0" rIns="0" bIns="0" rtlCol="0" anchor="ctr"/>
          <a:lstStyle/>
          <a:p>
            <a:pPr algn="ctr" indent="0" marL="0">
              <a:buNone/>
            </a:pPr>
            <a:r>
              <a:rPr lang="en-US" sz="1600" b="1" dirty="0">
                <a:solidFill>
                  <a:srgbClr val="0A3831"/>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417320" y="4178808"/>
            <a:ext cx="96012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Independent evaluation is the open question</a:t>
            </a:r>
            <a:endParaRPr lang="en-US" sz="1900" dirty="0"/>
          </a:p>
        </p:txBody>
      </p:sp>
      <p:sp>
        <p:nvSpPr>
          <p:cNvPr id="14" name="Text 12"/>
          <p:cNvSpPr txBox="1"/>
          <p:nvPr/>
        </p:nvSpPr>
        <p:spPr>
          <a:xfrm>
            <a:off x="1417320" y="4562856"/>
            <a:ext cx="9601200" cy="548640"/>
          </a:xfrm>
          <a:prstGeom prst="rect">
            <a:avLst/>
          </a:prstGeom>
          <a:noFill/>
          <a:ln/>
        </p:spPr>
        <p:txBody>
          <a:bodyPr wrap="square" lIns="0" tIns="0" rIns="0" bIns="0" rtlCol="0" anchor="t"/>
          <a:lstStyle/>
          <a:p>
            <a:pPr indent="0" marL="0">
              <a:buNone/>
            </a:pPr>
            <a:r>
              <a:rPr lang="en-US" sz="1400" dirty="0">
                <a:solidFill>
                  <a:srgbClr val="BFD8D2"/>
                </a:solidFill>
                <a:latin typeface="Calibri" pitchFamily="34" charset="0"/>
                <a:ea typeface="Calibri" pitchFamily="34" charset="-122"/>
                <a:cs typeface="Calibri" pitchFamily="34" charset="-120"/>
              </a:rPr>
              <a:t>The numerical core is pinned against R. Plan quality has not been independently judged, and that is the work to fund or to decline.</a:t>
            </a:r>
            <a:endParaRPr lang="en-US" sz="1400" dirty="0"/>
          </a:p>
        </p:txBody>
      </p:sp>
      <p:sp>
        <p:nvSpPr>
          <p:cNvPr id="15" name="Shape 13"/>
          <p:cNvSpPr/>
          <p:nvPr/>
        </p:nvSpPr>
        <p:spPr>
          <a:xfrm>
            <a:off x="777240" y="5623560"/>
            <a:ext cx="10607040" cy="18288"/>
          </a:xfrm>
          <a:prstGeom prst="rect">
            <a:avLst/>
          </a:prstGeom>
          <a:solidFill>
            <a:srgbClr val="4E8C7E"/>
          </a:solidFill>
          <a:ln w="12700">
            <a:solidFill>
              <a:srgbClr val="4E8C7E"/>
            </a:solidFill>
            <a:prstDash val="solid"/>
          </a:ln>
        </p:spPr>
      </p:sp>
      <p:sp>
        <p:nvSpPr>
          <p:cNvPr id="16" name="Text 14"/>
          <p:cNvSpPr txBox="1"/>
          <p:nvPr/>
        </p:nvSpPr>
        <p:spPr>
          <a:xfrm>
            <a:off x="777240" y="5806440"/>
            <a:ext cx="106070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Full write-up, process map and the appendix of every decision: Mallard Study Design Process (shared Google Doc).</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Mallard: how a study design plan is made</dc:title>
  <dc:subject>PptxGenJS Presentation</dc:subject>
  <dc:creator>Juleon Rabbani</dc:creator>
  <cp:lastModifiedBy>Juleon Rabbani</cp:lastModifiedBy>
  <cp:revision>1</cp:revision>
  <dcterms:created xsi:type="dcterms:W3CDTF">2026-09-17T16:03:33Z</dcterms:created>
  <dcterms:modified xsi:type="dcterms:W3CDTF">2026-09-17T16:03:33Z</dcterms:modified>
</cp:coreProperties>
</file>