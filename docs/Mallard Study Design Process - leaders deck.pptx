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State the framing line once: models draft and review, code decides what may be printed. Everything that follows is that sentence unpacked. Say early that this is a planning aid for a statistician and an IRB to check, not a replacement for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 point is the division of labour, not the counts. Models supply the reasoning; code supplies the discipline. The last line is the one sentence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Walk the row left to right. Stress three things: the estimand and variables come before the design is recommended; the design is confirmed before a credit is spent; and execution, the write-up and code are drafted only when asked for. The seven generation steps of the pipeline still exist underneath, but the investigator sees these six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this is the slide the audience came for. Pick two cards to say out loud: context never changes validity, and the typed estimand. The closing band is the argument: the safeguard is not the questions but the refusal that follows from typed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diagram is the same loop as the document. The thing to land is that the checks sit below every model and cannot be talked round, and that the loop back to a draft is driven by the investigator's answers, not by the models retrying.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Leaders tend to ask what happens when it is wrong; this is the answer. Four outcomes in increasing weight. The number is what people act on, so the number is what gets withheld.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This is the governance slide. The lanes are the answer to "where is the AI in this": it drafts and reviews; it does not decide what is printed. The next six slides walk the swimlane map panel by panel; the document has the same map with every tag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the panel. Point at the three lanes and the one thing in the sidebar, then move on. If time is short, show panel 5 (revision) only and treat the others as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the panel. Point at the three lanes and the one thing in the sidebar, then move on. If time is short, show panel 5 (revision) only and treat the others as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the panel. Point at the three lanes and the one thing in the sidebar, then move on. If time is short, show panel 5 (revision) only and treat the others as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the panel. Point at the three lanes and the one thing in the sidebar, then move on. If time is short, show panel 5 (revision) only and treat the others as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the panel. Point at the three lanes and the one thing in the sidebar, then move on. If time is short, show panel 5 (revision) only and treat the others as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Do not read the panel. Point at the three lanes and the one thing in the sidebar, then move on. If time is short, show panel 5 (revision) only and treat the others as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Do not read all eleven. Name D4, D8 and D9: the design approval that gates the credit, the save-or-update choice after an edit, and the explicit acceptance of anything regenerated. Appendix A of the document gives every option and its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Lead with these rather than being asked. The independent-evaluation card is the honest one and the audience will respect it. Do not soften the write-up failure rate; say it was measured on eight attempts and has not been re-measured.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then questions. Restate the three points. Point to the document for the six-panel map and Appendix A. Agree a next step and a date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831"/>
        </a:solidFill>
      </p:bgPr>
    </p:bg>
    <p:spTree>
      <p:nvGrpSpPr>
        <p:cNvPr id="1" name=""/>
        <p:cNvGrpSpPr/>
        <p:nvPr/>
      </p:nvGrpSpPr>
      <p:grpSpPr>
        <a:xfrm>
          <a:off x="0" y="0"/>
          <a:ext cx="0" cy="0"/>
          <a:chOff x="0" y="0"/>
          <a:chExt cx="0" cy="0"/>
        </a:xfrm>
      </p:grpSpPr>
      <p:sp>
        <p:nvSpPr>
          <p:cNvPr id="2" name="Text 0"/>
          <p:cNvSpPr txBox="1"/>
          <p:nvPr/>
        </p:nvSpPr>
        <p:spPr>
          <a:xfrm>
            <a:off x="731520" y="1188720"/>
            <a:ext cx="9875520" cy="146304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How Mallard turns a question into a study design plan</a:t>
            </a:r>
            <a:endParaRPr lang="en-US" sz="4400" dirty="0"/>
          </a:p>
        </p:txBody>
      </p:sp>
      <p:sp>
        <p:nvSpPr>
          <p:cNvPr id="3" name="Text 1"/>
          <p:cNvSpPr txBox="1"/>
          <p:nvPr/>
        </p:nvSpPr>
        <p:spPr>
          <a:xfrm>
            <a:off x="731520" y="2788920"/>
            <a:ext cx="8686800" cy="548640"/>
          </a:xfrm>
          <a:prstGeom prst="rect">
            <a:avLst/>
          </a:prstGeom>
          <a:noFill/>
          <a:ln/>
        </p:spPr>
        <p:txBody>
          <a:bodyPr wrap="square" lIns="0" tIns="0" rIns="0" bIns="0" rtlCol="0" anchor="ctr"/>
          <a:lstStyle/>
          <a:p>
            <a:pPr indent="0" marL="0">
              <a:buNone/>
            </a:pPr>
            <a:r>
              <a:rPr lang="en-US" sz="1700" dirty="0">
                <a:solidFill>
                  <a:srgbClr val="BFD8D2"/>
                </a:solidFill>
                <a:latin typeface="Calibri" pitchFamily="34" charset="0"/>
                <a:ea typeface="Calibri" pitchFamily="34" charset="-122"/>
                <a:cs typeface="Calibri" pitchFamily="34" charset="-120"/>
              </a:rPr>
              <a:t>Models draft and review. Deterministic code decides what may be printed.</a:t>
            </a:r>
            <a:endParaRPr lang="en-US" sz="1700" dirty="0"/>
          </a:p>
        </p:txBody>
      </p:sp>
      <p:sp>
        <p:nvSpPr>
          <p:cNvPr id="4" name="Text 2"/>
          <p:cNvSpPr txBox="1"/>
          <p:nvPr/>
        </p:nvSpPr>
        <p:spPr>
          <a:xfrm>
            <a:off x="731520" y="3840480"/>
            <a:ext cx="5486400" cy="274320"/>
          </a:xfrm>
          <a:prstGeom prst="rect">
            <a:avLst/>
          </a:prstGeom>
          <a:noFill/>
          <a:ln/>
        </p:spPr>
        <p:txBody>
          <a:bodyPr wrap="square" lIns="0" tIns="0" rIns="0" bIns="0" rtlCol="0" anchor="ctr"/>
          <a:lstStyle/>
          <a:p>
            <a:pPr indent="0" marL="0">
              <a:buNone/>
            </a:pPr>
            <a:r>
              <a:rPr lang="en-US" sz="1100" b="1" dirty="0">
                <a:solidFill>
                  <a:srgbClr val="4E8C7E"/>
                </a:solidFill>
                <a:latin typeface="Calibri" pitchFamily="34" charset="0"/>
                <a:ea typeface="Calibri" pitchFamily="34" charset="-122"/>
                <a:cs typeface="Calibri" pitchFamily="34" charset="-120"/>
              </a:rPr>
              <a:t>WHAT THIS TALK COVERS</a:t>
            </a:r>
            <a:endParaRPr lang="en-US" sz="1100" dirty="0"/>
          </a:p>
        </p:txBody>
      </p:sp>
      <p:sp>
        <p:nvSpPr>
          <p:cNvPr id="5" name="Text 3"/>
          <p:cNvSpPr txBox="1"/>
          <p:nvPr/>
        </p:nvSpPr>
        <p:spPr>
          <a:xfrm>
            <a:off x="777240" y="4206240"/>
            <a:ext cx="8595360" cy="1554480"/>
          </a:xfrm>
          <a:prstGeom prst="rect">
            <a:avLst/>
          </a:prstGeom>
          <a:noFill/>
          <a:ln/>
        </p:spPr>
        <p:txBody>
          <a:bodyPr wrap="square" lIns="0" tIns="0" rIns="0" bIns="0" rtlCol="0" anchor="ctr"/>
          <a:lstStyle/>
          <a:p>
            <a:pPr marL="342900" indent="-342900">
              <a:spcAft>
                <a:spcPts val="600"/>
              </a:spcAft>
              <a:buSzPct val="100000"/>
              <a:buChar char="•"/>
            </a:pPr>
            <a:r>
              <a:rPr lang="en-US" sz="1600" dirty="0">
                <a:solidFill>
                  <a:srgbClr val="E8F1EF"/>
                </a:solidFill>
                <a:latin typeface="Calibri" pitchFamily="34" charset="0"/>
                <a:ea typeface="Calibri" pitchFamily="34" charset="-122"/>
                <a:cs typeface="Calibri" pitchFamily="34" charset="-120"/>
              </a:rPr>
              <a:t>The seven steps from a plain-language question to a plan</a:t>
            </a:r>
            <a:endParaRPr lang="en-US" sz="1600" dirty="0"/>
          </a:p>
          <a:p>
            <a:pPr marL="342900" indent="-342900">
              <a:spcAft>
                <a:spcPts val="600"/>
              </a:spcAft>
              <a:buSzPct val="100000"/>
              <a:buChar char="•"/>
            </a:pPr>
            <a:r>
              <a:rPr lang="en-US" sz="1600" dirty="0">
                <a:solidFill>
                  <a:srgbClr val="E8F1EF"/>
                </a:solidFill>
                <a:latin typeface="Calibri" pitchFamily="34" charset="0"/>
                <a:ea typeface="Calibri" pitchFamily="34" charset="-122"/>
                <a:cs typeface="Calibri" pitchFamily="34" charset="-120"/>
              </a:rPr>
              <a:t>What it asks for that a general chatbot does not, and why that lowers the risk of statistical malpractice</a:t>
            </a:r>
            <a:endParaRPr lang="en-US" sz="1600" dirty="0"/>
          </a:p>
          <a:p>
            <a:pPr marL="342900" indent="-342900">
              <a:spcAft>
                <a:spcPts val="600"/>
              </a:spcAft>
              <a:buSzPct val="100000"/>
              <a:buChar char="•"/>
            </a:pPr>
            <a:r>
              <a:rPr lang="en-US" sz="1600" dirty="0">
                <a:solidFill>
                  <a:srgbClr val="E8F1EF"/>
                </a:solidFill>
                <a:latin typeface="Calibri" pitchFamily="34" charset="0"/>
                <a:ea typeface="Calibri" pitchFamily="34" charset="-122"/>
                <a:cs typeface="Calibri" pitchFamily="34" charset="-120"/>
              </a:rPr>
              <a:t>Who decides what: the investigator, the models, and the code</a:t>
            </a:r>
            <a:endParaRPr lang="en-US" sz="1600" dirty="0"/>
          </a:p>
          <a:p>
            <a:pPr marL="342900" indent="-342900">
              <a:spcAft>
                <a:spcPts val="600"/>
              </a:spcAft>
              <a:buSzPct val="100000"/>
              <a:buChar char="•"/>
            </a:pPr>
            <a:r>
              <a:rPr lang="en-US" sz="1600" dirty="0">
                <a:solidFill>
                  <a:srgbClr val="E8F1EF"/>
                </a:solidFill>
                <a:latin typeface="Calibri" pitchFamily="34" charset="0"/>
                <a:ea typeface="Calibri" pitchFamily="34" charset="-122"/>
                <a:cs typeface="Calibri" pitchFamily="34" charset="-120"/>
              </a:rPr>
              <a:t>Where it does not yet help</a:t>
            </a:r>
            <a:endParaRPr lang="en-US" sz="1600" dirty="0"/>
          </a:p>
        </p:txBody>
      </p:sp>
      <p:sp>
        <p:nvSpPr>
          <p:cNvPr id="6" name="Text 4"/>
          <p:cNvSpPr txBox="1"/>
          <p:nvPr/>
        </p:nvSpPr>
        <p:spPr>
          <a:xfrm>
            <a:off x="7498080" y="6126480"/>
            <a:ext cx="4114800" cy="274320"/>
          </a:xfrm>
          <a:prstGeom prst="rect">
            <a:avLst/>
          </a:prstGeom>
          <a:noFill/>
          <a:ln/>
        </p:spPr>
        <p:txBody>
          <a:bodyPr wrap="square" lIns="0" tIns="0" rIns="0" bIns="0" rtlCol="0" anchor="ctr"/>
          <a:lstStyle/>
          <a:p>
            <a:pPr algn="r" indent="0" marL="0">
              <a:buNone/>
            </a:pPr>
            <a:r>
              <a:rPr lang="en-US" sz="1100" dirty="0">
                <a:solidFill>
                  <a:srgbClr val="7FA79F"/>
                </a:solidFill>
                <a:latin typeface="Calibri" pitchFamily="34" charset="0"/>
                <a:ea typeface="Calibri" pitchFamily="34" charset="-122"/>
                <a:cs typeface="Calibri" pitchFamily="34" charset="-120"/>
              </a:rPr>
              <a:t>Juleon Rabbani, DrPH  ·  17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A plan is never the output of one model</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Four numbers that describe the process, all read from the deployed code</a:t>
            </a:r>
            <a:endParaRPr lang="en-US" sz="1500" dirty="0"/>
          </a:p>
        </p:txBody>
      </p:sp>
      <p:sp>
        <p:nvSpPr>
          <p:cNvPr id="4" name="Shape 2"/>
          <p:cNvSpPr/>
          <p:nvPr/>
        </p:nvSpPr>
        <p:spPr>
          <a:xfrm>
            <a:off x="566928" y="1737360"/>
            <a:ext cx="2606040" cy="2514600"/>
          </a:xfrm>
          <a:prstGeom prst="rect">
            <a:avLst/>
          </a:prstGeom>
          <a:solidFill>
            <a:srgbClr val="EEF3F2"/>
          </a:solidFill>
          <a:ln w="12700">
            <a:solidFill>
              <a:srgbClr val="EEF3F2"/>
            </a:solidFill>
            <a:prstDash val="solid"/>
          </a:ln>
        </p:spPr>
      </p:sp>
      <p:sp>
        <p:nvSpPr>
          <p:cNvPr id="5" name="Text 3"/>
          <p:cNvSpPr txBox="1"/>
          <p:nvPr/>
        </p:nvSpPr>
        <p:spPr>
          <a:xfrm>
            <a:off x="749808" y="1874520"/>
            <a:ext cx="2240280" cy="1097280"/>
          </a:xfrm>
          <a:prstGeom prst="rect">
            <a:avLst/>
          </a:prstGeom>
          <a:noFill/>
          <a:ln/>
        </p:spPr>
        <p:txBody>
          <a:bodyPr wrap="square" lIns="0" tIns="0" rIns="0" bIns="0" rtlCol="0" anchor="ctr"/>
          <a:lstStyle/>
          <a:p>
            <a:pPr indent="0" marL="0">
              <a:buNone/>
            </a:pPr>
            <a:r>
              <a:rPr lang="en-US" sz="6600" b="1" dirty="0">
                <a:solidFill>
                  <a:srgbClr val="0F4C43"/>
                </a:solidFill>
                <a:latin typeface="Cambria" pitchFamily="34" charset="0"/>
                <a:ea typeface="Cambria" pitchFamily="34" charset="-122"/>
                <a:cs typeface="Cambria" pitchFamily="34" charset="-120"/>
              </a:rPr>
              <a:t>6</a:t>
            </a:r>
            <a:endParaRPr lang="en-US" sz="6600" dirty="0"/>
          </a:p>
        </p:txBody>
      </p:sp>
      <p:sp>
        <p:nvSpPr>
          <p:cNvPr id="6" name="Text 4"/>
          <p:cNvSpPr txBox="1"/>
          <p:nvPr/>
        </p:nvSpPr>
        <p:spPr>
          <a:xfrm>
            <a:off x="749808" y="3017520"/>
            <a:ext cx="2240280" cy="1325880"/>
          </a:xfrm>
          <a:prstGeom prst="rect">
            <a:avLst/>
          </a:prstGeom>
          <a:noFill/>
          <a:ln/>
        </p:spPr>
        <p:txBody>
          <a:bodyPr wrap="square" lIns="0" tIns="0" rIns="0" bIns="0" rtlCol="0" anchor="t"/>
          <a:lstStyle/>
          <a:p>
            <a:pPr indent="0" marL="0">
              <a:buNone/>
            </a:pPr>
            <a:r>
              <a:rPr lang="en-US" sz="1300" dirty="0">
                <a:solidFill>
                  <a:srgbClr val="16202B"/>
                </a:solidFill>
                <a:latin typeface="Calibri" pitchFamily="34" charset="0"/>
                <a:ea typeface="Calibri" pitchFamily="34" charset="-122"/>
                <a:cs typeface="Calibri" pitchFamily="34" charset="-120"/>
              </a:rPr>
              <a:t>workspace phases, each ending in a gate the investigator confirms, with the design settled in Phase 3</a:t>
            </a:r>
            <a:endParaRPr lang="en-US" sz="1300" dirty="0"/>
          </a:p>
        </p:txBody>
      </p:sp>
      <p:sp>
        <p:nvSpPr>
          <p:cNvPr id="7" name="Shape 5"/>
          <p:cNvSpPr/>
          <p:nvPr/>
        </p:nvSpPr>
        <p:spPr>
          <a:xfrm>
            <a:off x="3355848" y="1737360"/>
            <a:ext cx="2606040" cy="2514600"/>
          </a:xfrm>
          <a:prstGeom prst="rect">
            <a:avLst/>
          </a:prstGeom>
          <a:solidFill>
            <a:srgbClr val="EEF3F2"/>
          </a:solidFill>
          <a:ln w="12700">
            <a:solidFill>
              <a:srgbClr val="EEF3F2"/>
            </a:solidFill>
            <a:prstDash val="solid"/>
          </a:ln>
        </p:spPr>
      </p:sp>
      <p:sp>
        <p:nvSpPr>
          <p:cNvPr id="8" name="Text 6"/>
          <p:cNvSpPr txBox="1"/>
          <p:nvPr/>
        </p:nvSpPr>
        <p:spPr>
          <a:xfrm>
            <a:off x="3538728" y="1874520"/>
            <a:ext cx="2240280" cy="1097280"/>
          </a:xfrm>
          <a:prstGeom prst="rect">
            <a:avLst/>
          </a:prstGeom>
          <a:noFill/>
          <a:ln/>
        </p:spPr>
        <p:txBody>
          <a:bodyPr wrap="square" lIns="0" tIns="0" rIns="0" bIns="0" rtlCol="0" anchor="ctr"/>
          <a:lstStyle/>
          <a:p>
            <a:pPr indent="0" marL="0">
              <a:buNone/>
            </a:pPr>
            <a:r>
              <a:rPr lang="en-US" sz="6600" b="1" dirty="0">
                <a:solidFill>
                  <a:srgbClr val="0F4C43"/>
                </a:solidFill>
                <a:latin typeface="Cambria" pitchFamily="34" charset="0"/>
                <a:ea typeface="Cambria" pitchFamily="34" charset="-122"/>
                <a:cs typeface="Cambria" pitchFamily="34" charset="-120"/>
              </a:rPr>
              <a:t>2</a:t>
            </a:r>
            <a:endParaRPr lang="en-US" sz="6600" dirty="0"/>
          </a:p>
        </p:txBody>
      </p:sp>
      <p:sp>
        <p:nvSpPr>
          <p:cNvPr id="9" name="Text 7"/>
          <p:cNvSpPr txBox="1"/>
          <p:nvPr/>
        </p:nvSpPr>
        <p:spPr>
          <a:xfrm>
            <a:off x="3538728" y="3017520"/>
            <a:ext cx="2240280" cy="1325880"/>
          </a:xfrm>
          <a:prstGeom prst="rect">
            <a:avLst/>
          </a:prstGeom>
          <a:noFill/>
          <a:ln/>
        </p:spPr>
        <p:txBody>
          <a:bodyPr wrap="square" lIns="0" tIns="0" rIns="0" bIns="0" rtlCol="0" anchor="t"/>
          <a:lstStyle/>
          <a:p>
            <a:pPr indent="0" marL="0">
              <a:buNone/>
            </a:pPr>
            <a:r>
              <a:rPr lang="en-US" sz="1300" dirty="0">
                <a:solidFill>
                  <a:srgbClr val="16202B"/>
                </a:solidFill>
                <a:latin typeface="Calibri" pitchFamily="34" charset="0"/>
                <a:ea typeface="Calibri" pitchFamily="34" charset="-122"/>
                <a:cs typeface="Calibri" pitchFamily="34" charset="-120"/>
              </a:rPr>
              <a:t>independent model reviewers, Anthropic and OpenAI, merged worst case</a:t>
            </a:r>
            <a:endParaRPr lang="en-US" sz="1300" dirty="0"/>
          </a:p>
        </p:txBody>
      </p:sp>
      <p:sp>
        <p:nvSpPr>
          <p:cNvPr id="10" name="Shape 8"/>
          <p:cNvSpPr/>
          <p:nvPr/>
        </p:nvSpPr>
        <p:spPr>
          <a:xfrm>
            <a:off x="6144768" y="1737360"/>
            <a:ext cx="2606040" cy="2514600"/>
          </a:xfrm>
          <a:prstGeom prst="rect">
            <a:avLst/>
          </a:prstGeom>
          <a:solidFill>
            <a:srgbClr val="EEF3F2"/>
          </a:solidFill>
          <a:ln w="12700">
            <a:solidFill>
              <a:srgbClr val="EEF3F2"/>
            </a:solidFill>
            <a:prstDash val="solid"/>
          </a:ln>
        </p:spPr>
      </p:sp>
      <p:sp>
        <p:nvSpPr>
          <p:cNvPr id="11" name="Text 9"/>
          <p:cNvSpPr txBox="1"/>
          <p:nvPr/>
        </p:nvSpPr>
        <p:spPr>
          <a:xfrm>
            <a:off x="6327648" y="1874520"/>
            <a:ext cx="2240280" cy="1097280"/>
          </a:xfrm>
          <a:prstGeom prst="rect">
            <a:avLst/>
          </a:prstGeom>
          <a:noFill/>
          <a:ln/>
        </p:spPr>
        <p:txBody>
          <a:bodyPr wrap="square" lIns="0" tIns="0" rIns="0" bIns="0" rtlCol="0" anchor="ctr"/>
          <a:lstStyle/>
          <a:p>
            <a:pPr indent="0" marL="0">
              <a:buNone/>
            </a:pPr>
            <a:r>
              <a:rPr lang="en-US" sz="6600" b="1" dirty="0">
                <a:solidFill>
                  <a:srgbClr val="0F4C43"/>
                </a:solidFill>
                <a:latin typeface="Cambria" pitchFamily="34" charset="0"/>
                <a:ea typeface="Cambria" pitchFamily="34" charset="-122"/>
                <a:cs typeface="Cambria" pitchFamily="34" charset="-120"/>
              </a:rPr>
              <a:t>37</a:t>
            </a:r>
            <a:endParaRPr lang="en-US" sz="6600" dirty="0"/>
          </a:p>
        </p:txBody>
      </p:sp>
      <p:sp>
        <p:nvSpPr>
          <p:cNvPr id="12" name="Text 10"/>
          <p:cNvSpPr txBox="1"/>
          <p:nvPr/>
        </p:nvSpPr>
        <p:spPr>
          <a:xfrm>
            <a:off x="6327648" y="3017520"/>
            <a:ext cx="2240280" cy="1325880"/>
          </a:xfrm>
          <a:prstGeom prst="rect">
            <a:avLst/>
          </a:prstGeom>
          <a:noFill/>
          <a:ln/>
        </p:spPr>
        <p:txBody>
          <a:bodyPr wrap="square" lIns="0" tIns="0" rIns="0" bIns="0" rtlCol="0" anchor="t"/>
          <a:lstStyle/>
          <a:p>
            <a:pPr indent="0" marL="0">
              <a:buNone/>
            </a:pPr>
            <a:r>
              <a:rPr lang="en-US" sz="1300" dirty="0">
                <a:solidFill>
                  <a:srgbClr val="16202B"/>
                </a:solidFill>
                <a:latin typeface="Calibri" pitchFamily="34" charset="0"/>
                <a:ea typeface="Calibri" pitchFamily="34" charset="-122"/>
                <a:cs typeface="Calibri" pitchFamily="34" charset="-120"/>
              </a:rPr>
              <a:t>deterministic checks: 17 estimand rules and 20 validators</a:t>
            </a:r>
            <a:endParaRPr lang="en-US" sz="1300" dirty="0"/>
          </a:p>
        </p:txBody>
      </p:sp>
      <p:sp>
        <p:nvSpPr>
          <p:cNvPr id="13" name="Shape 11"/>
          <p:cNvSpPr/>
          <p:nvPr/>
        </p:nvSpPr>
        <p:spPr>
          <a:xfrm>
            <a:off x="8933688" y="1737360"/>
            <a:ext cx="2606040" cy="2514600"/>
          </a:xfrm>
          <a:prstGeom prst="rect">
            <a:avLst/>
          </a:prstGeom>
          <a:solidFill>
            <a:srgbClr val="EEF3F2"/>
          </a:solidFill>
          <a:ln w="12700">
            <a:solidFill>
              <a:srgbClr val="EEF3F2"/>
            </a:solidFill>
            <a:prstDash val="solid"/>
          </a:ln>
        </p:spPr>
      </p:sp>
      <p:sp>
        <p:nvSpPr>
          <p:cNvPr id="14" name="Text 12"/>
          <p:cNvSpPr txBox="1"/>
          <p:nvPr/>
        </p:nvSpPr>
        <p:spPr>
          <a:xfrm>
            <a:off x="9116568" y="1874520"/>
            <a:ext cx="2240280" cy="1097280"/>
          </a:xfrm>
          <a:prstGeom prst="rect">
            <a:avLst/>
          </a:prstGeom>
          <a:noFill/>
          <a:ln/>
        </p:spPr>
        <p:txBody>
          <a:bodyPr wrap="square" lIns="0" tIns="0" rIns="0" bIns="0" rtlCol="0" anchor="ctr"/>
          <a:lstStyle/>
          <a:p>
            <a:pPr indent="0" marL="0">
              <a:buNone/>
            </a:pPr>
            <a:r>
              <a:rPr lang="en-US" sz="6600" b="1" dirty="0">
                <a:solidFill>
                  <a:srgbClr val="0F4C43"/>
                </a:solidFill>
                <a:latin typeface="Cambria" pitchFamily="34" charset="0"/>
                <a:ea typeface="Cambria" pitchFamily="34" charset="-122"/>
                <a:cs typeface="Cambria" pitchFamily="34" charset="-120"/>
              </a:rPr>
              <a:t>7</a:t>
            </a:r>
            <a:endParaRPr lang="en-US" sz="6600" dirty="0"/>
          </a:p>
        </p:txBody>
      </p:sp>
      <p:sp>
        <p:nvSpPr>
          <p:cNvPr id="15" name="Text 13"/>
          <p:cNvSpPr txBox="1"/>
          <p:nvPr/>
        </p:nvSpPr>
        <p:spPr>
          <a:xfrm>
            <a:off x="9116568" y="3017520"/>
            <a:ext cx="2240280" cy="1325880"/>
          </a:xfrm>
          <a:prstGeom prst="rect">
            <a:avLst/>
          </a:prstGeom>
          <a:noFill/>
          <a:ln/>
        </p:spPr>
        <p:txBody>
          <a:bodyPr wrap="square" lIns="0" tIns="0" rIns="0" bIns="0" rtlCol="0" anchor="t"/>
          <a:lstStyle/>
          <a:p>
            <a:pPr indent="0" marL="0">
              <a:buNone/>
            </a:pPr>
            <a:r>
              <a:rPr lang="en-US" sz="1300" dirty="0">
                <a:solidFill>
                  <a:srgbClr val="16202B"/>
                </a:solidFill>
                <a:latin typeface="Calibri" pitchFamily="34" charset="0"/>
                <a:ea typeface="Calibri" pitchFamily="34" charset="-122"/>
                <a:cs typeface="Calibri" pitchFamily="34" charset="-120"/>
              </a:rPr>
              <a:t>check codes that withhold the sample size outright, never with a warning under it</a:t>
            </a:r>
            <a:endParaRPr lang="en-US" sz="1300" dirty="0"/>
          </a:p>
        </p:txBody>
      </p:sp>
      <p:sp>
        <p:nvSpPr>
          <p:cNvPr id="16" name="Text 14"/>
          <p:cNvSpPr txBox="1"/>
          <p:nvPr/>
        </p:nvSpPr>
        <p:spPr>
          <a:xfrm>
            <a:off x="566928" y="4572000"/>
            <a:ext cx="10972800" cy="73152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Two model reviews run only where a wrong answer does the most harm: the design brief and the analysis step. The deterministic checks run on every step, and no model can overrule them.</a:t>
            </a:r>
            <a:endParaRPr lang="en-US" sz="1400" dirty="0"/>
          </a:p>
        </p:txBody>
      </p:sp>
      <p:sp>
        <p:nvSpPr>
          <p:cNvPr id="17" name="Shape 15"/>
          <p:cNvSpPr/>
          <p:nvPr/>
        </p:nvSpPr>
        <p:spPr>
          <a:xfrm>
            <a:off x="548640" y="5742432"/>
            <a:ext cx="11091672" cy="603504"/>
          </a:xfrm>
          <a:prstGeom prst="rect">
            <a:avLst/>
          </a:prstGeom>
          <a:solidFill>
            <a:srgbClr val="EEF3F2"/>
          </a:solidFill>
          <a:ln w="12700">
            <a:solidFill>
              <a:srgbClr val="EEF3F2"/>
            </a:solidFill>
            <a:prstDash val="solid"/>
          </a:ln>
        </p:spPr>
      </p:sp>
      <p:sp>
        <p:nvSpPr>
          <p:cNvPr id="18" name="Text 16"/>
          <p:cNvSpPr txBox="1"/>
          <p:nvPr/>
        </p:nvSpPr>
        <p:spPr>
          <a:xfrm>
            <a:off x="786384" y="5742432"/>
            <a:ext cx="10607040" cy="603504"/>
          </a:xfrm>
          <a:prstGeom prst="rect">
            <a:avLst/>
          </a:prstGeom>
          <a:noFill/>
          <a:ln/>
        </p:spPr>
        <p:txBody>
          <a:bodyPr wrap="square" lIns="0" tIns="0" rIns="0" bIns="0" rtlCol="0" anchor="ctr"/>
          <a:lstStyle/>
          <a:p>
            <a:pPr indent="0" marL="0">
              <a:buNone/>
            </a:pPr>
            <a:r>
              <a:rPr lang="en-US" sz="1450" dirty="0">
                <a:solidFill>
                  <a:srgbClr val="16202B"/>
                </a:solidFill>
                <a:latin typeface="Calibri" pitchFamily="34" charset="0"/>
                <a:ea typeface="Calibri" pitchFamily="34" charset="-122"/>
                <a:cs typeface="Calibri" pitchFamily="34" charset="-120"/>
              </a:rPr>
              <a:t>If the sizing method does not fit what the study measures, the number is withheld rather than shown with a caveat.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Six phases, each ending in a gate the investigator confirms</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The workspace is the default entry; the design is settled in Phase 3 and the plan credit is spent in Phase 4</a:t>
            </a:r>
            <a:endParaRPr lang="en-US" sz="1500" dirty="0"/>
          </a:p>
        </p:txBody>
      </p:sp>
      <p:sp>
        <p:nvSpPr>
          <p:cNvPr id="4" name="Shape 2"/>
          <p:cNvSpPr/>
          <p:nvPr/>
        </p:nvSpPr>
        <p:spPr>
          <a:xfrm>
            <a:off x="566928" y="1554480"/>
            <a:ext cx="118872" cy="118872"/>
          </a:xfrm>
          <a:prstGeom prst="rect">
            <a:avLst/>
          </a:prstGeom>
          <a:solidFill>
            <a:srgbClr val="9A6B0F"/>
          </a:solidFill>
          <a:ln w="12700">
            <a:solidFill>
              <a:srgbClr val="9A6B0F"/>
            </a:solidFill>
            <a:prstDash val="solid"/>
          </a:ln>
        </p:spPr>
      </p:sp>
      <p:sp>
        <p:nvSpPr>
          <p:cNvPr id="5" name="Text 3"/>
          <p:cNvSpPr txBox="1"/>
          <p:nvPr/>
        </p:nvSpPr>
        <p:spPr>
          <a:xfrm>
            <a:off x="749808" y="1490472"/>
            <a:ext cx="4206240" cy="256032"/>
          </a:xfrm>
          <a:prstGeom prst="rect">
            <a:avLst/>
          </a:prstGeom>
          <a:noFill/>
          <a:ln/>
        </p:spPr>
        <p:txBody>
          <a:bodyPr wrap="square" lIns="0" tIns="0" rIns="0" bIns="0" rtlCol="0" anchor="ctr"/>
          <a:lstStyle/>
          <a:p>
            <a:pPr indent="0" marL="0">
              <a:buNone/>
            </a:pPr>
            <a:r>
              <a:rPr lang="en-US" sz="1150" dirty="0">
                <a:solidFill>
                  <a:srgbClr val="556975"/>
                </a:solidFill>
                <a:latin typeface="Calibri" pitchFamily="34" charset="0"/>
                <a:ea typeface="Calibri" pitchFamily="34" charset="-122"/>
                <a:cs typeface="Calibri" pitchFamily="34" charset="-120"/>
              </a:rPr>
              <a:t>Models draft; two labs review the brief and the analyses</a:t>
            </a:r>
            <a:endParaRPr lang="en-US" sz="1150" dirty="0"/>
          </a:p>
        </p:txBody>
      </p:sp>
      <p:sp>
        <p:nvSpPr>
          <p:cNvPr id="6" name="Shape 4"/>
          <p:cNvSpPr/>
          <p:nvPr/>
        </p:nvSpPr>
        <p:spPr>
          <a:xfrm>
            <a:off x="4937760" y="1554480"/>
            <a:ext cx="118872" cy="118872"/>
          </a:xfrm>
          <a:prstGeom prst="rect">
            <a:avLst/>
          </a:prstGeom>
          <a:solidFill>
            <a:srgbClr val="0F4C43"/>
          </a:solidFill>
          <a:ln w="12700">
            <a:solidFill>
              <a:srgbClr val="0F4C43"/>
            </a:solidFill>
            <a:prstDash val="solid"/>
          </a:ln>
        </p:spPr>
      </p:sp>
      <p:sp>
        <p:nvSpPr>
          <p:cNvPr id="7" name="Text 5"/>
          <p:cNvSpPr txBox="1"/>
          <p:nvPr/>
        </p:nvSpPr>
        <p:spPr>
          <a:xfrm>
            <a:off x="5120640" y="1490472"/>
            <a:ext cx="2926080" cy="256032"/>
          </a:xfrm>
          <a:prstGeom prst="rect">
            <a:avLst/>
          </a:prstGeom>
          <a:noFill/>
          <a:ln/>
        </p:spPr>
        <p:txBody>
          <a:bodyPr wrap="square" lIns="0" tIns="0" rIns="0" bIns="0" rtlCol="0" anchor="ctr"/>
          <a:lstStyle/>
          <a:p>
            <a:pPr indent="0" marL="0">
              <a:buNone/>
            </a:pPr>
            <a:r>
              <a:rPr lang="en-US" sz="1150" dirty="0">
                <a:solidFill>
                  <a:srgbClr val="556975"/>
                </a:solidFill>
                <a:latin typeface="Calibri" pitchFamily="34" charset="0"/>
                <a:ea typeface="Calibri" pitchFamily="34" charset="-122"/>
                <a:cs typeface="Calibri" pitchFamily="34" charset="-120"/>
              </a:rPr>
              <a:t>Deterministic gates and checks</a:t>
            </a:r>
            <a:endParaRPr lang="en-US" sz="1150" dirty="0"/>
          </a:p>
        </p:txBody>
      </p:sp>
      <p:sp>
        <p:nvSpPr>
          <p:cNvPr id="8" name="Shape 6"/>
          <p:cNvSpPr/>
          <p:nvPr/>
        </p:nvSpPr>
        <p:spPr>
          <a:xfrm>
            <a:off x="8138160" y="1554480"/>
            <a:ext cx="118872" cy="118872"/>
          </a:xfrm>
          <a:prstGeom prst="rect">
            <a:avLst/>
          </a:prstGeom>
          <a:solidFill>
            <a:srgbClr val="D9AC5A"/>
          </a:solidFill>
          <a:ln w="12700">
            <a:solidFill>
              <a:srgbClr val="D9AC5A"/>
            </a:solidFill>
            <a:prstDash val="solid"/>
          </a:ln>
        </p:spPr>
      </p:sp>
      <p:sp>
        <p:nvSpPr>
          <p:cNvPr id="9" name="Text 7"/>
          <p:cNvSpPr txBox="1"/>
          <p:nvPr/>
        </p:nvSpPr>
        <p:spPr>
          <a:xfrm>
            <a:off x="8321040" y="1490472"/>
            <a:ext cx="3291840" cy="256032"/>
          </a:xfrm>
          <a:prstGeom prst="rect">
            <a:avLst/>
          </a:prstGeom>
          <a:noFill/>
          <a:ln/>
        </p:spPr>
        <p:txBody>
          <a:bodyPr wrap="square" lIns="0" tIns="0" rIns="0" bIns="0" rtlCol="0" anchor="ctr"/>
          <a:lstStyle/>
          <a:p>
            <a:pPr indent="0" marL="0">
              <a:buNone/>
            </a:pPr>
            <a:r>
              <a:rPr lang="en-US" sz="1150" dirty="0">
                <a:solidFill>
                  <a:srgbClr val="556975"/>
                </a:solidFill>
                <a:latin typeface="Calibri" pitchFamily="34" charset="0"/>
                <a:ea typeface="Calibri" pitchFamily="34" charset="-122"/>
                <a:cs typeface="Calibri" pitchFamily="34" charset="-120"/>
              </a:rPr>
              <a:t>Generated on the investigator's press</a:t>
            </a:r>
            <a:endParaRPr lang="en-US" sz="1150" dirty="0"/>
          </a:p>
        </p:txBody>
      </p:sp>
      <p:sp>
        <p:nvSpPr>
          <p:cNvPr id="10" name="Shape 8"/>
          <p:cNvSpPr/>
          <p:nvPr/>
        </p:nvSpPr>
        <p:spPr>
          <a:xfrm>
            <a:off x="566928" y="2011680"/>
            <a:ext cx="1737360" cy="1051560"/>
          </a:xfrm>
          <a:prstGeom prst="roundRect">
            <a:avLst>
              <a:gd name="adj" fmla="val 6957"/>
            </a:avLst>
          </a:prstGeom>
          <a:solidFill>
            <a:srgbClr val="0F4C43"/>
          </a:solidFill>
          <a:ln w="12700">
            <a:solidFill>
              <a:srgbClr val="0F4C43"/>
            </a:solidFill>
            <a:prstDash val="solid"/>
          </a:ln>
        </p:spPr>
      </p:sp>
      <p:sp>
        <p:nvSpPr>
          <p:cNvPr id="11" name="Shape 9"/>
          <p:cNvSpPr/>
          <p:nvPr/>
        </p:nvSpPr>
        <p:spPr>
          <a:xfrm>
            <a:off x="566928" y="2953512"/>
            <a:ext cx="1737360" cy="109728"/>
          </a:xfrm>
          <a:prstGeom prst="rect">
            <a:avLst/>
          </a:prstGeom>
          <a:solidFill>
            <a:srgbClr val="0F4C43"/>
          </a:solidFill>
          <a:ln w="12700">
            <a:solidFill>
              <a:srgbClr val="0F4C43"/>
            </a:solidFill>
            <a:prstDash val="solid"/>
          </a:ln>
        </p:spPr>
      </p:sp>
      <p:sp>
        <p:nvSpPr>
          <p:cNvPr id="12" name="Shape 10"/>
          <p:cNvSpPr/>
          <p:nvPr/>
        </p:nvSpPr>
        <p:spPr>
          <a:xfrm>
            <a:off x="566928" y="3063240"/>
            <a:ext cx="1737360" cy="2148840"/>
          </a:xfrm>
          <a:prstGeom prst="roundRect">
            <a:avLst>
              <a:gd name="adj" fmla="val 4211"/>
            </a:avLst>
          </a:prstGeom>
          <a:solidFill>
            <a:srgbClr val="F7FAF9"/>
          </a:solidFill>
          <a:ln w="12700">
            <a:solidFill>
              <a:srgbClr val="F7FAF9"/>
            </a:solidFill>
            <a:prstDash val="solid"/>
          </a:ln>
        </p:spPr>
      </p:sp>
      <p:sp>
        <p:nvSpPr>
          <p:cNvPr id="13" name="Shape 11"/>
          <p:cNvSpPr/>
          <p:nvPr/>
        </p:nvSpPr>
        <p:spPr>
          <a:xfrm>
            <a:off x="566928" y="3063240"/>
            <a:ext cx="1737360" cy="91440"/>
          </a:xfrm>
          <a:prstGeom prst="rect">
            <a:avLst/>
          </a:prstGeom>
          <a:solidFill>
            <a:srgbClr val="F7FAF9"/>
          </a:solidFill>
          <a:ln w="12700">
            <a:solidFill>
              <a:srgbClr val="F7FAF9"/>
            </a:solidFill>
            <a:prstDash val="solid"/>
          </a:ln>
        </p:spPr>
      </p:sp>
      <p:sp>
        <p:nvSpPr>
          <p:cNvPr id="14" name="Text 12"/>
          <p:cNvSpPr txBox="1"/>
          <p:nvPr/>
        </p:nvSpPr>
        <p:spPr>
          <a:xfrm>
            <a:off x="731520" y="2112264"/>
            <a:ext cx="1408176" cy="201168"/>
          </a:xfrm>
          <a:prstGeom prst="rect">
            <a:avLst/>
          </a:prstGeom>
          <a:noFill/>
          <a:ln/>
        </p:spPr>
        <p:txBody>
          <a:bodyPr wrap="square" lIns="0" tIns="0" rIns="0" bIns="0" rtlCol="0" anchor="ctr"/>
          <a:lstStyle/>
          <a:p>
            <a:pPr indent="0" marL="0">
              <a:buNone/>
            </a:pPr>
            <a:r>
              <a:rPr lang="en-US" sz="950" b="1" dirty="0">
                <a:solidFill>
                  <a:srgbClr val="8FC3B5"/>
                </a:solidFill>
                <a:latin typeface="Consolas" pitchFamily="34" charset="0"/>
                <a:ea typeface="Consolas" pitchFamily="34" charset="-122"/>
                <a:cs typeface="Consolas" pitchFamily="34" charset="-120"/>
              </a:rPr>
              <a:t>PHASE 1</a:t>
            </a:r>
            <a:endParaRPr lang="en-US" sz="950" dirty="0"/>
          </a:p>
        </p:txBody>
      </p:sp>
      <p:sp>
        <p:nvSpPr>
          <p:cNvPr id="15" name="Text 13"/>
          <p:cNvSpPr txBox="1"/>
          <p:nvPr/>
        </p:nvSpPr>
        <p:spPr>
          <a:xfrm>
            <a:off x="731520" y="2304288"/>
            <a:ext cx="1408176" cy="667512"/>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Question and aims</a:t>
            </a:r>
            <a:endParaRPr lang="en-US" sz="1400" dirty="0"/>
          </a:p>
        </p:txBody>
      </p:sp>
      <p:sp>
        <p:nvSpPr>
          <p:cNvPr id="16" name="Text 14"/>
          <p:cNvSpPr txBox="1"/>
          <p:nvPr/>
        </p:nvSpPr>
        <p:spPr>
          <a:xfrm>
            <a:off x="713232" y="3191256"/>
            <a:ext cx="1444752" cy="1892808"/>
          </a:xfrm>
          <a:prstGeom prst="rect">
            <a:avLst/>
          </a:prstGeom>
          <a:noFill/>
          <a:ln/>
        </p:spPr>
        <p:txBody>
          <a:bodyPr wrap="square" lIns="0" tIns="0" rIns="0" bIns="0" rtlCol="0" anchor="t"/>
          <a:lstStyle/>
          <a:p>
            <a:pPr indent="0" marL="0">
              <a:spcAft>
                <a:spcPts val="400"/>
              </a:spcAft>
              <a:buNone/>
            </a:pPr>
            <a:endParaRPr lang="en-US" sz="900" dirty="0"/>
          </a:p>
        </p:txBody>
      </p:sp>
      <p:sp>
        <p:nvSpPr>
          <p:cNvPr id="17" name="Text 15"/>
          <p:cNvSpPr txBox="1"/>
          <p:nvPr/>
        </p:nvSpPr>
        <p:spPr>
          <a:xfrm>
            <a:off x="694944" y="3200400"/>
            <a:ext cx="1481328" cy="1600200"/>
          </a:xfrm>
          <a:prstGeom prst="rect">
            <a:avLst/>
          </a:prstGeom>
          <a:noFill/>
          <a:ln/>
        </p:spPr>
        <p:txBody>
          <a:bodyPr wrap="square" lIns="0" tIns="0" rIns="0" bIns="0" rtlCol="0" anchor="t"/>
          <a:lstStyle/>
          <a:p>
            <a:pPr indent="0" marL="0">
              <a:spcAft>
                <a:spcPts val="600"/>
              </a:spcAft>
              <a:buNone/>
            </a:pPr>
            <a:r>
              <a:rPr lang="en-US" sz="950" dirty="0">
                <a:solidFill>
                  <a:srgbClr val="16202B"/>
                </a:solidFill>
                <a:latin typeface="Calibri" pitchFamily="34" charset="0"/>
                <a:ea typeface="Calibri" pitchFamily="34" charset="-122"/>
                <a:cs typeface="Calibri" pitchFamily="34" charset="-120"/>
              </a:rPr>
              <a:t>Aims suggested with placeholders; roles and claims set; the aims check; a PubMed literature scan.</a:t>
            </a:r>
            <a:endParaRPr lang="en-US" sz="950" dirty="0"/>
          </a:p>
          <a:p>
            <a:pPr indent="0" marL="0">
              <a:buNone/>
            </a:pPr>
            <a:r>
              <a:rPr lang="en-US" sz="950" b="1" dirty="0">
                <a:solidFill>
                  <a:srgbClr val="0F4C43"/>
                </a:solidFill>
                <a:latin typeface="Calibri" pitchFamily="34" charset="0"/>
                <a:ea typeface="Calibri" pitchFamily="34" charset="-122"/>
                <a:cs typeface="Calibri" pitchFamily="34" charset="-120"/>
              </a:rPr>
              <a:t>Free. Gate: 1 to 3 aims with roles.</a:t>
            </a:r>
            <a:endParaRPr lang="en-US" sz="950" dirty="0"/>
          </a:p>
        </p:txBody>
      </p:sp>
      <p:sp>
        <p:nvSpPr>
          <p:cNvPr id="18" name="Shape 16"/>
          <p:cNvSpPr/>
          <p:nvPr/>
        </p:nvSpPr>
        <p:spPr>
          <a:xfrm>
            <a:off x="694944" y="4937760"/>
            <a:ext cx="118872" cy="118872"/>
          </a:xfrm>
          <a:prstGeom prst="rect">
            <a:avLst/>
          </a:prstGeom>
          <a:solidFill>
            <a:srgbClr val="9A6B0F"/>
          </a:solidFill>
          <a:ln w="12700">
            <a:solidFill>
              <a:srgbClr val="9A6B0F"/>
            </a:solidFill>
            <a:prstDash val="solid"/>
          </a:ln>
        </p:spPr>
      </p:sp>
      <p:sp>
        <p:nvSpPr>
          <p:cNvPr id="19" name="Shape 17"/>
          <p:cNvSpPr/>
          <p:nvPr/>
        </p:nvSpPr>
        <p:spPr>
          <a:xfrm>
            <a:off x="2437790" y="2011680"/>
            <a:ext cx="1737360" cy="1051560"/>
          </a:xfrm>
          <a:prstGeom prst="roundRect">
            <a:avLst>
              <a:gd name="adj" fmla="val 6957"/>
            </a:avLst>
          </a:prstGeom>
          <a:solidFill>
            <a:srgbClr val="0F4C43"/>
          </a:solidFill>
          <a:ln w="12700">
            <a:solidFill>
              <a:srgbClr val="0F4C43"/>
            </a:solidFill>
            <a:prstDash val="solid"/>
          </a:ln>
        </p:spPr>
      </p:sp>
      <p:sp>
        <p:nvSpPr>
          <p:cNvPr id="20" name="Shape 18"/>
          <p:cNvSpPr/>
          <p:nvPr/>
        </p:nvSpPr>
        <p:spPr>
          <a:xfrm>
            <a:off x="2437790" y="2953512"/>
            <a:ext cx="1737360" cy="109728"/>
          </a:xfrm>
          <a:prstGeom prst="rect">
            <a:avLst/>
          </a:prstGeom>
          <a:solidFill>
            <a:srgbClr val="0F4C43"/>
          </a:solidFill>
          <a:ln w="12700">
            <a:solidFill>
              <a:srgbClr val="0F4C43"/>
            </a:solidFill>
            <a:prstDash val="solid"/>
          </a:ln>
        </p:spPr>
      </p:sp>
      <p:sp>
        <p:nvSpPr>
          <p:cNvPr id="21" name="Shape 19"/>
          <p:cNvSpPr/>
          <p:nvPr/>
        </p:nvSpPr>
        <p:spPr>
          <a:xfrm>
            <a:off x="2437790" y="3063240"/>
            <a:ext cx="1737360" cy="2148840"/>
          </a:xfrm>
          <a:prstGeom prst="roundRect">
            <a:avLst>
              <a:gd name="adj" fmla="val 4211"/>
            </a:avLst>
          </a:prstGeom>
          <a:solidFill>
            <a:srgbClr val="F7FAF9"/>
          </a:solidFill>
          <a:ln w="12700">
            <a:solidFill>
              <a:srgbClr val="F7FAF9"/>
            </a:solidFill>
            <a:prstDash val="solid"/>
          </a:ln>
        </p:spPr>
      </p:sp>
      <p:sp>
        <p:nvSpPr>
          <p:cNvPr id="22" name="Shape 20"/>
          <p:cNvSpPr/>
          <p:nvPr/>
        </p:nvSpPr>
        <p:spPr>
          <a:xfrm>
            <a:off x="2437790" y="3063240"/>
            <a:ext cx="1737360" cy="91440"/>
          </a:xfrm>
          <a:prstGeom prst="rect">
            <a:avLst/>
          </a:prstGeom>
          <a:solidFill>
            <a:srgbClr val="F7FAF9"/>
          </a:solidFill>
          <a:ln w="12700">
            <a:solidFill>
              <a:srgbClr val="F7FAF9"/>
            </a:solidFill>
            <a:prstDash val="solid"/>
          </a:ln>
        </p:spPr>
      </p:sp>
      <p:sp>
        <p:nvSpPr>
          <p:cNvPr id="23" name="Text 21"/>
          <p:cNvSpPr txBox="1"/>
          <p:nvPr/>
        </p:nvSpPr>
        <p:spPr>
          <a:xfrm>
            <a:off x="2602382" y="2112264"/>
            <a:ext cx="1408176" cy="201168"/>
          </a:xfrm>
          <a:prstGeom prst="rect">
            <a:avLst/>
          </a:prstGeom>
          <a:noFill/>
          <a:ln/>
        </p:spPr>
        <p:txBody>
          <a:bodyPr wrap="square" lIns="0" tIns="0" rIns="0" bIns="0" rtlCol="0" anchor="ctr"/>
          <a:lstStyle/>
          <a:p>
            <a:pPr indent="0" marL="0">
              <a:buNone/>
            </a:pPr>
            <a:r>
              <a:rPr lang="en-US" sz="950" b="1" dirty="0">
                <a:solidFill>
                  <a:srgbClr val="8FC3B5"/>
                </a:solidFill>
                <a:latin typeface="Consolas" pitchFamily="34" charset="0"/>
                <a:ea typeface="Consolas" pitchFamily="34" charset="-122"/>
                <a:cs typeface="Consolas" pitchFamily="34" charset="-120"/>
              </a:rPr>
              <a:t>PHASE 2</a:t>
            </a:r>
            <a:endParaRPr lang="en-US" sz="950" dirty="0"/>
          </a:p>
        </p:txBody>
      </p:sp>
      <p:sp>
        <p:nvSpPr>
          <p:cNvPr id="24" name="Text 22"/>
          <p:cNvSpPr txBox="1"/>
          <p:nvPr/>
        </p:nvSpPr>
        <p:spPr>
          <a:xfrm>
            <a:off x="2602382" y="2304288"/>
            <a:ext cx="1408176" cy="667512"/>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Feasibility</a:t>
            </a:r>
            <a:endParaRPr lang="en-US" sz="1400" dirty="0"/>
          </a:p>
        </p:txBody>
      </p:sp>
      <p:sp>
        <p:nvSpPr>
          <p:cNvPr id="25" name="Text 23"/>
          <p:cNvSpPr txBox="1"/>
          <p:nvPr/>
        </p:nvSpPr>
        <p:spPr>
          <a:xfrm>
            <a:off x="2584094" y="3191256"/>
            <a:ext cx="1444752" cy="1892808"/>
          </a:xfrm>
          <a:prstGeom prst="rect">
            <a:avLst/>
          </a:prstGeom>
          <a:noFill/>
          <a:ln/>
        </p:spPr>
        <p:txBody>
          <a:bodyPr wrap="square" lIns="0" tIns="0" rIns="0" bIns="0" rtlCol="0" anchor="t"/>
          <a:lstStyle/>
          <a:p>
            <a:pPr indent="0" marL="0">
              <a:spcAft>
                <a:spcPts val="400"/>
              </a:spcAft>
              <a:buNone/>
            </a:pPr>
            <a:endParaRPr lang="en-US" sz="900" dirty="0"/>
          </a:p>
        </p:txBody>
      </p:sp>
      <p:sp>
        <p:nvSpPr>
          <p:cNvPr id="26" name="Text 24"/>
          <p:cNvSpPr txBox="1"/>
          <p:nvPr/>
        </p:nvSpPr>
        <p:spPr>
          <a:xfrm>
            <a:off x="2565806" y="3200400"/>
            <a:ext cx="1481328" cy="1600200"/>
          </a:xfrm>
          <a:prstGeom prst="rect">
            <a:avLst/>
          </a:prstGeom>
          <a:noFill/>
          <a:ln/>
        </p:spPr>
        <p:txBody>
          <a:bodyPr wrap="square" lIns="0" tIns="0" rIns="0" bIns="0" rtlCol="0" anchor="t"/>
          <a:lstStyle/>
          <a:p>
            <a:pPr indent="0" marL="0">
              <a:spcAft>
                <a:spcPts val="600"/>
              </a:spcAft>
              <a:buNone/>
            </a:pPr>
            <a:r>
              <a:rPr lang="en-US" sz="950" dirty="0">
                <a:solidFill>
                  <a:srgbClr val="16202B"/>
                </a:solidFill>
                <a:latin typeface="Calibri" pitchFamily="34" charset="0"/>
                <a:ea typeface="Calibri" pitchFamily="34" charset="-122"/>
                <a:cs typeface="Calibri" pitchFamily="34" charset="-120"/>
              </a:rPr>
              <a:t>Seven questions, each answered with a basis and an owner; the variable map on request.</a:t>
            </a:r>
            <a:endParaRPr lang="en-US" sz="950" dirty="0"/>
          </a:p>
          <a:p>
            <a:pPr indent="0" marL="0">
              <a:buNone/>
            </a:pPr>
            <a:r>
              <a:rPr lang="en-US" sz="950" b="1" dirty="0">
                <a:solidFill>
                  <a:srgbClr val="0F4C43"/>
                </a:solidFill>
                <a:latin typeface="Calibri" pitchFamily="34" charset="0"/>
                <a:ea typeface="Calibri" pitchFamily="34" charset="-122"/>
                <a:cs typeface="Calibri" pitchFamily="34" charset="-120"/>
              </a:rPr>
              <a:t>Free. Gate: every row has a basis and a result.</a:t>
            </a:r>
            <a:endParaRPr lang="en-US" sz="950" dirty="0"/>
          </a:p>
        </p:txBody>
      </p:sp>
      <p:sp>
        <p:nvSpPr>
          <p:cNvPr id="27" name="Shape 25"/>
          <p:cNvSpPr/>
          <p:nvPr/>
        </p:nvSpPr>
        <p:spPr>
          <a:xfrm>
            <a:off x="2565806" y="4937760"/>
            <a:ext cx="118872" cy="118872"/>
          </a:xfrm>
          <a:prstGeom prst="rect">
            <a:avLst/>
          </a:prstGeom>
          <a:solidFill>
            <a:srgbClr val="0F4C43"/>
          </a:solidFill>
          <a:ln w="12700">
            <a:solidFill>
              <a:srgbClr val="0F4C43"/>
            </a:solidFill>
            <a:prstDash val="solid"/>
          </a:ln>
        </p:spPr>
      </p:sp>
      <p:sp>
        <p:nvSpPr>
          <p:cNvPr id="28" name="Shape 26"/>
          <p:cNvSpPr/>
          <p:nvPr/>
        </p:nvSpPr>
        <p:spPr>
          <a:xfrm>
            <a:off x="4308653" y="2011680"/>
            <a:ext cx="1737360" cy="1051560"/>
          </a:xfrm>
          <a:prstGeom prst="roundRect">
            <a:avLst>
              <a:gd name="adj" fmla="val 6957"/>
            </a:avLst>
          </a:prstGeom>
          <a:solidFill>
            <a:srgbClr val="0F4C43"/>
          </a:solidFill>
          <a:ln w="12700">
            <a:solidFill>
              <a:srgbClr val="0F4C43"/>
            </a:solidFill>
            <a:prstDash val="solid"/>
          </a:ln>
        </p:spPr>
      </p:sp>
      <p:sp>
        <p:nvSpPr>
          <p:cNvPr id="29" name="Shape 27"/>
          <p:cNvSpPr/>
          <p:nvPr/>
        </p:nvSpPr>
        <p:spPr>
          <a:xfrm>
            <a:off x="4308653" y="2953512"/>
            <a:ext cx="1737360" cy="109728"/>
          </a:xfrm>
          <a:prstGeom prst="rect">
            <a:avLst/>
          </a:prstGeom>
          <a:solidFill>
            <a:srgbClr val="0F4C43"/>
          </a:solidFill>
          <a:ln w="12700">
            <a:solidFill>
              <a:srgbClr val="0F4C43"/>
            </a:solidFill>
            <a:prstDash val="solid"/>
          </a:ln>
        </p:spPr>
      </p:sp>
      <p:sp>
        <p:nvSpPr>
          <p:cNvPr id="30" name="Shape 28"/>
          <p:cNvSpPr/>
          <p:nvPr/>
        </p:nvSpPr>
        <p:spPr>
          <a:xfrm>
            <a:off x="4308653" y="3063240"/>
            <a:ext cx="1737360" cy="2148840"/>
          </a:xfrm>
          <a:prstGeom prst="roundRect">
            <a:avLst>
              <a:gd name="adj" fmla="val 4211"/>
            </a:avLst>
          </a:prstGeom>
          <a:solidFill>
            <a:srgbClr val="F7FAF9"/>
          </a:solidFill>
          <a:ln w="12700">
            <a:solidFill>
              <a:srgbClr val="F7FAF9"/>
            </a:solidFill>
            <a:prstDash val="solid"/>
          </a:ln>
        </p:spPr>
      </p:sp>
      <p:sp>
        <p:nvSpPr>
          <p:cNvPr id="31" name="Shape 29"/>
          <p:cNvSpPr/>
          <p:nvPr/>
        </p:nvSpPr>
        <p:spPr>
          <a:xfrm>
            <a:off x="4308653" y="3063240"/>
            <a:ext cx="1737360" cy="91440"/>
          </a:xfrm>
          <a:prstGeom prst="rect">
            <a:avLst/>
          </a:prstGeom>
          <a:solidFill>
            <a:srgbClr val="F7FAF9"/>
          </a:solidFill>
          <a:ln w="12700">
            <a:solidFill>
              <a:srgbClr val="F7FAF9"/>
            </a:solidFill>
            <a:prstDash val="solid"/>
          </a:ln>
        </p:spPr>
      </p:sp>
      <p:sp>
        <p:nvSpPr>
          <p:cNvPr id="32" name="Text 30"/>
          <p:cNvSpPr txBox="1"/>
          <p:nvPr/>
        </p:nvSpPr>
        <p:spPr>
          <a:xfrm>
            <a:off x="4473245" y="2112264"/>
            <a:ext cx="1408176" cy="201168"/>
          </a:xfrm>
          <a:prstGeom prst="rect">
            <a:avLst/>
          </a:prstGeom>
          <a:noFill/>
          <a:ln/>
        </p:spPr>
        <p:txBody>
          <a:bodyPr wrap="square" lIns="0" tIns="0" rIns="0" bIns="0" rtlCol="0" anchor="ctr"/>
          <a:lstStyle/>
          <a:p>
            <a:pPr indent="0" marL="0">
              <a:buNone/>
            </a:pPr>
            <a:r>
              <a:rPr lang="en-US" sz="950" b="1" dirty="0">
                <a:solidFill>
                  <a:srgbClr val="8FC3B5"/>
                </a:solidFill>
                <a:latin typeface="Consolas" pitchFamily="34" charset="0"/>
                <a:ea typeface="Consolas" pitchFamily="34" charset="-122"/>
                <a:cs typeface="Consolas" pitchFamily="34" charset="-120"/>
              </a:rPr>
              <a:t>PHASE 3</a:t>
            </a:r>
            <a:endParaRPr lang="en-US" sz="950" dirty="0"/>
          </a:p>
        </p:txBody>
      </p:sp>
      <p:sp>
        <p:nvSpPr>
          <p:cNvPr id="33" name="Text 31"/>
          <p:cNvSpPr txBox="1"/>
          <p:nvPr/>
        </p:nvSpPr>
        <p:spPr>
          <a:xfrm>
            <a:off x="4473245" y="2304288"/>
            <a:ext cx="1408176" cy="667512"/>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Design confirmation</a:t>
            </a:r>
            <a:endParaRPr lang="en-US" sz="1400" dirty="0"/>
          </a:p>
        </p:txBody>
      </p:sp>
      <p:sp>
        <p:nvSpPr>
          <p:cNvPr id="34" name="Text 32"/>
          <p:cNvSpPr txBox="1"/>
          <p:nvPr/>
        </p:nvSpPr>
        <p:spPr>
          <a:xfrm>
            <a:off x="4454957" y="3191256"/>
            <a:ext cx="1444752" cy="1892808"/>
          </a:xfrm>
          <a:prstGeom prst="rect">
            <a:avLst/>
          </a:prstGeom>
          <a:noFill/>
          <a:ln/>
        </p:spPr>
        <p:txBody>
          <a:bodyPr wrap="square" lIns="0" tIns="0" rIns="0" bIns="0" rtlCol="0" anchor="t"/>
          <a:lstStyle/>
          <a:p>
            <a:pPr indent="0" marL="0">
              <a:spcAft>
                <a:spcPts val="400"/>
              </a:spcAft>
              <a:buNone/>
            </a:pPr>
            <a:endParaRPr lang="en-US" sz="900" dirty="0"/>
          </a:p>
        </p:txBody>
      </p:sp>
      <p:sp>
        <p:nvSpPr>
          <p:cNvPr id="35" name="Text 33"/>
          <p:cNvSpPr txBox="1"/>
          <p:nvPr/>
        </p:nvSpPr>
        <p:spPr>
          <a:xfrm>
            <a:off x="4436669" y="3200400"/>
            <a:ext cx="1481328" cy="1600200"/>
          </a:xfrm>
          <a:prstGeom prst="rect">
            <a:avLst/>
          </a:prstGeom>
          <a:noFill/>
          <a:ln/>
        </p:spPr>
        <p:txBody>
          <a:bodyPr wrap="square" lIns="0" tIns="0" rIns="0" bIns="0" rtlCol="0" anchor="t"/>
          <a:lstStyle/>
          <a:p>
            <a:pPr indent="0" marL="0">
              <a:spcAft>
                <a:spcPts val="600"/>
              </a:spcAft>
              <a:buNone/>
            </a:pPr>
            <a:r>
              <a:rPr lang="en-US" sz="950" dirty="0">
                <a:solidFill>
                  <a:srgbClr val="16202B"/>
                </a:solidFill>
                <a:latin typeface="Calibri" pitchFamily="34" charset="0"/>
                <a:ea typeface="Calibri" pitchFamily="34" charset="-122"/>
                <a:cs typeface="Calibri" pitchFamily="34" charset="-120"/>
              </a:rPr>
              <a:t>Estimand and variables first, then the free brief: design, conditions, up to three alternatives.</a:t>
            </a:r>
            <a:endParaRPr lang="en-US" sz="950" dirty="0"/>
          </a:p>
          <a:p>
            <a:pPr indent="0" marL="0">
              <a:buNone/>
            </a:pPr>
            <a:r>
              <a:rPr lang="en-US" sz="950" b="1" dirty="0">
                <a:solidFill>
                  <a:srgbClr val="0F4C43"/>
                </a:solidFill>
                <a:latin typeface="Calibri" pitchFamily="34" charset="0"/>
                <a:ea typeface="Calibri" pitchFamily="34" charset="-122"/>
                <a:cs typeface="Calibri" pitchFamily="34" charset="-120"/>
              </a:rPr>
              <a:t>Free brief. Gate: estimand, variables, design confirmed.</a:t>
            </a:r>
            <a:endParaRPr lang="en-US" sz="950" dirty="0"/>
          </a:p>
        </p:txBody>
      </p:sp>
      <p:sp>
        <p:nvSpPr>
          <p:cNvPr id="36" name="Shape 34"/>
          <p:cNvSpPr/>
          <p:nvPr/>
        </p:nvSpPr>
        <p:spPr>
          <a:xfrm>
            <a:off x="4436669" y="4937760"/>
            <a:ext cx="118872" cy="118872"/>
          </a:xfrm>
          <a:prstGeom prst="rect">
            <a:avLst/>
          </a:prstGeom>
          <a:solidFill>
            <a:srgbClr val="9A6B0F"/>
          </a:solidFill>
          <a:ln w="12700">
            <a:solidFill>
              <a:srgbClr val="9A6B0F"/>
            </a:solidFill>
            <a:prstDash val="solid"/>
          </a:ln>
        </p:spPr>
      </p:sp>
      <p:sp>
        <p:nvSpPr>
          <p:cNvPr id="37" name="Shape 35"/>
          <p:cNvSpPr/>
          <p:nvPr/>
        </p:nvSpPr>
        <p:spPr>
          <a:xfrm>
            <a:off x="6179515" y="2011680"/>
            <a:ext cx="1737360" cy="1051560"/>
          </a:xfrm>
          <a:prstGeom prst="roundRect">
            <a:avLst>
              <a:gd name="adj" fmla="val 6957"/>
            </a:avLst>
          </a:prstGeom>
          <a:solidFill>
            <a:srgbClr val="0F4C43"/>
          </a:solidFill>
          <a:ln w="12700">
            <a:solidFill>
              <a:srgbClr val="0F4C43"/>
            </a:solidFill>
            <a:prstDash val="solid"/>
          </a:ln>
        </p:spPr>
      </p:sp>
      <p:sp>
        <p:nvSpPr>
          <p:cNvPr id="38" name="Shape 36"/>
          <p:cNvSpPr/>
          <p:nvPr/>
        </p:nvSpPr>
        <p:spPr>
          <a:xfrm>
            <a:off x="6179515" y="2953512"/>
            <a:ext cx="1737360" cy="109728"/>
          </a:xfrm>
          <a:prstGeom prst="rect">
            <a:avLst/>
          </a:prstGeom>
          <a:solidFill>
            <a:srgbClr val="0F4C43"/>
          </a:solidFill>
          <a:ln w="12700">
            <a:solidFill>
              <a:srgbClr val="0F4C43"/>
            </a:solidFill>
            <a:prstDash val="solid"/>
          </a:ln>
        </p:spPr>
      </p:sp>
      <p:sp>
        <p:nvSpPr>
          <p:cNvPr id="39" name="Shape 37"/>
          <p:cNvSpPr/>
          <p:nvPr/>
        </p:nvSpPr>
        <p:spPr>
          <a:xfrm>
            <a:off x="6179515" y="3063240"/>
            <a:ext cx="1737360" cy="2148840"/>
          </a:xfrm>
          <a:prstGeom prst="roundRect">
            <a:avLst>
              <a:gd name="adj" fmla="val 4211"/>
            </a:avLst>
          </a:prstGeom>
          <a:solidFill>
            <a:srgbClr val="F7FAF9"/>
          </a:solidFill>
          <a:ln w="12700">
            <a:solidFill>
              <a:srgbClr val="F7FAF9"/>
            </a:solidFill>
            <a:prstDash val="solid"/>
          </a:ln>
        </p:spPr>
      </p:sp>
      <p:sp>
        <p:nvSpPr>
          <p:cNvPr id="40" name="Shape 38"/>
          <p:cNvSpPr/>
          <p:nvPr/>
        </p:nvSpPr>
        <p:spPr>
          <a:xfrm>
            <a:off x="6179515" y="3063240"/>
            <a:ext cx="1737360" cy="91440"/>
          </a:xfrm>
          <a:prstGeom prst="rect">
            <a:avLst/>
          </a:prstGeom>
          <a:solidFill>
            <a:srgbClr val="F7FAF9"/>
          </a:solidFill>
          <a:ln w="12700">
            <a:solidFill>
              <a:srgbClr val="F7FAF9"/>
            </a:solidFill>
            <a:prstDash val="solid"/>
          </a:ln>
        </p:spPr>
      </p:sp>
      <p:sp>
        <p:nvSpPr>
          <p:cNvPr id="41" name="Text 39"/>
          <p:cNvSpPr txBox="1"/>
          <p:nvPr/>
        </p:nvSpPr>
        <p:spPr>
          <a:xfrm>
            <a:off x="6344107" y="2112264"/>
            <a:ext cx="1408176" cy="201168"/>
          </a:xfrm>
          <a:prstGeom prst="rect">
            <a:avLst/>
          </a:prstGeom>
          <a:noFill/>
          <a:ln/>
        </p:spPr>
        <p:txBody>
          <a:bodyPr wrap="square" lIns="0" tIns="0" rIns="0" bIns="0" rtlCol="0" anchor="ctr"/>
          <a:lstStyle/>
          <a:p>
            <a:pPr indent="0" marL="0">
              <a:buNone/>
            </a:pPr>
            <a:r>
              <a:rPr lang="en-US" sz="950" b="1" dirty="0">
                <a:solidFill>
                  <a:srgbClr val="8FC3B5"/>
                </a:solidFill>
                <a:latin typeface="Consolas" pitchFamily="34" charset="0"/>
                <a:ea typeface="Consolas" pitchFamily="34" charset="-122"/>
                <a:cs typeface="Consolas" pitchFamily="34" charset="-120"/>
              </a:rPr>
              <a:t>PHASE 4</a:t>
            </a:r>
            <a:endParaRPr lang="en-US" sz="950" dirty="0"/>
          </a:p>
        </p:txBody>
      </p:sp>
      <p:sp>
        <p:nvSpPr>
          <p:cNvPr id="42" name="Text 40"/>
          <p:cNvSpPr txBox="1"/>
          <p:nvPr/>
        </p:nvSpPr>
        <p:spPr>
          <a:xfrm>
            <a:off x="6344107" y="2304288"/>
            <a:ext cx="1408176" cy="667512"/>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Analysis and sizing</a:t>
            </a:r>
            <a:endParaRPr lang="en-US" sz="1400" dirty="0"/>
          </a:p>
        </p:txBody>
      </p:sp>
      <p:sp>
        <p:nvSpPr>
          <p:cNvPr id="43" name="Text 41"/>
          <p:cNvSpPr txBox="1"/>
          <p:nvPr/>
        </p:nvSpPr>
        <p:spPr>
          <a:xfrm>
            <a:off x="6325819" y="3191256"/>
            <a:ext cx="1444752" cy="1892808"/>
          </a:xfrm>
          <a:prstGeom prst="rect">
            <a:avLst/>
          </a:prstGeom>
          <a:noFill/>
          <a:ln/>
        </p:spPr>
        <p:txBody>
          <a:bodyPr wrap="square" lIns="0" tIns="0" rIns="0" bIns="0" rtlCol="0" anchor="t"/>
          <a:lstStyle/>
          <a:p>
            <a:pPr indent="0" marL="0">
              <a:spcAft>
                <a:spcPts val="400"/>
              </a:spcAft>
              <a:buNone/>
            </a:pPr>
            <a:endParaRPr lang="en-US" sz="900" dirty="0"/>
          </a:p>
        </p:txBody>
      </p:sp>
      <p:sp>
        <p:nvSpPr>
          <p:cNvPr id="44" name="Text 42"/>
          <p:cNvSpPr txBox="1"/>
          <p:nvPr/>
        </p:nvSpPr>
        <p:spPr>
          <a:xfrm>
            <a:off x="6307531" y="3200400"/>
            <a:ext cx="1481328" cy="1600200"/>
          </a:xfrm>
          <a:prstGeom prst="rect">
            <a:avLst/>
          </a:prstGeom>
          <a:noFill/>
          <a:ln/>
        </p:spPr>
        <p:txBody>
          <a:bodyPr wrap="square" lIns="0" tIns="0" rIns="0" bIns="0" rtlCol="0" anchor="t"/>
          <a:lstStyle/>
          <a:p>
            <a:pPr indent="0" marL="0">
              <a:spcAft>
                <a:spcPts val="600"/>
              </a:spcAft>
              <a:buNone/>
            </a:pPr>
            <a:r>
              <a:rPr lang="en-US" sz="950" dirty="0">
                <a:solidFill>
                  <a:srgbClr val="16202B"/>
                </a:solidFill>
                <a:latin typeface="Calibri" pitchFamily="34" charset="0"/>
                <a:ea typeface="Calibri" pitchFamily="34" charset="-122"/>
                <a:cs typeface="Calibri" pitchFamily="34" charset="-120"/>
              </a:rPr>
              <a:t>Build the study, then draft each aim's analysis, sizing and exhibits; edit, update, accept.</a:t>
            </a:r>
            <a:endParaRPr lang="en-US" sz="950" dirty="0"/>
          </a:p>
          <a:p>
            <a:pPr indent="0" marL="0">
              <a:buNone/>
            </a:pPr>
            <a:r>
              <a:rPr lang="en-US" sz="950" b="1" dirty="0">
                <a:solidFill>
                  <a:srgbClr val="0F4C43"/>
                </a:solidFill>
                <a:latin typeface="Calibri" pitchFamily="34" charset="0"/>
                <a:ea typeface="Calibri" pitchFamily="34" charset="-122"/>
                <a:cs typeface="Calibri" pitchFamily="34" charset="-120"/>
              </a:rPr>
              <a:t>One plan credit. Gate: the biostatistician checkpoint.</a:t>
            </a:r>
            <a:endParaRPr lang="en-US" sz="950" dirty="0"/>
          </a:p>
        </p:txBody>
      </p:sp>
      <p:sp>
        <p:nvSpPr>
          <p:cNvPr id="45" name="Shape 43"/>
          <p:cNvSpPr/>
          <p:nvPr/>
        </p:nvSpPr>
        <p:spPr>
          <a:xfrm>
            <a:off x="6307531" y="4937760"/>
            <a:ext cx="118872" cy="118872"/>
          </a:xfrm>
          <a:prstGeom prst="rect">
            <a:avLst/>
          </a:prstGeom>
          <a:solidFill>
            <a:srgbClr val="D9AC5A"/>
          </a:solidFill>
          <a:ln w="12700">
            <a:solidFill>
              <a:srgbClr val="D9AC5A"/>
            </a:solidFill>
            <a:prstDash val="solid"/>
          </a:ln>
        </p:spPr>
      </p:sp>
      <p:sp>
        <p:nvSpPr>
          <p:cNvPr id="46" name="Shape 44"/>
          <p:cNvSpPr/>
          <p:nvPr/>
        </p:nvSpPr>
        <p:spPr>
          <a:xfrm>
            <a:off x="8050378" y="2011680"/>
            <a:ext cx="1737360" cy="1051560"/>
          </a:xfrm>
          <a:prstGeom prst="roundRect">
            <a:avLst>
              <a:gd name="adj" fmla="val 6957"/>
            </a:avLst>
          </a:prstGeom>
          <a:solidFill>
            <a:srgbClr val="0F4C43"/>
          </a:solidFill>
          <a:ln w="12700">
            <a:solidFill>
              <a:srgbClr val="0F4C43"/>
            </a:solidFill>
            <a:prstDash val="solid"/>
          </a:ln>
        </p:spPr>
      </p:sp>
      <p:sp>
        <p:nvSpPr>
          <p:cNvPr id="47" name="Shape 45"/>
          <p:cNvSpPr/>
          <p:nvPr/>
        </p:nvSpPr>
        <p:spPr>
          <a:xfrm>
            <a:off x="8050378" y="2953512"/>
            <a:ext cx="1737360" cy="109728"/>
          </a:xfrm>
          <a:prstGeom prst="rect">
            <a:avLst/>
          </a:prstGeom>
          <a:solidFill>
            <a:srgbClr val="0F4C43"/>
          </a:solidFill>
          <a:ln w="12700">
            <a:solidFill>
              <a:srgbClr val="0F4C43"/>
            </a:solidFill>
            <a:prstDash val="solid"/>
          </a:ln>
        </p:spPr>
      </p:sp>
      <p:sp>
        <p:nvSpPr>
          <p:cNvPr id="48" name="Shape 46"/>
          <p:cNvSpPr/>
          <p:nvPr/>
        </p:nvSpPr>
        <p:spPr>
          <a:xfrm>
            <a:off x="8050378" y="3063240"/>
            <a:ext cx="1737360" cy="2148840"/>
          </a:xfrm>
          <a:prstGeom prst="roundRect">
            <a:avLst>
              <a:gd name="adj" fmla="val 4211"/>
            </a:avLst>
          </a:prstGeom>
          <a:solidFill>
            <a:srgbClr val="F7FAF9"/>
          </a:solidFill>
          <a:ln w="12700">
            <a:solidFill>
              <a:srgbClr val="F7FAF9"/>
            </a:solidFill>
            <a:prstDash val="solid"/>
          </a:ln>
        </p:spPr>
      </p:sp>
      <p:sp>
        <p:nvSpPr>
          <p:cNvPr id="49" name="Shape 47"/>
          <p:cNvSpPr/>
          <p:nvPr/>
        </p:nvSpPr>
        <p:spPr>
          <a:xfrm>
            <a:off x="8050378" y="3063240"/>
            <a:ext cx="1737360" cy="91440"/>
          </a:xfrm>
          <a:prstGeom prst="rect">
            <a:avLst/>
          </a:prstGeom>
          <a:solidFill>
            <a:srgbClr val="F7FAF9"/>
          </a:solidFill>
          <a:ln w="12700">
            <a:solidFill>
              <a:srgbClr val="F7FAF9"/>
            </a:solidFill>
            <a:prstDash val="solid"/>
          </a:ln>
        </p:spPr>
      </p:sp>
      <p:sp>
        <p:nvSpPr>
          <p:cNvPr id="50" name="Text 48"/>
          <p:cNvSpPr txBox="1"/>
          <p:nvPr/>
        </p:nvSpPr>
        <p:spPr>
          <a:xfrm>
            <a:off x="8214970" y="2112264"/>
            <a:ext cx="1408176" cy="201168"/>
          </a:xfrm>
          <a:prstGeom prst="rect">
            <a:avLst/>
          </a:prstGeom>
          <a:noFill/>
          <a:ln/>
        </p:spPr>
        <p:txBody>
          <a:bodyPr wrap="square" lIns="0" tIns="0" rIns="0" bIns="0" rtlCol="0" anchor="ctr"/>
          <a:lstStyle/>
          <a:p>
            <a:pPr indent="0" marL="0">
              <a:buNone/>
            </a:pPr>
            <a:r>
              <a:rPr lang="en-US" sz="950" b="1" dirty="0">
                <a:solidFill>
                  <a:srgbClr val="8FC3B5"/>
                </a:solidFill>
                <a:latin typeface="Consolas" pitchFamily="34" charset="0"/>
                <a:ea typeface="Consolas" pitchFamily="34" charset="-122"/>
                <a:cs typeface="Consolas" pitchFamily="34" charset="-120"/>
              </a:rPr>
              <a:t>PHASE 5</a:t>
            </a:r>
            <a:endParaRPr lang="en-US" sz="950" dirty="0"/>
          </a:p>
        </p:txBody>
      </p:sp>
      <p:sp>
        <p:nvSpPr>
          <p:cNvPr id="51" name="Text 49"/>
          <p:cNvSpPr txBox="1"/>
          <p:nvPr/>
        </p:nvSpPr>
        <p:spPr>
          <a:xfrm>
            <a:off x="8214970" y="2304288"/>
            <a:ext cx="1408176" cy="667512"/>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Execution and budget</a:t>
            </a:r>
            <a:endParaRPr lang="en-US" sz="1400" dirty="0"/>
          </a:p>
        </p:txBody>
      </p:sp>
      <p:sp>
        <p:nvSpPr>
          <p:cNvPr id="52" name="Text 50"/>
          <p:cNvSpPr txBox="1"/>
          <p:nvPr/>
        </p:nvSpPr>
        <p:spPr>
          <a:xfrm>
            <a:off x="8196682" y="3191256"/>
            <a:ext cx="1444752" cy="1892808"/>
          </a:xfrm>
          <a:prstGeom prst="rect">
            <a:avLst/>
          </a:prstGeom>
          <a:noFill/>
          <a:ln/>
        </p:spPr>
        <p:txBody>
          <a:bodyPr wrap="square" lIns="0" tIns="0" rIns="0" bIns="0" rtlCol="0" anchor="t"/>
          <a:lstStyle/>
          <a:p>
            <a:pPr indent="0" marL="0">
              <a:spcAft>
                <a:spcPts val="400"/>
              </a:spcAft>
              <a:buNone/>
            </a:pPr>
            <a:endParaRPr lang="en-US" sz="900" dirty="0"/>
          </a:p>
        </p:txBody>
      </p:sp>
      <p:sp>
        <p:nvSpPr>
          <p:cNvPr id="53" name="Text 51"/>
          <p:cNvSpPr txBox="1"/>
          <p:nvPr/>
        </p:nvSpPr>
        <p:spPr>
          <a:xfrm>
            <a:off x="8178394" y="3200400"/>
            <a:ext cx="1481328" cy="1600200"/>
          </a:xfrm>
          <a:prstGeom prst="rect">
            <a:avLst/>
          </a:prstGeom>
          <a:noFill/>
          <a:ln/>
        </p:spPr>
        <p:txBody>
          <a:bodyPr wrap="square" lIns="0" tIns="0" rIns="0" bIns="0" rtlCol="0" anchor="t"/>
          <a:lstStyle/>
          <a:p>
            <a:pPr indent="0" marL="0">
              <a:spcAft>
                <a:spcPts val="600"/>
              </a:spcAft>
              <a:buNone/>
            </a:pPr>
            <a:r>
              <a:rPr lang="en-US" sz="950" dirty="0">
                <a:solidFill>
                  <a:srgbClr val="16202B"/>
                </a:solidFill>
                <a:latin typeface="Calibri" pitchFamily="34" charset="0"/>
                <a:ea typeface="Calibri" pitchFamily="34" charset="-122"/>
                <a:cs typeface="Calibri" pitchFamily="34" charset="-120"/>
              </a:rPr>
              <a:t>Operations, governance, tasks, timeline and budget drafted on request; readiness recorded.</a:t>
            </a:r>
            <a:endParaRPr lang="en-US" sz="950" dirty="0"/>
          </a:p>
          <a:p>
            <a:pPr indent="0" marL="0">
              <a:buNone/>
            </a:pPr>
            <a:r>
              <a:rPr lang="en-US" sz="950" b="1" dirty="0">
                <a:solidFill>
                  <a:srgbClr val="0F4C43"/>
                </a:solidFill>
                <a:latin typeface="Calibri" pitchFamily="34" charset="0"/>
                <a:ea typeface="Calibri" pitchFamily="34" charset="-122"/>
                <a:cs typeface="Calibri" pitchFamily="34" charset="-120"/>
              </a:rPr>
              <a:t>Gate: ready, conditional, or infeasible.</a:t>
            </a:r>
            <a:endParaRPr lang="en-US" sz="950" dirty="0"/>
          </a:p>
        </p:txBody>
      </p:sp>
      <p:sp>
        <p:nvSpPr>
          <p:cNvPr id="54" name="Shape 52"/>
          <p:cNvSpPr/>
          <p:nvPr/>
        </p:nvSpPr>
        <p:spPr>
          <a:xfrm>
            <a:off x="8178394" y="4937760"/>
            <a:ext cx="118872" cy="118872"/>
          </a:xfrm>
          <a:prstGeom prst="rect">
            <a:avLst/>
          </a:prstGeom>
          <a:solidFill>
            <a:srgbClr val="D9AC5A"/>
          </a:solidFill>
          <a:ln w="12700">
            <a:solidFill>
              <a:srgbClr val="D9AC5A"/>
            </a:solidFill>
            <a:prstDash val="solid"/>
          </a:ln>
        </p:spPr>
      </p:sp>
      <p:sp>
        <p:nvSpPr>
          <p:cNvPr id="55" name="Shape 53"/>
          <p:cNvSpPr/>
          <p:nvPr/>
        </p:nvSpPr>
        <p:spPr>
          <a:xfrm>
            <a:off x="9921240" y="2011680"/>
            <a:ext cx="1737360" cy="1051560"/>
          </a:xfrm>
          <a:prstGeom prst="roundRect">
            <a:avLst>
              <a:gd name="adj" fmla="val 6957"/>
            </a:avLst>
          </a:prstGeom>
          <a:solidFill>
            <a:srgbClr val="0F4C43"/>
          </a:solidFill>
          <a:ln w="12700">
            <a:solidFill>
              <a:srgbClr val="0F4C43"/>
            </a:solidFill>
            <a:prstDash val="solid"/>
          </a:ln>
        </p:spPr>
      </p:sp>
      <p:sp>
        <p:nvSpPr>
          <p:cNvPr id="56" name="Shape 54"/>
          <p:cNvSpPr/>
          <p:nvPr/>
        </p:nvSpPr>
        <p:spPr>
          <a:xfrm>
            <a:off x="9921240" y="2953512"/>
            <a:ext cx="1737360" cy="109728"/>
          </a:xfrm>
          <a:prstGeom prst="rect">
            <a:avLst/>
          </a:prstGeom>
          <a:solidFill>
            <a:srgbClr val="0F4C43"/>
          </a:solidFill>
          <a:ln w="12700">
            <a:solidFill>
              <a:srgbClr val="0F4C43"/>
            </a:solidFill>
            <a:prstDash val="solid"/>
          </a:ln>
        </p:spPr>
      </p:sp>
      <p:sp>
        <p:nvSpPr>
          <p:cNvPr id="57" name="Shape 55"/>
          <p:cNvSpPr/>
          <p:nvPr/>
        </p:nvSpPr>
        <p:spPr>
          <a:xfrm>
            <a:off x="9921240" y="3063240"/>
            <a:ext cx="1737360" cy="2148840"/>
          </a:xfrm>
          <a:prstGeom prst="roundRect">
            <a:avLst>
              <a:gd name="adj" fmla="val 4211"/>
            </a:avLst>
          </a:prstGeom>
          <a:solidFill>
            <a:srgbClr val="F7FAF9"/>
          </a:solidFill>
          <a:ln w="12700">
            <a:solidFill>
              <a:srgbClr val="F7FAF9"/>
            </a:solidFill>
            <a:prstDash val="solid"/>
          </a:ln>
        </p:spPr>
      </p:sp>
      <p:sp>
        <p:nvSpPr>
          <p:cNvPr id="58" name="Shape 56"/>
          <p:cNvSpPr/>
          <p:nvPr/>
        </p:nvSpPr>
        <p:spPr>
          <a:xfrm>
            <a:off x="9921240" y="3063240"/>
            <a:ext cx="1737360" cy="91440"/>
          </a:xfrm>
          <a:prstGeom prst="rect">
            <a:avLst/>
          </a:prstGeom>
          <a:solidFill>
            <a:srgbClr val="F7FAF9"/>
          </a:solidFill>
          <a:ln w="12700">
            <a:solidFill>
              <a:srgbClr val="F7FAF9"/>
            </a:solidFill>
            <a:prstDash val="solid"/>
          </a:ln>
        </p:spPr>
      </p:sp>
      <p:sp>
        <p:nvSpPr>
          <p:cNvPr id="59" name="Text 57"/>
          <p:cNvSpPr txBox="1"/>
          <p:nvPr/>
        </p:nvSpPr>
        <p:spPr>
          <a:xfrm>
            <a:off x="10085832" y="2112264"/>
            <a:ext cx="1408176" cy="201168"/>
          </a:xfrm>
          <a:prstGeom prst="rect">
            <a:avLst/>
          </a:prstGeom>
          <a:noFill/>
          <a:ln/>
        </p:spPr>
        <p:txBody>
          <a:bodyPr wrap="square" lIns="0" tIns="0" rIns="0" bIns="0" rtlCol="0" anchor="ctr"/>
          <a:lstStyle/>
          <a:p>
            <a:pPr indent="0" marL="0">
              <a:buNone/>
            </a:pPr>
            <a:r>
              <a:rPr lang="en-US" sz="950" b="1" dirty="0">
                <a:solidFill>
                  <a:srgbClr val="8FC3B5"/>
                </a:solidFill>
                <a:latin typeface="Consolas" pitchFamily="34" charset="0"/>
                <a:ea typeface="Consolas" pitchFamily="34" charset="-122"/>
                <a:cs typeface="Consolas" pitchFamily="34" charset="-120"/>
              </a:rPr>
              <a:t>PHASE 6</a:t>
            </a:r>
            <a:endParaRPr lang="en-US" sz="950" dirty="0"/>
          </a:p>
        </p:txBody>
      </p:sp>
      <p:sp>
        <p:nvSpPr>
          <p:cNvPr id="60" name="Text 58"/>
          <p:cNvSpPr txBox="1"/>
          <p:nvPr/>
        </p:nvSpPr>
        <p:spPr>
          <a:xfrm>
            <a:off x="10085832" y="2304288"/>
            <a:ext cx="1408176" cy="667512"/>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Finalise and export</a:t>
            </a:r>
            <a:endParaRPr lang="en-US" sz="1400" dirty="0"/>
          </a:p>
        </p:txBody>
      </p:sp>
      <p:sp>
        <p:nvSpPr>
          <p:cNvPr id="61" name="Text 59"/>
          <p:cNvSpPr txBox="1"/>
          <p:nvPr/>
        </p:nvSpPr>
        <p:spPr>
          <a:xfrm>
            <a:off x="10067544" y="3191256"/>
            <a:ext cx="1444752" cy="1892808"/>
          </a:xfrm>
          <a:prstGeom prst="rect">
            <a:avLst/>
          </a:prstGeom>
          <a:noFill/>
          <a:ln/>
        </p:spPr>
        <p:txBody>
          <a:bodyPr wrap="square" lIns="0" tIns="0" rIns="0" bIns="0" rtlCol="0" anchor="t"/>
          <a:lstStyle/>
          <a:p>
            <a:pPr indent="0" marL="0">
              <a:spcAft>
                <a:spcPts val="400"/>
              </a:spcAft>
              <a:buNone/>
            </a:pPr>
            <a:endParaRPr lang="en-US" sz="900" dirty="0"/>
          </a:p>
        </p:txBody>
      </p:sp>
      <p:sp>
        <p:nvSpPr>
          <p:cNvPr id="62" name="Text 60"/>
          <p:cNvSpPr txBox="1"/>
          <p:nvPr/>
        </p:nvSpPr>
        <p:spPr>
          <a:xfrm>
            <a:off x="10049256" y="3200400"/>
            <a:ext cx="1481328" cy="1600200"/>
          </a:xfrm>
          <a:prstGeom prst="rect">
            <a:avLst/>
          </a:prstGeom>
          <a:noFill/>
          <a:ln/>
        </p:spPr>
        <p:txBody>
          <a:bodyPr wrap="square" lIns="0" tIns="0" rIns="0" bIns="0" rtlCol="0" anchor="t"/>
          <a:lstStyle/>
          <a:p>
            <a:pPr indent="0" marL="0">
              <a:spcAft>
                <a:spcPts val="600"/>
              </a:spcAft>
              <a:buNone/>
            </a:pPr>
            <a:r>
              <a:rPr lang="en-US" sz="950" dirty="0">
                <a:solidFill>
                  <a:srgbClr val="16202B"/>
                </a:solidFill>
                <a:latin typeface="Calibri" pitchFamily="34" charset="0"/>
                <a:ea typeface="Calibri" pitchFamily="34" charset="-122"/>
                <a:cs typeface="Calibri" pitchFamily="34" charset="-120"/>
              </a:rPr>
              <a:t>Written package and code per language on request; reconciler named; export with review record.</a:t>
            </a:r>
            <a:endParaRPr lang="en-US" sz="950" dirty="0"/>
          </a:p>
          <a:p>
            <a:pPr indent="0" marL="0">
              <a:buNone/>
            </a:pPr>
            <a:r>
              <a:rPr lang="en-US" sz="950" b="1" dirty="0">
                <a:solidFill>
                  <a:srgbClr val="0F4C43"/>
                </a:solidFill>
                <a:latin typeface="Calibri" pitchFamily="34" charset="0"/>
                <a:ea typeface="Calibri" pitchFamily="34" charset="-122"/>
                <a:cs typeface="Calibri" pitchFamily="34" charset="-120"/>
              </a:rPr>
              <a:t>Gate: nothing pending, no open comments.</a:t>
            </a:r>
            <a:endParaRPr lang="en-US" sz="950" dirty="0"/>
          </a:p>
        </p:txBody>
      </p:sp>
      <p:sp>
        <p:nvSpPr>
          <p:cNvPr id="63" name="Shape 61"/>
          <p:cNvSpPr/>
          <p:nvPr/>
        </p:nvSpPr>
        <p:spPr>
          <a:xfrm>
            <a:off x="10049256" y="4937760"/>
            <a:ext cx="118872" cy="118872"/>
          </a:xfrm>
          <a:prstGeom prst="rect">
            <a:avLst/>
          </a:prstGeom>
          <a:solidFill>
            <a:srgbClr val="D9AC5A"/>
          </a:solidFill>
          <a:ln w="12700">
            <a:solidFill>
              <a:srgbClr val="D9AC5A"/>
            </a:solidFill>
            <a:prstDash val="solid"/>
          </a:ln>
        </p:spPr>
      </p:sp>
      <p:sp>
        <p:nvSpPr>
          <p:cNvPr id="64" name="Shape 62"/>
          <p:cNvSpPr/>
          <p:nvPr/>
        </p:nvSpPr>
        <p:spPr>
          <a:xfrm>
            <a:off x="548640" y="5742432"/>
            <a:ext cx="11091672" cy="603504"/>
          </a:xfrm>
          <a:prstGeom prst="rect">
            <a:avLst/>
          </a:prstGeom>
          <a:solidFill>
            <a:srgbClr val="EEF3F2"/>
          </a:solidFill>
          <a:ln w="12700">
            <a:solidFill>
              <a:srgbClr val="EEF3F2"/>
            </a:solidFill>
            <a:prstDash val="solid"/>
          </a:ln>
        </p:spPr>
      </p:sp>
      <p:sp>
        <p:nvSpPr>
          <p:cNvPr id="65" name="Text 63"/>
          <p:cNvSpPr txBox="1"/>
          <p:nvPr/>
        </p:nvSpPr>
        <p:spPr>
          <a:xfrm>
            <a:off x="786384" y="5742432"/>
            <a:ext cx="10607040" cy="603504"/>
          </a:xfrm>
          <a:prstGeom prst="rect">
            <a:avLst/>
          </a:prstGeom>
          <a:noFill/>
          <a:ln/>
        </p:spPr>
        <p:txBody>
          <a:bodyPr wrap="square" lIns="0" tIns="0" rIns="0" bIns="0" rtlCol="0" anchor="ctr"/>
          <a:lstStyle/>
          <a:p>
            <a:pPr indent="0" marL="0">
              <a:buNone/>
            </a:pPr>
            <a:r>
              <a:rPr lang="en-US" sz="1450" dirty="0">
                <a:solidFill>
                  <a:srgbClr val="16202B"/>
                </a:solidFill>
                <a:latin typeface="Calibri" pitchFamily="34" charset="0"/>
                <a:ea typeface="Calibri" pitchFamily="34" charset="-122"/>
                <a:cs typeface="Calibri" pitchFamily="34" charset="-120"/>
              </a:rPr>
              <a:t>A later decision can reopen an earlier phase. Before an edit is saved, the investigator sees what generated work it affects and what is preserved.</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What it asks for that a general chatbot does not</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Typed facts the code can hold the plan to, not free text a model fills from its priors</a:t>
            </a:r>
            <a:endParaRPr lang="en-US" sz="1500" dirty="0"/>
          </a:p>
        </p:txBody>
      </p:sp>
      <p:sp>
        <p:nvSpPr>
          <p:cNvPr id="4" name="Shape 2"/>
          <p:cNvSpPr/>
          <p:nvPr/>
        </p:nvSpPr>
        <p:spPr>
          <a:xfrm>
            <a:off x="566928" y="1645920"/>
            <a:ext cx="3520440" cy="1938528"/>
          </a:xfrm>
          <a:prstGeom prst="rect">
            <a:avLst/>
          </a:prstGeom>
          <a:solidFill>
            <a:srgbClr val="EEF3F2"/>
          </a:solidFill>
          <a:ln w="12700">
            <a:solidFill>
              <a:srgbClr val="EEF3F2"/>
            </a:solidFill>
            <a:prstDash val="solid"/>
          </a:ln>
        </p:spPr>
      </p:sp>
      <p:sp>
        <p:nvSpPr>
          <p:cNvPr id="5" name="Text 3"/>
          <p:cNvSpPr txBox="1"/>
          <p:nvPr/>
        </p:nvSpPr>
        <p:spPr>
          <a:xfrm>
            <a:off x="768096" y="1773936"/>
            <a:ext cx="3118104" cy="566928"/>
          </a:xfrm>
          <a:prstGeom prst="rect">
            <a:avLst/>
          </a:prstGeom>
          <a:noFill/>
          <a:ln/>
        </p:spPr>
        <p:txBody>
          <a:bodyPr wrap="square" lIns="0" tIns="0" rIns="0" bIns="0" rtlCol="0" anchor="t"/>
          <a:lstStyle/>
          <a:p>
            <a:pPr indent="0" marL="0">
              <a:buNone/>
            </a:pPr>
            <a:r>
              <a:rPr lang="en-US" sz="1400" b="1" dirty="0">
                <a:solidFill>
                  <a:srgbClr val="0F4C43"/>
                </a:solidFill>
                <a:latin typeface="Calibri" pitchFamily="34" charset="0"/>
                <a:ea typeface="Calibri" pitchFamily="34" charset="-122"/>
                <a:cs typeface="Calibri" pitchFamily="34" charset="-120"/>
              </a:rPr>
              <a:t>Context governs feasibility, never validity</a:t>
            </a:r>
            <a:endParaRPr lang="en-US" sz="1400" dirty="0"/>
          </a:p>
        </p:txBody>
      </p:sp>
      <p:sp>
        <p:nvSpPr>
          <p:cNvPr id="6" name="Text 4"/>
          <p:cNvSpPr txBox="1"/>
          <p:nvPr/>
        </p:nvSpPr>
        <p:spPr>
          <a:xfrm>
            <a:off x="768096" y="2377440"/>
            <a:ext cx="3118104" cy="111556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Nine typed fields: use, deadline, data state and source, funding, team roles, who analyses. Resources decide whether a method is reachable; they never make a weaker method acceptable. A test fails if any prompt says "simplest analysis" or "in a spreadsheet".</a:t>
            </a:r>
            <a:endParaRPr lang="en-US" sz="1050" dirty="0"/>
          </a:p>
        </p:txBody>
      </p:sp>
      <p:sp>
        <p:nvSpPr>
          <p:cNvPr id="7" name="Shape 5"/>
          <p:cNvSpPr/>
          <p:nvPr/>
        </p:nvSpPr>
        <p:spPr>
          <a:xfrm>
            <a:off x="4242816" y="1645920"/>
            <a:ext cx="3520440" cy="1938528"/>
          </a:xfrm>
          <a:prstGeom prst="rect">
            <a:avLst/>
          </a:prstGeom>
          <a:solidFill>
            <a:srgbClr val="EEF3F2"/>
          </a:solidFill>
          <a:ln w="12700">
            <a:solidFill>
              <a:srgbClr val="EEF3F2"/>
            </a:solidFill>
            <a:prstDash val="solid"/>
          </a:ln>
        </p:spPr>
      </p:sp>
      <p:sp>
        <p:nvSpPr>
          <p:cNvPr id="8" name="Text 6"/>
          <p:cNvSpPr txBox="1"/>
          <p:nvPr/>
        </p:nvSpPr>
        <p:spPr>
          <a:xfrm>
            <a:off x="4443984" y="1773936"/>
            <a:ext cx="3118104" cy="566928"/>
          </a:xfrm>
          <a:prstGeom prst="rect">
            <a:avLst/>
          </a:prstGeom>
          <a:noFill/>
          <a:ln/>
        </p:spPr>
        <p:txBody>
          <a:bodyPr wrap="square" lIns="0" tIns="0" rIns="0" bIns="0" rtlCol="0" anchor="t"/>
          <a:lstStyle/>
          <a:p>
            <a:pPr indent="0" marL="0">
              <a:buNone/>
            </a:pPr>
            <a:r>
              <a:rPr lang="en-US" sz="1400" b="1" dirty="0">
                <a:solidFill>
                  <a:srgbClr val="0F4C43"/>
                </a:solidFill>
                <a:latin typeface="Calibri" pitchFamily="34" charset="0"/>
                <a:ea typeface="Calibri" pitchFamily="34" charset="-122"/>
                <a:cs typeface="Calibri" pitchFamily="34" charset="-120"/>
              </a:rPr>
              <a:t>Data state against the chosen design</a:t>
            </a:r>
            <a:endParaRPr lang="en-US" sz="1400" dirty="0"/>
          </a:p>
        </p:txBody>
      </p:sp>
      <p:sp>
        <p:nvSpPr>
          <p:cNvPr id="9" name="Text 7"/>
          <p:cNvSpPr txBox="1"/>
          <p:nvPr/>
        </p:nvSpPr>
        <p:spPr>
          <a:xfrm>
            <a:off x="4443984" y="2377440"/>
            <a:ext cx="3118104" cy="111556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Records already in hand against a randomised or prospective design is a blocking conflict. Generate stays disabled until the investigator says which statement is true.</a:t>
            </a:r>
            <a:endParaRPr lang="en-US" sz="1050" dirty="0"/>
          </a:p>
        </p:txBody>
      </p:sp>
      <p:sp>
        <p:nvSpPr>
          <p:cNvPr id="10" name="Shape 8"/>
          <p:cNvSpPr/>
          <p:nvPr/>
        </p:nvSpPr>
        <p:spPr>
          <a:xfrm>
            <a:off x="7918704" y="1645920"/>
            <a:ext cx="3520440" cy="1938528"/>
          </a:xfrm>
          <a:prstGeom prst="rect">
            <a:avLst/>
          </a:prstGeom>
          <a:solidFill>
            <a:srgbClr val="EEF3F2"/>
          </a:solidFill>
          <a:ln w="12700">
            <a:solidFill>
              <a:srgbClr val="EEF3F2"/>
            </a:solidFill>
            <a:prstDash val="solid"/>
          </a:ln>
        </p:spPr>
      </p:sp>
      <p:sp>
        <p:nvSpPr>
          <p:cNvPr id="11" name="Text 9"/>
          <p:cNvSpPr txBox="1"/>
          <p:nvPr/>
        </p:nvSpPr>
        <p:spPr>
          <a:xfrm>
            <a:off x="8119872" y="1773936"/>
            <a:ext cx="3118104" cy="566928"/>
          </a:xfrm>
          <a:prstGeom prst="rect">
            <a:avLst/>
          </a:prstGeom>
          <a:noFill/>
          <a:ln/>
        </p:spPr>
        <p:txBody>
          <a:bodyPr wrap="square" lIns="0" tIns="0" rIns="0" bIns="0" rtlCol="0" anchor="t"/>
          <a:lstStyle/>
          <a:p>
            <a:pPr indent="0" marL="0">
              <a:buNone/>
            </a:pPr>
            <a:r>
              <a:rPr lang="en-US" sz="1400" b="1" dirty="0">
                <a:solidFill>
                  <a:srgbClr val="0F4C43"/>
                </a:solidFill>
                <a:latin typeface="Calibri" pitchFamily="34" charset="0"/>
                <a:ea typeface="Calibri" pitchFamily="34" charset="-122"/>
                <a:cs typeface="Calibri" pitchFamily="34" charset="-120"/>
              </a:rPr>
              <a:t>Aims with a role and a claim</a:t>
            </a:r>
            <a:endParaRPr lang="en-US" sz="1400" dirty="0"/>
          </a:p>
        </p:txBody>
      </p:sp>
      <p:sp>
        <p:nvSpPr>
          <p:cNvPr id="12" name="Text 10"/>
          <p:cNvSpPr txBox="1"/>
          <p:nvPr/>
        </p:nvSpPr>
        <p:spPr>
          <a:xfrm>
            <a:off x="8119872" y="2377440"/>
            <a:ext cx="3118104" cy="111556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Each aim is primary confirmatory, secondary confirmatory or exploratory, with an intended claim. A confirmatory aim requires a hypothesis and makes multiplicity fields mandatory. Placeholders are bracketed, never invented.</a:t>
            </a:r>
            <a:endParaRPr lang="en-US" sz="1050" dirty="0"/>
          </a:p>
        </p:txBody>
      </p:sp>
      <p:sp>
        <p:nvSpPr>
          <p:cNvPr id="13" name="Shape 11"/>
          <p:cNvSpPr/>
          <p:nvPr/>
        </p:nvSpPr>
        <p:spPr>
          <a:xfrm>
            <a:off x="566928" y="3703320"/>
            <a:ext cx="3520440" cy="1938528"/>
          </a:xfrm>
          <a:prstGeom prst="rect">
            <a:avLst/>
          </a:prstGeom>
          <a:solidFill>
            <a:srgbClr val="EEF3F2"/>
          </a:solidFill>
          <a:ln w="12700">
            <a:solidFill>
              <a:srgbClr val="EEF3F2"/>
            </a:solidFill>
            <a:prstDash val="solid"/>
          </a:ln>
        </p:spPr>
      </p:sp>
      <p:sp>
        <p:nvSpPr>
          <p:cNvPr id="14" name="Text 12"/>
          <p:cNvSpPr txBox="1"/>
          <p:nvPr/>
        </p:nvSpPr>
        <p:spPr>
          <a:xfrm>
            <a:off x="768096" y="3831336"/>
            <a:ext cx="3118104" cy="566928"/>
          </a:xfrm>
          <a:prstGeom prst="rect">
            <a:avLst/>
          </a:prstGeom>
          <a:noFill/>
          <a:ln/>
        </p:spPr>
        <p:txBody>
          <a:bodyPr wrap="square" lIns="0" tIns="0" rIns="0" bIns="0" rtlCol="0" anchor="t"/>
          <a:lstStyle/>
          <a:p>
            <a:pPr indent="0" marL="0">
              <a:buNone/>
            </a:pPr>
            <a:r>
              <a:rPr lang="en-US" sz="1400" b="1" dirty="0">
                <a:solidFill>
                  <a:srgbClr val="0F4C43"/>
                </a:solidFill>
                <a:latin typeface="Calibri" pitchFamily="34" charset="0"/>
                <a:ea typeface="Calibri" pitchFamily="34" charset="-122"/>
                <a:cs typeface="Calibri" pitchFamily="34" charset="-120"/>
              </a:rPr>
              <a:t>A typed estimand</a:t>
            </a:r>
            <a:endParaRPr lang="en-US" sz="1400" dirty="0"/>
          </a:p>
        </p:txBody>
      </p:sp>
      <p:sp>
        <p:nvSpPr>
          <p:cNvPr id="15" name="Text 13"/>
          <p:cNvSpPr txBox="1"/>
          <p:nvPr/>
        </p:nvSpPr>
        <p:spPr>
          <a:xfrm>
            <a:off x="768096" y="4434840"/>
            <a:ext cx="3118104" cy="111556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Target, population, exposure, comparator, outcome, summary measure, time horizon, assignment mechanism, clustering, repeated measures, competing events. Seventeen rules compare sizing, analysis and figures to it.</a:t>
            </a:r>
            <a:endParaRPr lang="en-US" sz="1050" dirty="0"/>
          </a:p>
        </p:txBody>
      </p:sp>
      <p:sp>
        <p:nvSpPr>
          <p:cNvPr id="16" name="Shape 14"/>
          <p:cNvSpPr/>
          <p:nvPr/>
        </p:nvSpPr>
        <p:spPr>
          <a:xfrm>
            <a:off x="4242816" y="3703320"/>
            <a:ext cx="3520440" cy="1938528"/>
          </a:xfrm>
          <a:prstGeom prst="rect">
            <a:avLst/>
          </a:prstGeom>
          <a:solidFill>
            <a:srgbClr val="EEF3F2"/>
          </a:solidFill>
          <a:ln w="12700">
            <a:solidFill>
              <a:srgbClr val="EEF3F2"/>
            </a:solidFill>
            <a:prstDash val="solid"/>
          </a:ln>
        </p:spPr>
      </p:sp>
      <p:sp>
        <p:nvSpPr>
          <p:cNvPr id="17" name="Text 15"/>
          <p:cNvSpPr txBox="1"/>
          <p:nvPr/>
        </p:nvSpPr>
        <p:spPr>
          <a:xfrm>
            <a:off x="4443984" y="3831336"/>
            <a:ext cx="3118104" cy="566928"/>
          </a:xfrm>
          <a:prstGeom prst="rect">
            <a:avLst/>
          </a:prstGeom>
          <a:noFill/>
          <a:ln/>
        </p:spPr>
        <p:txBody>
          <a:bodyPr wrap="square" lIns="0" tIns="0" rIns="0" bIns="0" rtlCol="0" anchor="t"/>
          <a:lstStyle/>
          <a:p>
            <a:pPr indent="0" marL="0">
              <a:buNone/>
            </a:pPr>
            <a:r>
              <a:rPr lang="en-US" sz="1400" b="1" dirty="0">
                <a:solidFill>
                  <a:srgbClr val="0F4C43"/>
                </a:solidFill>
                <a:latin typeface="Calibri" pitchFamily="34" charset="0"/>
                <a:ea typeface="Calibri" pitchFamily="34" charset="-122"/>
                <a:cs typeface="Calibri" pitchFamily="34" charset="-120"/>
              </a:rPr>
              <a:t>Variables with roles, timing and missingness</a:t>
            </a:r>
            <a:endParaRPr lang="en-US" sz="1400" dirty="0"/>
          </a:p>
        </p:txBody>
      </p:sp>
      <p:sp>
        <p:nvSpPr>
          <p:cNvPr id="18" name="Text 16"/>
          <p:cNvSpPr txBox="1"/>
          <p:nvPr/>
        </p:nvSpPr>
        <p:spPr>
          <a:xfrm>
            <a:off x="4443984" y="4434840"/>
            <a:ext cx="3118104" cy="111556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Outcome, exposure, confounder, mediator, effect modifier, selection factor. A variable that is both confounder and mediator blocks. The map refuses to choose an adjustment set for you.</a:t>
            </a:r>
            <a:endParaRPr lang="en-US" sz="1050" dirty="0"/>
          </a:p>
        </p:txBody>
      </p:sp>
      <p:sp>
        <p:nvSpPr>
          <p:cNvPr id="19" name="Shape 17"/>
          <p:cNvSpPr/>
          <p:nvPr/>
        </p:nvSpPr>
        <p:spPr>
          <a:xfrm>
            <a:off x="7918704" y="3703320"/>
            <a:ext cx="3520440" cy="1938528"/>
          </a:xfrm>
          <a:prstGeom prst="rect">
            <a:avLst/>
          </a:prstGeom>
          <a:solidFill>
            <a:srgbClr val="EEF3F2"/>
          </a:solidFill>
          <a:ln w="12700">
            <a:solidFill>
              <a:srgbClr val="EEF3F2"/>
            </a:solidFill>
            <a:prstDash val="solid"/>
          </a:ln>
        </p:spPr>
      </p:sp>
      <p:sp>
        <p:nvSpPr>
          <p:cNvPr id="20" name="Text 18"/>
          <p:cNvSpPr txBox="1"/>
          <p:nvPr/>
        </p:nvSpPr>
        <p:spPr>
          <a:xfrm>
            <a:off x="8119872" y="3831336"/>
            <a:ext cx="3118104" cy="566928"/>
          </a:xfrm>
          <a:prstGeom prst="rect">
            <a:avLst/>
          </a:prstGeom>
          <a:noFill/>
          <a:ln/>
        </p:spPr>
        <p:txBody>
          <a:bodyPr wrap="square" lIns="0" tIns="0" rIns="0" bIns="0" rtlCol="0" anchor="t"/>
          <a:lstStyle/>
          <a:p>
            <a:pPr indent="0" marL="0">
              <a:buNone/>
            </a:pPr>
            <a:r>
              <a:rPr lang="en-US" sz="1400" b="1" dirty="0">
                <a:solidFill>
                  <a:srgbClr val="0F4C43"/>
                </a:solidFill>
                <a:latin typeface="Calibri" pitchFamily="34" charset="0"/>
                <a:ea typeface="Calibri" pitchFamily="34" charset="-122"/>
                <a:cs typeface="Calibri" pitchFamily="34" charset="-120"/>
              </a:rPr>
              <a:t>Feasibility with a basis, counts reconciled</a:t>
            </a:r>
            <a:endParaRPr lang="en-US" sz="1400" dirty="0"/>
          </a:p>
        </p:txBody>
      </p:sp>
      <p:sp>
        <p:nvSpPr>
          <p:cNvPr id="21" name="Text 19"/>
          <p:cNvSpPr txBox="1"/>
          <p:nvPr/>
        </p:nvSpPr>
        <p:spPr>
          <a:xfrm>
            <a:off x="8119872" y="4434840"/>
            <a:ext cx="3118104" cy="1115568"/>
          </a:xfrm>
          <a:prstGeom prst="rect">
            <a:avLst/>
          </a:prstGeom>
          <a:noFill/>
          <a:ln/>
        </p:spPr>
        <p:txBody>
          <a:bodyPr wrap="square" lIns="0" tIns="0" rIns="0" bIns="0" rtlCol="0" anchor="t"/>
          <a:lstStyle/>
          <a:p>
            <a:pPr indent="0" marL="0">
              <a:buNone/>
            </a:pPr>
            <a:r>
              <a:rPr lang="en-US" sz="1050" dirty="0">
                <a:solidFill>
                  <a:srgbClr val="16202B"/>
                </a:solidFill>
                <a:latin typeface="Calibri" pitchFamily="34" charset="0"/>
                <a:ea typeface="Calibri" pitchFamily="34" charset="-122"/>
                <a:cs typeface="Calibri" pitchFamily="34" charset="-120"/>
              </a:rPr>
              <a:t>Every answer is a checked result or a planning assumption with an owner. A record count is never treated as evidence of power, and a count not yet established carries a caveat into the package.</a:t>
            </a:r>
            <a:endParaRPr lang="en-US" sz="1050" dirty="0"/>
          </a:p>
        </p:txBody>
      </p:sp>
      <p:sp>
        <p:nvSpPr>
          <p:cNvPr id="22" name="Shape 20"/>
          <p:cNvSpPr/>
          <p:nvPr/>
        </p:nvSpPr>
        <p:spPr>
          <a:xfrm>
            <a:off x="548640" y="5806440"/>
            <a:ext cx="11091672" cy="603504"/>
          </a:xfrm>
          <a:prstGeom prst="rect">
            <a:avLst/>
          </a:prstGeom>
          <a:solidFill>
            <a:srgbClr val="EEF3F2"/>
          </a:solidFill>
          <a:ln w="12700">
            <a:solidFill>
              <a:srgbClr val="EEF3F2"/>
            </a:solidFill>
            <a:prstDash val="solid"/>
          </a:ln>
        </p:spPr>
      </p:sp>
      <p:sp>
        <p:nvSpPr>
          <p:cNvPr id="23" name="Text 21"/>
          <p:cNvSpPr txBox="1"/>
          <p:nvPr/>
        </p:nvSpPr>
        <p:spPr>
          <a:xfrm>
            <a:off x="786384" y="5806440"/>
            <a:ext cx="10607040" cy="603504"/>
          </a:xfrm>
          <a:prstGeom prst="rect">
            <a:avLst/>
          </a:prstGeom>
          <a:noFill/>
          <a:ln/>
        </p:spPr>
        <p:txBody>
          <a:bodyPr wrap="square" lIns="0" tIns="0" rIns="0" bIns="0" rtlCol="0" anchor="ctr"/>
          <a:lstStyle/>
          <a:p>
            <a:pPr indent="0" marL="0">
              <a:buNone/>
            </a:pPr>
            <a:r>
              <a:rPr lang="en-US" sz="1450" dirty="0">
                <a:solidFill>
                  <a:srgbClr val="16202B"/>
                </a:solidFill>
                <a:latin typeface="Calibri" pitchFamily="34" charset="0"/>
                <a:ea typeface="Calibri" pitchFamily="34" charset="-122"/>
                <a:cs typeface="Calibri" pitchFamily="34" charset="-120"/>
              </a:rPr>
              <a:t>A chatbot can be prompted to ask all of this. It cannot refuse to print a number when the answers contradict each other.</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How a draft becomes a plan</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Two reviews, one guarded revision, a judge that never edits, then the code, then the investigator</a:t>
            </a:r>
            <a:endParaRPr lang="en-US" sz="1500" dirty="0"/>
          </a:p>
        </p:txBody>
      </p:sp>
      <p:pic>
        <p:nvPicPr>
          <p:cNvPr id="4" name="Image 0" descr="loop.png">    </p:cNvPr>
          <p:cNvPicPr>
            <a:picLocks noChangeAspect="1"/>
          </p:cNvPicPr>
          <p:nvPr/>
        </p:nvPicPr>
        <p:blipFill>
          <a:blip r:embed="rId1"/>
          <a:stretch>
            <a:fillRect/>
          </a:stretch>
        </p:blipFill>
        <p:spPr>
          <a:xfrm>
            <a:off x="566928" y="1554480"/>
            <a:ext cx="2788920" cy="4389120"/>
          </a:xfrm>
          <a:prstGeom prst="rect">
            <a:avLst/>
          </a:prstGeom>
        </p:spPr>
      </p:pic>
      <p:sp>
        <p:nvSpPr>
          <p:cNvPr id="5" name="Shape 2"/>
          <p:cNvSpPr/>
          <p:nvPr/>
        </p:nvSpPr>
        <p:spPr>
          <a:xfrm>
            <a:off x="3749040" y="1591056"/>
            <a:ext cx="384048" cy="384048"/>
          </a:xfrm>
          <a:prstGeom prst="ellipse">
            <a:avLst/>
          </a:prstGeom>
          <a:solidFill>
            <a:srgbClr val="0F4C43"/>
          </a:solidFill>
          <a:ln w="12700">
            <a:solidFill>
              <a:srgbClr val="0F4C43"/>
            </a:solidFill>
            <a:prstDash val="solid"/>
          </a:ln>
        </p:spPr>
      </p:sp>
      <p:sp>
        <p:nvSpPr>
          <p:cNvPr id="6" name="Text 3"/>
          <p:cNvSpPr txBox="1"/>
          <p:nvPr/>
        </p:nvSpPr>
        <p:spPr>
          <a:xfrm>
            <a:off x="3749040" y="15910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4279392" y="1572768"/>
            <a:ext cx="7315200" cy="292608"/>
          </a:xfrm>
          <a:prstGeom prst="rect">
            <a:avLst/>
          </a:prstGeom>
          <a:noFill/>
          <a:ln/>
        </p:spPr>
        <p:txBody>
          <a:bodyPr wrap="square" lIns="0" tIns="0" rIns="0" bIns="0" rtlCol="0" anchor="ctr"/>
          <a:lstStyle/>
          <a:p>
            <a:pPr indent="0" marL="0">
              <a:buNone/>
            </a:pPr>
            <a:r>
              <a:rPr lang="en-US" sz="1450" b="1" dirty="0">
                <a:solidFill>
                  <a:srgbClr val="16202B"/>
                </a:solidFill>
                <a:latin typeface="Calibri" pitchFamily="34" charset="0"/>
                <a:ea typeface="Calibri" pitchFamily="34" charset="-122"/>
                <a:cs typeface="Calibri" pitchFamily="34" charset="-120"/>
              </a:rPr>
              <a:t>Two reviewers, merged worst case</a:t>
            </a:r>
            <a:endParaRPr lang="en-US" sz="1450" dirty="0"/>
          </a:p>
        </p:txBody>
      </p:sp>
      <p:sp>
        <p:nvSpPr>
          <p:cNvPr id="8" name="Text 5"/>
          <p:cNvSpPr txBox="1"/>
          <p:nvPr/>
        </p:nvSpPr>
        <p:spPr>
          <a:xfrm>
            <a:off x="4279392" y="1874520"/>
            <a:ext cx="7315200" cy="548640"/>
          </a:xfrm>
          <a:prstGeom prst="rect">
            <a:avLst/>
          </a:prstGeom>
          <a:noFill/>
          <a:ln/>
        </p:spPr>
        <p:txBody>
          <a:bodyPr wrap="square" lIns="0" tIns="0" rIns="0" bIns="0" rtlCol="0" anchor="t"/>
          <a:lstStyle/>
          <a:p>
            <a:pPr indent="0" marL="0">
              <a:buNone/>
            </a:pPr>
            <a:r>
              <a:rPr lang="en-US" sz="1100" dirty="0">
                <a:solidFill>
                  <a:srgbClr val="5A6B7A"/>
                </a:solidFill>
                <a:latin typeface="Calibri" pitchFamily="34" charset="0"/>
                <a:ea typeface="Calibri" pitchFamily="34" charset="-122"/>
                <a:cs typeface="Calibri" pitchFamily="34" charset="-120"/>
              </a:rPr>
              <a:t>Each returns ranked issues plus a verdict on seven safety domains. An unanswered domain is unknown, never pass, and a concern reaches the revision even without an issue slot.</a:t>
            </a:r>
            <a:endParaRPr lang="en-US" sz="1100" dirty="0"/>
          </a:p>
        </p:txBody>
      </p:sp>
      <p:sp>
        <p:nvSpPr>
          <p:cNvPr id="9" name="Shape 6"/>
          <p:cNvSpPr/>
          <p:nvPr/>
        </p:nvSpPr>
        <p:spPr>
          <a:xfrm>
            <a:off x="3749040" y="2478024"/>
            <a:ext cx="384048" cy="384048"/>
          </a:xfrm>
          <a:prstGeom prst="ellipse">
            <a:avLst/>
          </a:prstGeom>
          <a:solidFill>
            <a:srgbClr val="0F4C43"/>
          </a:solidFill>
          <a:ln w="12700">
            <a:solidFill>
              <a:srgbClr val="0F4C43"/>
            </a:solidFill>
            <a:prstDash val="solid"/>
          </a:ln>
        </p:spPr>
      </p:sp>
      <p:sp>
        <p:nvSpPr>
          <p:cNvPr id="10" name="Text 7"/>
          <p:cNvSpPr txBox="1"/>
          <p:nvPr/>
        </p:nvSpPr>
        <p:spPr>
          <a:xfrm>
            <a:off x="3749040" y="24780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4279392" y="2459736"/>
            <a:ext cx="7315200" cy="292608"/>
          </a:xfrm>
          <a:prstGeom prst="rect">
            <a:avLst/>
          </a:prstGeom>
          <a:noFill/>
          <a:ln/>
        </p:spPr>
        <p:txBody>
          <a:bodyPr wrap="square" lIns="0" tIns="0" rIns="0" bIns="0" rtlCol="0" anchor="ctr"/>
          <a:lstStyle/>
          <a:p>
            <a:pPr indent="0" marL="0">
              <a:buNone/>
            </a:pPr>
            <a:r>
              <a:rPr lang="en-US" sz="1450" b="1" dirty="0">
                <a:solidFill>
                  <a:srgbClr val="16202B"/>
                </a:solidFill>
                <a:latin typeface="Calibri" pitchFamily="34" charset="0"/>
                <a:ea typeface="Calibri" pitchFamily="34" charset="-122"/>
                <a:cs typeface="Calibri" pitchFamily="34" charset="-120"/>
              </a:rPr>
              <a:t>One guarded corrective patch</a:t>
            </a:r>
            <a:endParaRPr lang="en-US" sz="1450" dirty="0"/>
          </a:p>
        </p:txBody>
      </p:sp>
      <p:sp>
        <p:nvSpPr>
          <p:cNvPr id="12" name="Text 9"/>
          <p:cNvSpPr txBox="1"/>
          <p:nvPr/>
        </p:nvSpPr>
        <p:spPr>
          <a:xfrm>
            <a:off x="4279392" y="2761488"/>
            <a:ext cx="7315200" cy="548640"/>
          </a:xfrm>
          <a:prstGeom prst="rect">
            <a:avLst/>
          </a:prstGeom>
          <a:noFill/>
          <a:ln/>
        </p:spPr>
        <p:txBody>
          <a:bodyPr wrap="square" lIns="0" tIns="0" rIns="0" bIns="0" rtlCol="0" anchor="t"/>
          <a:lstStyle/>
          <a:p>
            <a:pPr indent="0" marL="0">
              <a:buNone/>
            </a:pPr>
            <a:r>
              <a:rPr lang="en-US" sz="1100" dirty="0">
                <a:solidFill>
                  <a:srgbClr val="5A6B7A"/>
                </a:solidFill>
                <a:latin typeface="Calibri" pitchFamily="34" charset="0"/>
                <a:ea typeface="Calibri" pitchFamily="34" charset="-122"/>
                <a:cs typeface="Calibri" pitchFamily="34" charset="-120"/>
              </a:rPr>
              <a:t>Only the step's own sections. A patch that changes a type, truncates, empties a section or invents a reviewer response is dropped; a thinner revision is rejected.</a:t>
            </a:r>
            <a:endParaRPr lang="en-US" sz="1100" dirty="0"/>
          </a:p>
        </p:txBody>
      </p:sp>
      <p:sp>
        <p:nvSpPr>
          <p:cNvPr id="13" name="Shape 10"/>
          <p:cNvSpPr/>
          <p:nvPr/>
        </p:nvSpPr>
        <p:spPr>
          <a:xfrm>
            <a:off x="3749040" y="3364992"/>
            <a:ext cx="384048" cy="384048"/>
          </a:xfrm>
          <a:prstGeom prst="ellipse">
            <a:avLst/>
          </a:prstGeom>
          <a:solidFill>
            <a:srgbClr val="0F4C43"/>
          </a:solidFill>
          <a:ln w="12700">
            <a:solidFill>
              <a:srgbClr val="0F4C43"/>
            </a:solidFill>
            <a:prstDash val="solid"/>
          </a:ln>
        </p:spPr>
      </p:sp>
      <p:sp>
        <p:nvSpPr>
          <p:cNvPr id="14" name="Text 11"/>
          <p:cNvSpPr txBox="1"/>
          <p:nvPr/>
        </p:nvSpPr>
        <p:spPr>
          <a:xfrm>
            <a:off x="3749040" y="33649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4279392" y="3346704"/>
            <a:ext cx="7315200" cy="292608"/>
          </a:xfrm>
          <a:prstGeom prst="rect">
            <a:avLst/>
          </a:prstGeom>
          <a:noFill/>
          <a:ln/>
        </p:spPr>
        <p:txBody>
          <a:bodyPr wrap="square" lIns="0" tIns="0" rIns="0" bIns="0" rtlCol="0" anchor="ctr"/>
          <a:lstStyle/>
          <a:p>
            <a:pPr indent="0" marL="0">
              <a:buNone/>
            </a:pPr>
            <a:r>
              <a:rPr lang="en-US" sz="1450" b="1" dirty="0">
                <a:solidFill>
                  <a:srgbClr val="16202B"/>
                </a:solidFill>
                <a:latin typeface="Calibri" pitchFamily="34" charset="0"/>
                <a:ea typeface="Calibri" pitchFamily="34" charset="-122"/>
                <a:cs typeface="Calibri" pitchFamily="34" charset="-120"/>
              </a:rPr>
              <a:t>An adjudicator that judges, never edits</a:t>
            </a:r>
            <a:endParaRPr lang="en-US" sz="1450" dirty="0"/>
          </a:p>
        </p:txBody>
      </p:sp>
      <p:sp>
        <p:nvSpPr>
          <p:cNvPr id="16" name="Text 13"/>
          <p:cNvSpPr txBox="1"/>
          <p:nvPr/>
        </p:nvSpPr>
        <p:spPr>
          <a:xfrm>
            <a:off x="4279392" y="3648456"/>
            <a:ext cx="7315200" cy="548640"/>
          </a:xfrm>
          <a:prstGeom prst="rect">
            <a:avLst/>
          </a:prstGeom>
          <a:noFill/>
          <a:ln/>
        </p:spPr>
        <p:txBody>
          <a:bodyPr wrap="square" lIns="0" tIns="0" rIns="0" bIns="0" rtlCol="0" anchor="t"/>
          <a:lstStyle/>
          <a:p>
            <a:pPr indent="0" marL="0">
              <a:buNone/>
            </a:pPr>
            <a:r>
              <a:rPr lang="en-US" sz="1100" dirty="0">
                <a:solidFill>
                  <a:srgbClr val="5A6B7A"/>
                </a:solidFill>
                <a:latin typeface="Calibri" pitchFamily="34" charset="0"/>
                <a:ea typeface="Calibri" pitchFamily="34" charset="-122"/>
                <a:cs typeface="Calibri" pitchFamily="34" charset="-120"/>
              </a:rPr>
              <a:t>It re-reads the final plan against the reviewer issues within 90 seconds. Its verdict is shown to the reader and never rewrites the plan.</a:t>
            </a:r>
            <a:endParaRPr lang="en-US" sz="1100" dirty="0"/>
          </a:p>
        </p:txBody>
      </p:sp>
      <p:sp>
        <p:nvSpPr>
          <p:cNvPr id="17" name="Shape 14"/>
          <p:cNvSpPr/>
          <p:nvPr/>
        </p:nvSpPr>
        <p:spPr>
          <a:xfrm>
            <a:off x="3749040" y="4251960"/>
            <a:ext cx="384048" cy="384048"/>
          </a:xfrm>
          <a:prstGeom prst="ellipse">
            <a:avLst/>
          </a:prstGeom>
          <a:solidFill>
            <a:srgbClr val="0F4C43"/>
          </a:solidFill>
          <a:ln w="12700">
            <a:solidFill>
              <a:srgbClr val="0F4C43"/>
            </a:solidFill>
            <a:prstDash val="solid"/>
          </a:ln>
        </p:spPr>
      </p:sp>
      <p:sp>
        <p:nvSpPr>
          <p:cNvPr id="18" name="Text 15"/>
          <p:cNvSpPr txBox="1"/>
          <p:nvPr/>
        </p:nvSpPr>
        <p:spPr>
          <a:xfrm>
            <a:off x="3749040" y="4251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4279392" y="4233672"/>
            <a:ext cx="7315200" cy="292608"/>
          </a:xfrm>
          <a:prstGeom prst="rect">
            <a:avLst/>
          </a:prstGeom>
          <a:noFill/>
          <a:ln/>
        </p:spPr>
        <p:txBody>
          <a:bodyPr wrap="square" lIns="0" tIns="0" rIns="0" bIns="0" rtlCol="0" anchor="ctr"/>
          <a:lstStyle/>
          <a:p>
            <a:pPr indent="0" marL="0">
              <a:buNone/>
            </a:pPr>
            <a:r>
              <a:rPr lang="en-US" sz="1450" b="1" dirty="0">
                <a:solidFill>
                  <a:srgbClr val="16202B"/>
                </a:solidFill>
                <a:latin typeface="Calibri" pitchFamily="34" charset="0"/>
                <a:ea typeface="Calibri" pitchFamily="34" charset="-122"/>
                <a:cs typeface="Calibri" pitchFamily="34" charset="-120"/>
              </a:rPr>
              <a:t>The deterministic layer has the last word</a:t>
            </a:r>
            <a:endParaRPr lang="en-US" sz="1450" dirty="0"/>
          </a:p>
        </p:txBody>
      </p:sp>
      <p:sp>
        <p:nvSpPr>
          <p:cNvPr id="20" name="Text 17"/>
          <p:cNvSpPr txBox="1"/>
          <p:nvPr/>
        </p:nvSpPr>
        <p:spPr>
          <a:xfrm>
            <a:off x="4279392" y="4535424"/>
            <a:ext cx="7315200" cy="548640"/>
          </a:xfrm>
          <a:prstGeom prst="rect">
            <a:avLst/>
          </a:prstGeom>
          <a:noFill/>
          <a:ln/>
        </p:spPr>
        <p:txBody>
          <a:bodyPr wrap="square" lIns="0" tIns="0" rIns="0" bIns="0" rtlCol="0" anchor="t"/>
          <a:lstStyle/>
          <a:p>
            <a:pPr indent="0" marL="0">
              <a:buNone/>
            </a:pPr>
            <a:r>
              <a:rPr lang="en-US" sz="1100" dirty="0">
                <a:solidFill>
                  <a:srgbClr val="5A6B7A"/>
                </a:solidFill>
                <a:latin typeface="Calibri" pitchFamily="34" charset="0"/>
                <a:ea typeface="Calibri" pitchFamily="34" charset="-122"/>
                <a:cs typeface="Calibri" pitchFamily="34" charset="-120"/>
              </a:rPr>
              <a:t>Thirty-seven checks read the typed estimand, sizing method, analysis, diagram and exhibits and compare them. Seven codes withhold the sample size everywhere.</a:t>
            </a:r>
            <a:endParaRPr lang="en-US" sz="1100" dirty="0"/>
          </a:p>
        </p:txBody>
      </p:sp>
      <p:sp>
        <p:nvSpPr>
          <p:cNvPr id="21" name="Shape 18"/>
          <p:cNvSpPr/>
          <p:nvPr/>
        </p:nvSpPr>
        <p:spPr>
          <a:xfrm>
            <a:off x="3749040" y="5138928"/>
            <a:ext cx="384048" cy="384048"/>
          </a:xfrm>
          <a:prstGeom prst="ellipse">
            <a:avLst/>
          </a:prstGeom>
          <a:solidFill>
            <a:srgbClr val="0F4C43"/>
          </a:solidFill>
          <a:ln w="12700">
            <a:solidFill>
              <a:srgbClr val="0F4C43"/>
            </a:solidFill>
            <a:prstDash val="solid"/>
          </a:ln>
        </p:spPr>
      </p:sp>
      <p:sp>
        <p:nvSpPr>
          <p:cNvPr id="22" name="Text 19"/>
          <p:cNvSpPr txBox="1"/>
          <p:nvPr/>
        </p:nvSpPr>
        <p:spPr>
          <a:xfrm>
            <a:off x="3749040" y="51389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0"/>
          <p:cNvSpPr txBox="1"/>
          <p:nvPr/>
        </p:nvSpPr>
        <p:spPr>
          <a:xfrm>
            <a:off x="4279392" y="5120640"/>
            <a:ext cx="7315200" cy="292608"/>
          </a:xfrm>
          <a:prstGeom prst="rect">
            <a:avLst/>
          </a:prstGeom>
          <a:noFill/>
          <a:ln/>
        </p:spPr>
        <p:txBody>
          <a:bodyPr wrap="square" lIns="0" tIns="0" rIns="0" bIns="0" rtlCol="0" anchor="ctr"/>
          <a:lstStyle/>
          <a:p>
            <a:pPr indent="0" marL="0">
              <a:buNone/>
            </a:pPr>
            <a:r>
              <a:rPr lang="en-US" sz="1450" b="1" dirty="0">
                <a:solidFill>
                  <a:srgbClr val="16202B"/>
                </a:solidFill>
                <a:latin typeface="Calibri" pitchFamily="34" charset="0"/>
                <a:ea typeface="Calibri" pitchFamily="34" charset="-122"/>
                <a:cs typeface="Calibri" pitchFamily="34" charset="-120"/>
              </a:rPr>
              <a:t>The investigator closes the loop</a:t>
            </a:r>
            <a:endParaRPr lang="en-US" sz="1450" dirty="0"/>
          </a:p>
        </p:txBody>
      </p:sp>
      <p:sp>
        <p:nvSpPr>
          <p:cNvPr id="24" name="Text 21"/>
          <p:cNvSpPr txBox="1"/>
          <p:nvPr/>
        </p:nvSpPr>
        <p:spPr>
          <a:xfrm>
            <a:off x="4279392" y="5422392"/>
            <a:ext cx="7315200" cy="548640"/>
          </a:xfrm>
          <a:prstGeom prst="rect">
            <a:avLst/>
          </a:prstGeom>
          <a:noFill/>
          <a:ln/>
        </p:spPr>
        <p:txBody>
          <a:bodyPr wrap="square" lIns="0" tIns="0" rIns="0" bIns="0" rtlCol="0" anchor="t"/>
          <a:lstStyle/>
          <a:p>
            <a:pPr indent="0" marL="0">
              <a:buNone/>
            </a:pPr>
            <a:r>
              <a:rPr lang="en-US" sz="1100" dirty="0">
                <a:solidFill>
                  <a:srgbClr val="5A6B7A"/>
                </a:solidFill>
                <a:latin typeface="Calibri" pitchFamily="34" charset="0"/>
                <a:ea typeface="Calibri" pitchFamily="34" charset="-122"/>
                <a:cs typeface="Calibri" pitchFamily="34" charset="-120"/>
              </a:rPr>
              <a:t>An edit to a confirmed decision is previewed with the work it affects. Update affected sections regenerates only the stale parts, and the result is held with a diff until it is accepted or discarded.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What failing looks like</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The plan is never blanked or regenerated by the checks. Findings are ranked and always shown.</a:t>
            </a:r>
            <a:endParaRPr lang="en-US" sz="1500" dirty="0"/>
          </a:p>
        </p:txBody>
      </p:sp>
      <p:sp>
        <p:nvSpPr>
          <p:cNvPr id="4" name="Text 2"/>
          <p:cNvSpPr txBox="1"/>
          <p:nvPr/>
        </p:nvSpPr>
        <p:spPr>
          <a:xfrm>
            <a:off x="685800" y="1645920"/>
            <a:ext cx="2926080" cy="256032"/>
          </a:xfrm>
          <a:prstGeom prst="rect">
            <a:avLst/>
          </a:prstGeom>
          <a:noFill/>
          <a:ln/>
        </p:spPr>
        <p:txBody>
          <a:bodyPr wrap="square" lIns="0" tIns="0" rIns="0" bIns="0" rtlCol="0" anchor="ctr"/>
          <a:lstStyle/>
          <a:p>
            <a:pPr indent="0" marL="0">
              <a:buNone/>
            </a:pPr>
            <a:r>
              <a:rPr lang="en-US" sz="1050" b="1" dirty="0">
                <a:solidFill>
                  <a:srgbClr val="9B3324"/>
                </a:solidFill>
                <a:latin typeface="Calibri" pitchFamily="34" charset="0"/>
                <a:ea typeface="Calibri" pitchFamily="34" charset="-122"/>
                <a:cs typeface="Calibri" pitchFamily="34" charset="-120"/>
              </a:rPr>
              <a:t>OUTCOME</a:t>
            </a:r>
            <a:endParaRPr lang="en-US" sz="1050" dirty="0"/>
          </a:p>
        </p:txBody>
      </p:sp>
      <p:sp>
        <p:nvSpPr>
          <p:cNvPr id="5" name="Text 3"/>
          <p:cNvSpPr txBox="1"/>
          <p:nvPr/>
        </p:nvSpPr>
        <p:spPr>
          <a:xfrm>
            <a:off x="3749040" y="1645920"/>
            <a:ext cx="3291840" cy="256032"/>
          </a:xfrm>
          <a:prstGeom prst="rect">
            <a:avLst/>
          </a:prstGeom>
          <a:noFill/>
          <a:ln/>
        </p:spPr>
        <p:txBody>
          <a:bodyPr wrap="square" lIns="0" tIns="0" rIns="0" bIns="0" rtlCol="0" anchor="ctr"/>
          <a:lstStyle/>
          <a:p>
            <a:pPr indent="0" marL="0">
              <a:buNone/>
            </a:pPr>
            <a:r>
              <a:rPr lang="en-US" sz="1050" b="1" dirty="0">
                <a:solidFill>
                  <a:srgbClr val="0F4C43"/>
                </a:solidFill>
                <a:latin typeface="Calibri" pitchFamily="34" charset="0"/>
                <a:ea typeface="Calibri" pitchFamily="34" charset="-122"/>
                <a:cs typeface="Calibri" pitchFamily="34" charset="-120"/>
              </a:rPr>
              <a:t>TRIGGER</a:t>
            </a:r>
            <a:endParaRPr lang="en-US" sz="1050" dirty="0"/>
          </a:p>
        </p:txBody>
      </p:sp>
      <p:sp>
        <p:nvSpPr>
          <p:cNvPr id="6" name="Text 4"/>
          <p:cNvSpPr txBox="1"/>
          <p:nvPr/>
        </p:nvSpPr>
        <p:spPr>
          <a:xfrm>
            <a:off x="7223760" y="1645920"/>
            <a:ext cx="4206240" cy="256032"/>
          </a:xfrm>
          <a:prstGeom prst="rect">
            <a:avLst/>
          </a:prstGeom>
          <a:noFill/>
          <a:ln/>
        </p:spPr>
        <p:txBody>
          <a:bodyPr wrap="square" lIns="0" tIns="0" rIns="0" bIns="0" rtlCol="0" anchor="ctr"/>
          <a:lstStyle/>
          <a:p>
            <a:pPr indent="0" marL="0">
              <a:buNone/>
            </a:pPr>
            <a:r>
              <a:rPr lang="en-US" sz="1050" b="1" dirty="0">
                <a:solidFill>
                  <a:srgbClr val="0F4C43"/>
                </a:solidFill>
                <a:latin typeface="Calibri" pitchFamily="34" charset="0"/>
                <a:ea typeface="Calibri" pitchFamily="34" charset="-122"/>
                <a:cs typeface="Calibri" pitchFamily="34" charset="-120"/>
              </a:rPr>
              <a:t>WHAT THE INVESTIGATOR SEES</a:t>
            </a:r>
            <a:endParaRPr lang="en-US" sz="1050" dirty="0"/>
          </a:p>
        </p:txBody>
      </p:sp>
      <p:sp>
        <p:nvSpPr>
          <p:cNvPr id="7" name="Shape 5"/>
          <p:cNvSpPr/>
          <p:nvPr/>
        </p:nvSpPr>
        <p:spPr>
          <a:xfrm>
            <a:off x="566928" y="1892808"/>
            <a:ext cx="10927080" cy="896112"/>
          </a:xfrm>
          <a:prstGeom prst="rect">
            <a:avLst/>
          </a:prstGeom>
          <a:solidFill>
            <a:srgbClr val="EEF3F2"/>
          </a:solidFill>
          <a:ln w="12700">
            <a:solidFill>
              <a:srgbClr val="EEF3F2"/>
            </a:solidFill>
            <a:prstDash val="solid"/>
          </a:ln>
        </p:spPr>
      </p:sp>
      <p:sp>
        <p:nvSpPr>
          <p:cNvPr id="8" name="Text 6"/>
          <p:cNvSpPr txBox="1"/>
          <p:nvPr/>
        </p:nvSpPr>
        <p:spPr>
          <a:xfrm>
            <a:off x="685800" y="1965960"/>
            <a:ext cx="2926080" cy="7772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Warning</a:t>
            </a:r>
            <a:endParaRPr lang="en-US" sz="1400" dirty="0"/>
          </a:p>
        </p:txBody>
      </p:sp>
      <p:sp>
        <p:nvSpPr>
          <p:cNvPr id="9" name="Text 7"/>
          <p:cNvSpPr txBox="1"/>
          <p:nvPr/>
        </p:nvSpPr>
        <p:spPr>
          <a:xfrm>
            <a:off x="3749040" y="1965960"/>
            <a:ext cx="3291840" cy="777240"/>
          </a:xfrm>
          <a:prstGeom prst="rect">
            <a:avLst/>
          </a:prstGeom>
          <a:noFill/>
          <a:ln/>
        </p:spPr>
        <p:txBody>
          <a:bodyPr wrap="square" lIns="0" tIns="0" rIns="0" bIns="0" rtlCol="0" anchor="t"/>
          <a:lstStyle/>
          <a:p>
            <a:pPr indent="0" marL="0">
              <a:buNone/>
            </a:pPr>
            <a:r>
              <a:rPr lang="en-US" sz="1150" dirty="0">
                <a:solidFill>
                  <a:srgbClr val="16202B"/>
                </a:solidFill>
                <a:latin typeface="Calibri" pitchFamily="34" charset="0"/>
                <a:ea typeface="Calibri" pitchFamily="34" charset="-122"/>
                <a:cs typeface="Calibri" pitchFamily="34" charset="-120"/>
              </a:rPr>
              <a:t>Any warn-level finding</a:t>
            </a:r>
            <a:endParaRPr lang="en-US" sz="1150" dirty="0"/>
          </a:p>
        </p:txBody>
      </p:sp>
      <p:sp>
        <p:nvSpPr>
          <p:cNvPr id="10" name="Text 8"/>
          <p:cNvSpPr txBox="1"/>
          <p:nvPr/>
        </p:nvSpPr>
        <p:spPr>
          <a:xfrm>
            <a:off x="7223760" y="1965960"/>
            <a:ext cx="4206240" cy="777240"/>
          </a:xfrm>
          <a:prstGeom prst="rect">
            <a:avLst/>
          </a:prstGeom>
          <a:noFill/>
          <a:ln/>
        </p:spPr>
        <p:txBody>
          <a:bodyPr wrap="square" lIns="0" tIns="0" rIns="0" bIns="0" rtlCol="0" anchor="t"/>
          <a:lstStyle/>
          <a:p>
            <a:pPr indent="0" marL="0">
              <a:buNone/>
            </a:pPr>
            <a:r>
              <a:rPr lang="en-US" sz="1150" dirty="0">
                <a:solidFill>
                  <a:srgbClr val="16202B"/>
                </a:solidFill>
                <a:latin typeface="Calibri" pitchFamily="34" charset="0"/>
                <a:ea typeface="Calibri" pitchFamily="34" charset="-122"/>
                <a:cs typeface="Calibri" pitchFamily="34" charset="-120"/>
              </a:rPr>
              <a:t>A banner above the plan, and the finding named in the audit's consistency row in every export</a:t>
            </a:r>
            <a:endParaRPr lang="en-US" sz="1150" dirty="0"/>
          </a:p>
        </p:txBody>
      </p:sp>
      <p:sp>
        <p:nvSpPr>
          <p:cNvPr id="11" name="Text 9"/>
          <p:cNvSpPr txBox="1"/>
          <p:nvPr/>
        </p:nvSpPr>
        <p:spPr>
          <a:xfrm>
            <a:off x="685800" y="2880360"/>
            <a:ext cx="2926080" cy="7772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Block</a:t>
            </a:r>
            <a:endParaRPr lang="en-US" sz="1400" dirty="0"/>
          </a:p>
        </p:txBody>
      </p:sp>
      <p:sp>
        <p:nvSpPr>
          <p:cNvPr id="12" name="Text 10"/>
          <p:cNvSpPr txBox="1"/>
          <p:nvPr/>
        </p:nvSpPr>
        <p:spPr>
          <a:xfrm>
            <a:off x="3749040" y="2880360"/>
            <a:ext cx="3291840" cy="777240"/>
          </a:xfrm>
          <a:prstGeom prst="rect">
            <a:avLst/>
          </a:prstGeom>
          <a:noFill/>
          <a:ln/>
        </p:spPr>
        <p:txBody>
          <a:bodyPr wrap="square" lIns="0" tIns="0" rIns="0" bIns="0" rtlCol="0" anchor="t"/>
          <a:lstStyle/>
          <a:p>
            <a:pPr indent="0" marL="0">
              <a:buNone/>
            </a:pPr>
            <a:r>
              <a:rPr lang="en-US" sz="1150" dirty="0">
                <a:solidFill>
                  <a:srgbClr val="16202B"/>
                </a:solidFill>
                <a:latin typeface="Calibri" pitchFamily="34" charset="0"/>
                <a:ea typeface="Calibri" pitchFamily="34" charset="-122"/>
                <a:cs typeface="Calibri" pitchFamily="34" charset="-120"/>
              </a:rPr>
              <a:t>Any block-level finding</a:t>
            </a:r>
            <a:endParaRPr lang="en-US" sz="1150" dirty="0"/>
          </a:p>
        </p:txBody>
      </p:sp>
      <p:sp>
        <p:nvSpPr>
          <p:cNvPr id="13" name="Text 11"/>
          <p:cNvSpPr txBox="1"/>
          <p:nvPr/>
        </p:nvSpPr>
        <p:spPr>
          <a:xfrm>
            <a:off x="7223760" y="2880360"/>
            <a:ext cx="4206240" cy="777240"/>
          </a:xfrm>
          <a:prstGeom prst="rect">
            <a:avLst/>
          </a:prstGeom>
          <a:noFill/>
          <a:ln/>
        </p:spPr>
        <p:txBody>
          <a:bodyPr wrap="square" lIns="0" tIns="0" rIns="0" bIns="0" rtlCol="0" anchor="t"/>
          <a:lstStyle/>
          <a:p>
            <a:pPr indent="0" marL="0">
              <a:buNone/>
            </a:pPr>
            <a:r>
              <a:rPr lang="en-US" sz="1150" dirty="0">
                <a:solidFill>
                  <a:srgbClr val="16202B"/>
                </a:solidFill>
                <a:latin typeface="Calibri" pitchFamily="34" charset="0"/>
                <a:ea typeface="Calibri" pitchFamily="34" charset="-122"/>
                <a:cs typeface="Calibri" pitchFamily="34" charset="-120"/>
              </a:rPr>
              <a:t>The same banner, red, headed "This plan contradicts itself"</a:t>
            </a:r>
            <a:endParaRPr lang="en-US" sz="1150" dirty="0"/>
          </a:p>
        </p:txBody>
      </p:sp>
      <p:sp>
        <p:nvSpPr>
          <p:cNvPr id="14" name="Shape 12"/>
          <p:cNvSpPr/>
          <p:nvPr/>
        </p:nvSpPr>
        <p:spPr>
          <a:xfrm>
            <a:off x="566928" y="3721608"/>
            <a:ext cx="10927080" cy="896112"/>
          </a:xfrm>
          <a:prstGeom prst="rect">
            <a:avLst/>
          </a:prstGeom>
          <a:solidFill>
            <a:srgbClr val="EEF3F2"/>
          </a:solidFill>
          <a:ln w="12700">
            <a:solidFill>
              <a:srgbClr val="EEF3F2"/>
            </a:solidFill>
            <a:prstDash val="solid"/>
          </a:ln>
        </p:spPr>
      </p:sp>
      <p:sp>
        <p:nvSpPr>
          <p:cNvPr id="15" name="Text 13"/>
          <p:cNvSpPr txBox="1"/>
          <p:nvPr/>
        </p:nvSpPr>
        <p:spPr>
          <a:xfrm>
            <a:off x="685800" y="3794760"/>
            <a:ext cx="2926080" cy="7772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Headline withheld</a:t>
            </a:r>
            <a:endParaRPr lang="en-US" sz="1400" dirty="0"/>
          </a:p>
        </p:txBody>
      </p:sp>
      <p:sp>
        <p:nvSpPr>
          <p:cNvPr id="16" name="Text 14"/>
          <p:cNvSpPr txBox="1"/>
          <p:nvPr/>
        </p:nvSpPr>
        <p:spPr>
          <a:xfrm>
            <a:off x="3749040" y="3794760"/>
            <a:ext cx="3291840" cy="777240"/>
          </a:xfrm>
          <a:prstGeom prst="rect">
            <a:avLst/>
          </a:prstGeom>
          <a:noFill/>
          <a:ln/>
        </p:spPr>
        <p:txBody>
          <a:bodyPr wrap="square" lIns="0" tIns="0" rIns="0" bIns="0" rtlCol="0" anchor="t"/>
          <a:lstStyle/>
          <a:p>
            <a:pPr indent="0" marL="0">
              <a:buNone/>
            </a:pPr>
            <a:r>
              <a:rPr lang="en-US" sz="1150" dirty="0">
                <a:solidFill>
                  <a:srgbClr val="16202B"/>
                </a:solidFill>
                <a:latin typeface="Calibri" pitchFamily="34" charset="0"/>
                <a:ea typeface="Calibri" pitchFamily="34" charset="-122"/>
                <a:cs typeface="Calibri" pitchFamily="34" charset="-120"/>
              </a:rPr>
              <a:t>One of seven headline-suppressing codes, or an unresolved reviewer point typed as affecting the sample size</a:t>
            </a:r>
            <a:endParaRPr lang="en-US" sz="1150" dirty="0"/>
          </a:p>
        </p:txBody>
      </p:sp>
      <p:sp>
        <p:nvSpPr>
          <p:cNvPr id="17" name="Text 15"/>
          <p:cNvSpPr txBox="1"/>
          <p:nvPr/>
        </p:nvSpPr>
        <p:spPr>
          <a:xfrm>
            <a:off x="7223760" y="3794760"/>
            <a:ext cx="4206240" cy="777240"/>
          </a:xfrm>
          <a:prstGeom prst="rect">
            <a:avLst/>
          </a:prstGeom>
          <a:noFill/>
          <a:ln/>
        </p:spPr>
        <p:txBody>
          <a:bodyPr wrap="square" lIns="0" tIns="0" rIns="0" bIns="0" rtlCol="0" anchor="t"/>
          <a:lstStyle/>
          <a:p>
            <a:pPr indent="0" marL="0">
              <a:buNone/>
            </a:pPr>
            <a:r>
              <a:rPr lang="en-US" sz="1150" dirty="0">
                <a:solidFill>
                  <a:srgbClr val="16202B"/>
                </a:solidFill>
                <a:latin typeface="Calibri" pitchFamily="34" charset="0"/>
                <a:ea typeface="Calibri" pitchFamily="34" charset="-122"/>
                <a:cs typeface="Calibri" pitchFamily="34" charset="-120"/>
              </a:rPr>
              <a:t>No sample-size number anywhere: screen, memo, HTML, Word. The panel says whether the reason is a contradiction, an open review point, or that no formula fits</a:t>
            </a:r>
            <a:endParaRPr lang="en-US" sz="1150" dirty="0"/>
          </a:p>
        </p:txBody>
      </p:sp>
      <p:sp>
        <p:nvSpPr>
          <p:cNvPr id="18" name="Text 16"/>
          <p:cNvSpPr txBox="1"/>
          <p:nvPr/>
        </p:nvSpPr>
        <p:spPr>
          <a:xfrm>
            <a:off x="685800" y="4709160"/>
            <a:ext cx="2926080" cy="777240"/>
          </a:xfrm>
          <a:prstGeom prst="rect">
            <a:avLst/>
          </a:prstGeom>
          <a:noFill/>
          <a:ln/>
        </p:spPr>
        <p:txBody>
          <a:bodyPr wrap="square" lIns="0" tIns="0" rIns="0" bIns="0" rtlCol="0" anchor="t"/>
          <a:lstStyle/>
          <a:p>
            <a:pPr indent="0" marL="0">
              <a:buNone/>
            </a:pPr>
            <a:r>
              <a:rPr lang="en-US" sz="1400" b="1" dirty="0">
                <a:solidFill>
                  <a:srgbClr val="16202B"/>
                </a:solidFill>
                <a:latin typeface="Calibri" pitchFamily="34" charset="0"/>
                <a:ea typeface="Calibri" pitchFamily="34" charset="-122"/>
                <a:cs typeface="Calibri" pitchFamily="34" charset="-120"/>
              </a:rPr>
              <a:t>Needs statistical review</a:t>
            </a:r>
            <a:endParaRPr lang="en-US" sz="1400" dirty="0"/>
          </a:p>
        </p:txBody>
      </p:sp>
      <p:sp>
        <p:nvSpPr>
          <p:cNvPr id="19" name="Text 17"/>
          <p:cNvSpPr txBox="1"/>
          <p:nvPr/>
        </p:nvSpPr>
        <p:spPr>
          <a:xfrm>
            <a:off x="3749040" y="4709160"/>
            <a:ext cx="3291840" cy="777240"/>
          </a:xfrm>
          <a:prstGeom prst="rect">
            <a:avLst/>
          </a:prstGeom>
          <a:noFill/>
          <a:ln/>
        </p:spPr>
        <p:txBody>
          <a:bodyPr wrap="square" lIns="0" tIns="0" rIns="0" bIns="0" rtlCol="0" anchor="t"/>
          <a:lstStyle/>
          <a:p>
            <a:pPr indent="0" marL="0">
              <a:buNone/>
            </a:pPr>
            <a:r>
              <a:rPr lang="en-US" sz="1150" dirty="0">
                <a:solidFill>
                  <a:srgbClr val="16202B"/>
                </a:solidFill>
                <a:latin typeface="Calibri" pitchFamily="34" charset="0"/>
                <a:ea typeface="Calibri" pitchFamily="34" charset="-122"/>
                <a:cs typeface="Calibri" pitchFamily="34" charset="-120"/>
              </a:rPr>
              <a:t>An unresolved reviewer point affecting the primary analysis</a:t>
            </a:r>
            <a:endParaRPr lang="en-US" sz="1150" dirty="0"/>
          </a:p>
        </p:txBody>
      </p:sp>
      <p:sp>
        <p:nvSpPr>
          <p:cNvPr id="20" name="Text 18"/>
          <p:cNvSpPr txBox="1"/>
          <p:nvPr/>
        </p:nvSpPr>
        <p:spPr>
          <a:xfrm>
            <a:off x="7223760" y="4709160"/>
            <a:ext cx="4206240" cy="777240"/>
          </a:xfrm>
          <a:prstGeom prst="rect">
            <a:avLst/>
          </a:prstGeom>
          <a:noFill/>
          <a:ln/>
        </p:spPr>
        <p:txBody>
          <a:bodyPr wrap="square" lIns="0" tIns="0" rIns="0" bIns="0" rtlCol="0" anchor="t"/>
          <a:lstStyle/>
          <a:p>
            <a:pPr indent="0" marL="0">
              <a:buNone/>
            </a:pPr>
            <a:r>
              <a:rPr lang="en-US" sz="1150" dirty="0">
                <a:solidFill>
                  <a:srgbClr val="16202B"/>
                </a:solidFill>
                <a:latin typeface="Calibri" pitchFamily="34" charset="0"/>
                <a:ea typeface="Calibri" pitchFamily="34" charset="-122"/>
                <a:cs typeface="Calibri" pitchFamily="34" charset="-120"/>
              </a:rPr>
              <a:t>A status carried to the screen, memo, audit and library card. The analysis stays visible</a:t>
            </a:r>
            <a:endParaRPr lang="en-US" sz="1150" dirty="0"/>
          </a:p>
        </p:txBody>
      </p:sp>
      <p:sp>
        <p:nvSpPr>
          <p:cNvPr id="21" name="Text 19"/>
          <p:cNvSpPr txBox="1"/>
          <p:nvPr/>
        </p:nvSpPr>
        <p:spPr>
          <a:xfrm>
            <a:off x="566928" y="5806440"/>
            <a:ext cx="10881360" cy="548640"/>
          </a:xfrm>
          <a:prstGeom prst="rect">
            <a:avLst/>
          </a:prstGeom>
          <a:noFill/>
          <a:ln/>
        </p:spPr>
        <p:txBody>
          <a:bodyPr wrap="square" lIns="0" tIns="0" rIns="0" bIns="0" rtlCol="0" anchor="ctr"/>
          <a:lstStyle/>
          <a:p>
            <a:pPr indent="0" marL="0">
              <a:buNone/>
            </a:pPr>
            <a:r>
              <a:rPr lang="en-US" sz="1400" b="1" dirty="0">
                <a:solidFill>
                  <a:srgbClr val="0F4C43"/>
                </a:solidFill>
                <a:latin typeface="Calibri" pitchFamily="34" charset="0"/>
                <a:ea typeface="Calibri" pitchFamily="34" charset="-122"/>
                <a:cs typeface="Calibri" pitchFamily="34" charset="-120"/>
              </a:rPr>
              <a:t>A false positive that shows a blank screen destroys work a paid credit bought. So a contradiction removes the number, not the reasoning, and the reader can see why.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Who decides what</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Every activity sits in one of three lanes, and nothing reaches the export without the third</a:t>
            </a:r>
            <a:endParaRPr lang="en-US" sz="1500" dirty="0"/>
          </a:p>
        </p:txBody>
      </p:sp>
      <p:sp>
        <p:nvSpPr>
          <p:cNvPr id="4" name="Shape 2"/>
          <p:cNvSpPr/>
          <p:nvPr/>
        </p:nvSpPr>
        <p:spPr>
          <a:xfrm>
            <a:off x="566928" y="1600200"/>
            <a:ext cx="3520440" cy="987552"/>
          </a:xfrm>
          <a:prstGeom prst="roundRect">
            <a:avLst>
              <a:gd name="adj" fmla="val 7407"/>
            </a:avLst>
          </a:prstGeom>
          <a:solidFill>
            <a:srgbClr val="0F4C43"/>
          </a:solidFill>
          <a:ln w="12700">
            <a:solidFill>
              <a:srgbClr val="0F4C43"/>
            </a:solidFill>
            <a:prstDash val="solid"/>
          </a:ln>
        </p:spPr>
      </p:sp>
      <p:sp>
        <p:nvSpPr>
          <p:cNvPr id="5" name="Shape 3"/>
          <p:cNvSpPr/>
          <p:nvPr/>
        </p:nvSpPr>
        <p:spPr>
          <a:xfrm>
            <a:off x="566928" y="2478024"/>
            <a:ext cx="3520440" cy="109728"/>
          </a:xfrm>
          <a:prstGeom prst="rect">
            <a:avLst/>
          </a:prstGeom>
          <a:solidFill>
            <a:srgbClr val="0F4C43"/>
          </a:solidFill>
          <a:ln w="12700">
            <a:solidFill>
              <a:srgbClr val="0F4C43"/>
            </a:solidFill>
            <a:prstDash val="solid"/>
          </a:ln>
        </p:spPr>
      </p:sp>
      <p:sp>
        <p:nvSpPr>
          <p:cNvPr id="6" name="Shape 4"/>
          <p:cNvSpPr/>
          <p:nvPr/>
        </p:nvSpPr>
        <p:spPr>
          <a:xfrm>
            <a:off x="566928" y="2587752"/>
            <a:ext cx="3520440" cy="2971800"/>
          </a:xfrm>
          <a:prstGeom prst="roundRect">
            <a:avLst>
              <a:gd name="adj" fmla="val 2462"/>
            </a:avLst>
          </a:prstGeom>
          <a:solidFill>
            <a:srgbClr val="F7FAF9"/>
          </a:solidFill>
          <a:ln w="12700">
            <a:solidFill>
              <a:srgbClr val="F7FAF9"/>
            </a:solidFill>
            <a:prstDash val="solid"/>
          </a:ln>
        </p:spPr>
      </p:sp>
      <p:sp>
        <p:nvSpPr>
          <p:cNvPr id="7" name="Shape 5"/>
          <p:cNvSpPr/>
          <p:nvPr/>
        </p:nvSpPr>
        <p:spPr>
          <a:xfrm>
            <a:off x="566928" y="2587752"/>
            <a:ext cx="3520440" cy="91440"/>
          </a:xfrm>
          <a:prstGeom prst="rect">
            <a:avLst/>
          </a:prstGeom>
          <a:solidFill>
            <a:srgbClr val="F7FAF9"/>
          </a:solidFill>
          <a:ln w="12700">
            <a:solidFill>
              <a:srgbClr val="F7FAF9"/>
            </a:solidFill>
            <a:prstDash val="solid"/>
          </a:ln>
        </p:spPr>
      </p:sp>
      <p:sp>
        <p:nvSpPr>
          <p:cNvPr id="8" name="Text 6"/>
          <p:cNvSpPr txBox="1"/>
          <p:nvPr/>
        </p:nvSpPr>
        <p:spPr>
          <a:xfrm>
            <a:off x="731520" y="1700784"/>
            <a:ext cx="3191256" cy="201168"/>
          </a:xfrm>
          <a:prstGeom prst="rect">
            <a:avLst/>
          </a:prstGeom>
          <a:noFill/>
          <a:ln/>
        </p:spPr>
        <p:txBody>
          <a:bodyPr wrap="square" lIns="0" tIns="0" rIns="0" bIns="0" rtlCol="0" anchor="ctr"/>
          <a:lstStyle/>
          <a:p>
            <a:pPr indent="0" marL="0">
              <a:buNone/>
            </a:pPr>
            <a:r>
              <a:rPr lang="en-US" sz="950" b="1" dirty="0">
                <a:solidFill>
                  <a:srgbClr val="8FC3B5"/>
                </a:solidFill>
                <a:latin typeface="Consolas" pitchFamily="34" charset="0"/>
                <a:ea typeface="Consolas" pitchFamily="34" charset="-122"/>
                <a:cs typeface="Consolas" pitchFamily="34" charset="-120"/>
              </a:rPr>
              <a:t>LANE 1</a:t>
            </a:r>
            <a:endParaRPr lang="en-US" sz="950" dirty="0"/>
          </a:p>
        </p:txBody>
      </p:sp>
      <p:sp>
        <p:nvSpPr>
          <p:cNvPr id="9" name="Text 7"/>
          <p:cNvSpPr txBox="1"/>
          <p:nvPr/>
        </p:nvSpPr>
        <p:spPr>
          <a:xfrm>
            <a:off x="731520" y="1892808"/>
            <a:ext cx="3191256" cy="603504"/>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The investigator</a:t>
            </a:r>
            <a:endParaRPr lang="en-US" sz="1900" dirty="0"/>
          </a:p>
        </p:txBody>
      </p:sp>
      <p:sp>
        <p:nvSpPr>
          <p:cNvPr id="10" name="Text 8"/>
          <p:cNvSpPr txBox="1"/>
          <p:nvPr/>
        </p:nvSpPr>
        <p:spPr>
          <a:xfrm>
            <a:off x="713232" y="2715768"/>
            <a:ext cx="3227832" cy="2715768"/>
          </a:xfrm>
          <a:prstGeom prst="rect">
            <a:avLst/>
          </a:prstGeom>
          <a:noFill/>
          <a:ln/>
        </p:spPr>
        <p:txBody>
          <a:bodyPr wrap="square" lIns="0" tIns="0" rIns="0" bIns="0" rtlCol="0" anchor="t"/>
          <a:lstStyle/>
          <a:p>
            <a:pPr indent="0" marL="0">
              <a:spcAft>
                <a:spcPts val="400"/>
              </a:spcAft>
              <a:buNone/>
            </a:pPr>
            <a:r>
              <a:rPr lang="en-US" sz="1200" b="1" dirty="0">
                <a:solidFill>
                  <a:srgbClr val="0F4C43"/>
                </a:solidFill>
                <a:latin typeface="Calibri" pitchFamily="34" charset="0"/>
                <a:ea typeface="Calibri" pitchFamily="34" charset="-122"/>
                <a:cs typeface="Calibri" pitchFamily="34" charset="-120"/>
              </a:rPr>
              <a:t>●  11 typed inputs and 4 presses</a:t>
            </a:r>
            <a:endParaRPr lang="en-US" sz="1200" dirty="0"/>
          </a:p>
          <a:p>
            <a:pPr indent="0" marL="0">
              <a:spcAft>
                <a:spcPts val="600"/>
              </a:spcAft>
              <a:buNone/>
            </a:pPr>
            <a:r>
              <a:rPr lang="en-US" sz="1200" dirty="0">
                <a:solidFill>
                  <a:srgbClr val="16202B"/>
                </a:solidFill>
                <a:latin typeface="Calibri" pitchFamily="34" charset="0"/>
                <a:ea typeface="Calibri" pitchFamily="34" charset="-122"/>
                <a:cs typeface="Calibri" pitchFamily="34" charset="-120"/>
              </a:rPr>
              <a:t>Context fields, aims and hypotheses, feasibility answers, estimand and variables, answers to the model, analysis contract and sizing inputs, counts, execution, finalisation. Presses: build study, draft analyses, draft execution, write-up and code.</a:t>
            </a:r>
            <a:endParaRPr lang="en-US" sz="1200" dirty="0"/>
          </a:p>
          <a:p>
            <a:pPr indent="0" marL="0">
              <a:spcAft>
                <a:spcPts val="400"/>
              </a:spcAft>
              <a:buNone/>
            </a:pPr>
            <a:r>
              <a:rPr lang="en-US" sz="1200" b="1" dirty="0">
                <a:solidFill>
                  <a:srgbClr val="0F4C43"/>
                </a:solidFill>
                <a:latin typeface="Calibri" pitchFamily="34" charset="0"/>
                <a:ea typeface="Calibri" pitchFamily="34" charset="-122"/>
                <a:cs typeface="Calibri" pitchFamily="34" charset="-120"/>
              </a:rPr>
              <a:t>●  11 decisions</a:t>
            </a:r>
            <a:endParaRPr lang="en-US" sz="1200" dirty="0"/>
          </a:p>
          <a:p>
            <a:pPr indent="0" marL="0">
              <a:spcAft>
                <a:spcPts val="600"/>
              </a:spcAft>
              <a:buNone/>
            </a:pPr>
            <a:r>
              <a:rPr lang="en-US" sz="1200" dirty="0">
                <a:solidFill>
                  <a:srgbClr val="16202B"/>
                </a:solidFill>
                <a:latin typeface="Calibri" pitchFamily="34" charset="0"/>
                <a:ea typeface="Calibri" pitchFamily="34" charset="-122"/>
                <a:cs typeface="Calibri" pitchFamily="34" charset="-120"/>
              </a:rPr>
              <a:t>Confirmatory or not, aims-check disposition, basis per answer, approve or alternative, each design condition, data requests, multiplicity, save or update after an edit, accept or discard a result, readiness, write-up and code.</a:t>
            </a:r>
            <a:endParaRPr lang="en-US" sz="1200" dirty="0"/>
          </a:p>
        </p:txBody>
      </p:sp>
      <p:sp>
        <p:nvSpPr>
          <p:cNvPr id="11" name="Shape 9"/>
          <p:cNvSpPr/>
          <p:nvPr/>
        </p:nvSpPr>
        <p:spPr>
          <a:xfrm>
            <a:off x="4242816" y="1600200"/>
            <a:ext cx="3520440" cy="987552"/>
          </a:xfrm>
          <a:prstGeom prst="roundRect">
            <a:avLst>
              <a:gd name="adj" fmla="val 7407"/>
            </a:avLst>
          </a:prstGeom>
          <a:solidFill>
            <a:srgbClr val="0F4C43"/>
          </a:solidFill>
          <a:ln w="12700">
            <a:solidFill>
              <a:srgbClr val="0F4C43"/>
            </a:solidFill>
            <a:prstDash val="solid"/>
          </a:ln>
        </p:spPr>
      </p:sp>
      <p:sp>
        <p:nvSpPr>
          <p:cNvPr id="12" name="Shape 10"/>
          <p:cNvSpPr/>
          <p:nvPr/>
        </p:nvSpPr>
        <p:spPr>
          <a:xfrm>
            <a:off x="4242816" y="2478024"/>
            <a:ext cx="3520440" cy="109728"/>
          </a:xfrm>
          <a:prstGeom prst="rect">
            <a:avLst/>
          </a:prstGeom>
          <a:solidFill>
            <a:srgbClr val="0F4C43"/>
          </a:solidFill>
          <a:ln w="12700">
            <a:solidFill>
              <a:srgbClr val="0F4C43"/>
            </a:solidFill>
            <a:prstDash val="solid"/>
          </a:ln>
        </p:spPr>
      </p:sp>
      <p:sp>
        <p:nvSpPr>
          <p:cNvPr id="13" name="Shape 11"/>
          <p:cNvSpPr/>
          <p:nvPr/>
        </p:nvSpPr>
        <p:spPr>
          <a:xfrm>
            <a:off x="4242816" y="2587752"/>
            <a:ext cx="3520440" cy="2971800"/>
          </a:xfrm>
          <a:prstGeom prst="roundRect">
            <a:avLst>
              <a:gd name="adj" fmla="val 2462"/>
            </a:avLst>
          </a:prstGeom>
          <a:solidFill>
            <a:srgbClr val="F7FAF9"/>
          </a:solidFill>
          <a:ln w="12700">
            <a:solidFill>
              <a:srgbClr val="F7FAF9"/>
            </a:solidFill>
            <a:prstDash val="solid"/>
          </a:ln>
        </p:spPr>
      </p:sp>
      <p:sp>
        <p:nvSpPr>
          <p:cNvPr id="14" name="Shape 12"/>
          <p:cNvSpPr/>
          <p:nvPr/>
        </p:nvSpPr>
        <p:spPr>
          <a:xfrm>
            <a:off x="4242816" y="2587752"/>
            <a:ext cx="3520440" cy="91440"/>
          </a:xfrm>
          <a:prstGeom prst="rect">
            <a:avLst/>
          </a:prstGeom>
          <a:solidFill>
            <a:srgbClr val="F7FAF9"/>
          </a:solidFill>
          <a:ln w="12700">
            <a:solidFill>
              <a:srgbClr val="F7FAF9"/>
            </a:solidFill>
            <a:prstDash val="solid"/>
          </a:ln>
        </p:spPr>
      </p:sp>
      <p:sp>
        <p:nvSpPr>
          <p:cNvPr id="15" name="Text 13"/>
          <p:cNvSpPr txBox="1"/>
          <p:nvPr/>
        </p:nvSpPr>
        <p:spPr>
          <a:xfrm>
            <a:off x="4407408" y="1700784"/>
            <a:ext cx="3191256" cy="201168"/>
          </a:xfrm>
          <a:prstGeom prst="rect">
            <a:avLst/>
          </a:prstGeom>
          <a:noFill/>
          <a:ln/>
        </p:spPr>
        <p:txBody>
          <a:bodyPr wrap="square" lIns="0" tIns="0" rIns="0" bIns="0" rtlCol="0" anchor="ctr"/>
          <a:lstStyle/>
          <a:p>
            <a:pPr indent="0" marL="0">
              <a:buNone/>
            </a:pPr>
            <a:r>
              <a:rPr lang="en-US" sz="950" b="1" dirty="0">
                <a:solidFill>
                  <a:srgbClr val="8FC3B5"/>
                </a:solidFill>
                <a:latin typeface="Consolas" pitchFamily="34" charset="0"/>
                <a:ea typeface="Consolas" pitchFamily="34" charset="-122"/>
                <a:cs typeface="Consolas" pitchFamily="34" charset="-120"/>
              </a:rPr>
              <a:t>LANE 2</a:t>
            </a:r>
            <a:endParaRPr lang="en-US" sz="950" dirty="0"/>
          </a:p>
        </p:txBody>
      </p:sp>
      <p:sp>
        <p:nvSpPr>
          <p:cNvPr id="16" name="Text 14"/>
          <p:cNvSpPr txBox="1"/>
          <p:nvPr/>
        </p:nvSpPr>
        <p:spPr>
          <a:xfrm>
            <a:off x="4407408" y="1892808"/>
            <a:ext cx="3191256" cy="603504"/>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Stochastic language models</a:t>
            </a:r>
            <a:endParaRPr lang="en-US" sz="1900" dirty="0"/>
          </a:p>
        </p:txBody>
      </p:sp>
      <p:sp>
        <p:nvSpPr>
          <p:cNvPr id="17" name="Text 15"/>
          <p:cNvSpPr txBox="1"/>
          <p:nvPr/>
        </p:nvSpPr>
        <p:spPr>
          <a:xfrm>
            <a:off x="4389120" y="2715768"/>
            <a:ext cx="3227832" cy="2715768"/>
          </a:xfrm>
          <a:prstGeom prst="rect">
            <a:avLst/>
          </a:prstGeom>
          <a:noFill/>
          <a:ln/>
        </p:spPr>
        <p:txBody>
          <a:bodyPr wrap="square" lIns="0" tIns="0" rIns="0" bIns="0" rtlCol="0" anchor="t"/>
          <a:lstStyle/>
          <a:p>
            <a:pPr indent="0" marL="0">
              <a:spcAft>
                <a:spcPts val="400"/>
              </a:spcAft>
              <a:buNone/>
            </a:pPr>
            <a:r>
              <a:rPr lang="en-US" sz="1200" b="1" dirty="0">
                <a:solidFill>
                  <a:srgbClr val="0F4C43"/>
                </a:solidFill>
                <a:latin typeface="Calibri" pitchFamily="34" charset="0"/>
                <a:ea typeface="Calibri" pitchFamily="34" charset="-122"/>
                <a:cs typeface="Calibri" pitchFamily="34" charset="-120"/>
              </a:rPr>
              <a:t>●  Draft and review</a:t>
            </a:r>
            <a:endParaRPr lang="en-US" sz="1200" dirty="0"/>
          </a:p>
          <a:p>
            <a:pPr indent="0" marL="0">
              <a:spcAft>
                <a:spcPts val="600"/>
              </a:spcAft>
              <a:buNone/>
            </a:pPr>
            <a:r>
              <a:rPr lang="en-US" sz="1200" dirty="0">
                <a:solidFill>
                  <a:srgbClr val="16202B"/>
                </a:solidFill>
                <a:latin typeface="Calibri" pitchFamily="34" charset="0"/>
                <a:ea typeface="Calibri" pitchFamily="34" charset="-122"/>
                <a:cs typeface="Calibri" pitchFamily="34" charset="-120"/>
              </a:rPr>
              <a:t>Suggest aims, draft the brief and each step, review as two independent labs, propose one patch, adjudicate.</a:t>
            </a:r>
            <a:endParaRPr lang="en-US" sz="1200" dirty="0"/>
          </a:p>
          <a:p>
            <a:pPr indent="0" marL="0">
              <a:spcAft>
                <a:spcPts val="400"/>
              </a:spcAft>
              <a:buNone/>
            </a:pPr>
            <a:r>
              <a:rPr lang="en-US" sz="1200" b="1" dirty="0">
                <a:solidFill>
                  <a:srgbClr val="0F4C43"/>
                </a:solidFill>
                <a:latin typeface="Calibri" pitchFamily="34" charset="0"/>
                <a:ea typeface="Calibri" pitchFamily="34" charset="-122"/>
                <a:cs typeface="Calibri" pitchFamily="34" charset="-120"/>
              </a:rPr>
              <a:t>●  Output varies run to run</a:t>
            </a:r>
            <a:endParaRPr lang="en-US" sz="1200" dirty="0"/>
          </a:p>
          <a:p>
            <a:pPr indent="0" marL="0">
              <a:spcAft>
                <a:spcPts val="600"/>
              </a:spcAft>
              <a:buNone/>
            </a:pPr>
            <a:r>
              <a:rPr lang="en-US" sz="1200" dirty="0">
                <a:solidFill>
                  <a:srgbClr val="16202B"/>
                </a:solidFill>
                <a:latin typeface="Calibri" pitchFamily="34" charset="0"/>
                <a:ea typeface="Calibri" pitchFamily="34" charset="-122"/>
                <a:cs typeface="Calibri" pitchFamily="34" charset="-120"/>
              </a:rPr>
              <a:t>So nothing a model writes is trusted on its own. Every draft is checked against the typed facts before it is shown.</a:t>
            </a:r>
            <a:endParaRPr lang="en-US" sz="1200" dirty="0"/>
          </a:p>
        </p:txBody>
      </p:sp>
      <p:sp>
        <p:nvSpPr>
          <p:cNvPr id="18" name="Shape 16"/>
          <p:cNvSpPr/>
          <p:nvPr/>
        </p:nvSpPr>
        <p:spPr>
          <a:xfrm>
            <a:off x="7918704" y="1600200"/>
            <a:ext cx="3520440" cy="987552"/>
          </a:xfrm>
          <a:prstGeom prst="roundRect">
            <a:avLst>
              <a:gd name="adj" fmla="val 7407"/>
            </a:avLst>
          </a:prstGeom>
          <a:solidFill>
            <a:srgbClr val="0F4C43"/>
          </a:solidFill>
          <a:ln w="12700">
            <a:solidFill>
              <a:srgbClr val="0F4C43"/>
            </a:solidFill>
            <a:prstDash val="solid"/>
          </a:ln>
        </p:spPr>
      </p:sp>
      <p:sp>
        <p:nvSpPr>
          <p:cNvPr id="19" name="Shape 17"/>
          <p:cNvSpPr/>
          <p:nvPr/>
        </p:nvSpPr>
        <p:spPr>
          <a:xfrm>
            <a:off x="7918704" y="2478024"/>
            <a:ext cx="3520440" cy="109728"/>
          </a:xfrm>
          <a:prstGeom prst="rect">
            <a:avLst/>
          </a:prstGeom>
          <a:solidFill>
            <a:srgbClr val="0F4C43"/>
          </a:solidFill>
          <a:ln w="12700">
            <a:solidFill>
              <a:srgbClr val="0F4C43"/>
            </a:solidFill>
            <a:prstDash val="solid"/>
          </a:ln>
        </p:spPr>
      </p:sp>
      <p:sp>
        <p:nvSpPr>
          <p:cNvPr id="20" name="Shape 18"/>
          <p:cNvSpPr/>
          <p:nvPr/>
        </p:nvSpPr>
        <p:spPr>
          <a:xfrm>
            <a:off x="7918704" y="2587752"/>
            <a:ext cx="3520440" cy="2971800"/>
          </a:xfrm>
          <a:prstGeom prst="roundRect">
            <a:avLst>
              <a:gd name="adj" fmla="val 2462"/>
            </a:avLst>
          </a:prstGeom>
          <a:solidFill>
            <a:srgbClr val="F7FAF9"/>
          </a:solidFill>
          <a:ln w="12700">
            <a:solidFill>
              <a:srgbClr val="F7FAF9"/>
            </a:solidFill>
            <a:prstDash val="solid"/>
          </a:ln>
        </p:spPr>
      </p:sp>
      <p:sp>
        <p:nvSpPr>
          <p:cNvPr id="21" name="Shape 19"/>
          <p:cNvSpPr/>
          <p:nvPr/>
        </p:nvSpPr>
        <p:spPr>
          <a:xfrm>
            <a:off x="7918704" y="2587752"/>
            <a:ext cx="3520440" cy="91440"/>
          </a:xfrm>
          <a:prstGeom prst="rect">
            <a:avLst/>
          </a:prstGeom>
          <a:solidFill>
            <a:srgbClr val="F7FAF9"/>
          </a:solidFill>
          <a:ln w="12700">
            <a:solidFill>
              <a:srgbClr val="F7FAF9"/>
            </a:solidFill>
            <a:prstDash val="solid"/>
          </a:ln>
        </p:spPr>
      </p:sp>
      <p:sp>
        <p:nvSpPr>
          <p:cNvPr id="22" name="Text 20"/>
          <p:cNvSpPr txBox="1"/>
          <p:nvPr/>
        </p:nvSpPr>
        <p:spPr>
          <a:xfrm>
            <a:off x="8083296" y="1700784"/>
            <a:ext cx="3191256" cy="201168"/>
          </a:xfrm>
          <a:prstGeom prst="rect">
            <a:avLst/>
          </a:prstGeom>
          <a:noFill/>
          <a:ln/>
        </p:spPr>
        <p:txBody>
          <a:bodyPr wrap="square" lIns="0" tIns="0" rIns="0" bIns="0" rtlCol="0" anchor="ctr"/>
          <a:lstStyle/>
          <a:p>
            <a:pPr indent="0" marL="0">
              <a:buNone/>
            </a:pPr>
            <a:r>
              <a:rPr lang="en-US" sz="950" b="1" dirty="0">
                <a:solidFill>
                  <a:srgbClr val="8FC3B5"/>
                </a:solidFill>
                <a:latin typeface="Consolas" pitchFamily="34" charset="0"/>
                <a:ea typeface="Consolas" pitchFamily="34" charset="-122"/>
                <a:cs typeface="Consolas" pitchFamily="34" charset="-120"/>
              </a:rPr>
              <a:t>LANE 3</a:t>
            </a:r>
            <a:endParaRPr lang="en-US" sz="950" dirty="0"/>
          </a:p>
        </p:txBody>
      </p:sp>
      <p:sp>
        <p:nvSpPr>
          <p:cNvPr id="23" name="Text 21"/>
          <p:cNvSpPr txBox="1"/>
          <p:nvPr/>
        </p:nvSpPr>
        <p:spPr>
          <a:xfrm>
            <a:off x="8083296" y="1892808"/>
            <a:ext cx="3191256" cy="603504"/>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Deterministic code</a:t>
            </a:r>
            <a:endParaRPr lang="en-US" sz="1900" dirty="0"/>
          </a:p>
        </p:txBody>
      </p:sp>
      <p:sp>
        <p:nvSpPr>
          <p:cNvPr id="24" name="Text 22"/>
          <p:cNvSpPr txBox="1"/>
          <p:nvPr/>
        </p:nvSpPr>
        <p:spPr>
          <a:xfrm>
            <a:off x="8065008" y="2715768"/>
            <a:ext cx="3227832" cy="2715768"/>
          </a:xfrm>
          <a:prstGeom prst="rect">
            <a:avLst/>
          </a:prstGeom>
          <a:noFill/>
          <a:ln/>
        </p:spPr>
        <p:txBody>
          <a:bodyPr wrap="square" lIns="0" tIns="0" rIns="0" bIns="0" rtlCol="0" anchor="t"/>
          <a:lstStyle/>
          <a:p>
            <a:pPr indent="0" marL="0">
              <a:spcAft>
                <a:spcPts val="400"/>
              </a:spcAft>
              <a:buNone/>
            </a:pPr>
            <a:r>
              <a:rPr lang="en-US" sz="1200" b="1" dirty="0">
                <a:solidFill>
                  <a:srgbClr val="0F4C43"/>
                </a:solidFill>
                <a:latin typeface="Calibri" pitchFamily="34" charset="0"/>
                <a:ea typeface="Calibri" pitchFamily="34" charset="-122"/>
                <a:cs typeface="Calibri" pitchFamily="34" charset="-120"/>
              </a:rPr>
              <a:t>●  Six phase gates and the checks between them</a:t>
            </a:r>
            <a:endParaRPr lang="en-US" sz="1200" dirty="0"/>
          </a:p>
          <a:p>
            <a:pPr indent="0" marL="0">
              <a:spcAft>
                <a:spcPts val="600"/>
              </a:spcAft>
              <a:buNone/>
            </a:pPr>
            <a:r>
              <a:rPr lang="en-US" sz="1200" dirty="0">
                <a:solidFill>
                  <a:srgbClr val="16202B"/>
                </a:solidFill>
                <a:latin typeface="Calibri" pitchFamily="34" charset="0"/>
                <a:ea typeface="Calibri" pitchFamily="34" charset="-122"/>
                <a:cs typeface="Calibri" pitchFamily="34" charset="-120"/>
              </a:rPr>
              <a:t>PHI stripping, the conflict gate, the credit check, the 37 plan checks, the recomputed number, count reconciliation, the stale-dependency map and the pending-result guard, then the export.</a:t>
            </a:r>
            <a:endParaRPr lang="en-US" sz="1200" dirty="0"/>
          </a:p>
          <a:p>
            <a:pPr indent="0" marL="0">
              <a:spcAft>
                <a:spcPts val="400"/>
              </a:spcAft>
              <a:buNone/>
            </a:pPr>
            <a:r>
              <a:rPr lang="en-US" sz="1200" b="1" dirty="0">
                <a:solidFill>
                  <a:srgbClr val="0F4C43"/>
                </a:solidFill>
                <a:latin typeface="Calibri" pitchFamily="34" charset="0"/>
                <a:ea typeface="Calibri" pitchFamily="34" charset="-122"/>
                <a:cs typeface="Calibri" pitchFamily="34" charset="-120"/>
              </a:rPr>
              <a:t>●  The only reproducible lane</a:t>
            </a:r>
            <a:endParaRPr lang="en-US" sz="1200" dirty="0"/>
          </a:p>
          <a:p>
            <a:pPr indent="0" marL="0">
              <a:spcAft>
                <a:spcPts val="600"/>
              </a:spcAft>
              <a:buNone/>
            </a:pPr>
            <a:r>
              <a:rPr lang="en-US" sz="1200" dirty="0">
                <a:solidFill>
                  <a:srgbClr val="16202B"/>
                </a:solidFill>
                <a:latin typeface="Calibri" pitchFamily="34" charset="0"/>
                <a:ea typeface="Calibri" pitchFamily="34" charset="-122"/>
                <a:cs typeface="Calibri" pitchFamily="34" charset="-120"/>
              </a:rPr>
              <a:t>Same input, same verdict, every time. It is the only path to the export and the only thing that can withhold a number.</a:t>
            </a:r>
            <a:endParaRPr lang="en-US" sz="1200" dirty="0"/>
          </a:p>
        </p:txBody>
      </p:sp>
      <p:sp>
        <p:nvSpPr>
          <p:cNvPr id="25" name="Shape 23"/>
          <p:cNvSpPr/>
          <p:nvPr/>
        </p:nvSpPr>
        <p:spPr>
          <a:xfrm>
            <a:off x="548640" y="5806440"/>
            <a:ext cx="11091672" cy="603504"/>
          </a:xfrm>
          <a:prstGeom prst="rect">
            <a:avLst/>
          </a:prstGeom>
          <a:solidFill>
            <a:srgbClr val="EEF3F2"/>
          </a:solidFill>
          <a:ln w="12700">
            <a:solidFill>
              <a:srgbClr val="EEF3F2"/>
            </a:solidFill>
            <a:prstDash val="solid"/>
          </a:ln>
        </p:spPr>
      </p:sp>
      <p:sp>
        <p:nvSpPr>
          <p:cNvPr id="26" name="Text 24"/>
          <p:cNvSpPr txBox="1"/>
          <p:nvPr/>
        </p:nvSpPr>
        <p:spPr>
          <a:xfrm>
            <a:off x="786384" y="5806440"/>
            <a:ext cx="10607040" cy="603504"/>
          </a:xfrm>
          <a:prstGeom prst="rect">
            <a:avLst/>
          </a:prstGeom>
          <a:noFill/>
          <a:ln/>
        </p:spPr>
        <p:txBody>
          <a:bodyPr wrap="square" lIns="0" tIns="0" rIns="0" bIns="0" rtlCol="0" anchor="ctr"/>
          <a:lstStyle/>
          <a:p>
            <a:pPr indent="0" marL="0">
              <a:buNone/>
            </a:pPr>
            <a:r>
              <a:rPr lang="en-US" sz="1450" dirty="0">
                <a:solidFill>
                  <a:srgbClr val="16202B"/>
                </a:solidFill>
                <a:latin typeface="Calibri" pitchFamily="34" charset="0"/>
                <a:ea typeface="Calibri" pitchFamily="34" charset="-122"/>
                <a:cs typeface="Calibri" pitchFamily="34" charset="-120"/>
              </a:rPr>
              <a:t>The one loop back from the code lane to the models is an investigator's decision edit, and its result waits for acceptance.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Process map 1 of 6: study context and Phase 1 aims</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Parallelogram = investigator input · diamond = decision · rectangle = process · numbered circle = continues on the next panel</a:t>
            </a:r>
            <a:endParaRPr lang="en-US" sz="1500" dirty="0"/>
          </a:p>
        </p:txBody>
      </p:sp>
      <p:pic>
        <p:nvPicPr>
          <p:cNvPr id="4" name="Image 0" descr="panelA.png">    </p:cNvPr>
          <p:cNvPicPr>
            <a:picLocks noChangeAspect="1"/>
          </p:cNvPicPr>
          <p:nvPr/>
        </p:nvPicPr>
        <p:blipFill>
          <a:blip r:embed="rId1"/>
          <a:stretch>
            <a:fillRect/>
          </a:stretch>
        </p:blipFill>
        <p:spPr>
          <a:xfrm>
            <a:off x="566928" y="1572768"/>
            <a:ext cx="9418320" cy="4480560"/>
          </a:xfrm>
          <a:prstGeom prst="rect">
            <a:avLst/>
          </a:prstGeom>
        </p:spPr>
      </p:pic>
      <p:sp>
        <p:nvSpPr>
          <p:cNvPr id="5" name="Text 2"/>
          <p:cNvSpPr txBox="1"/>
          <p:nvPr/>
        </p:nvSpPr>
        <p:spPr>
          <a:xfrm>
            <a:off x="10149840" y="1600200"/>
            <a:ext cx="1737360" cy="4846320"/>
          </a:xfrm>
          <a:prstGeom prst="rect">
            <a:avLst/>
          </a:prstGeom>
          <a:noFill/>
          <a:ln/>
        </p:spPr>
        <p:txBody>
          <a:bodyPr wrap="square" lIns="0" tIns="0" rIns="0" bIns="0" rtlCol="0" anchor="t"/>
          <a:lstStyle/>
          <a:p>
            <a:pPr indent="0" marL="0">
              <a:spcAft>
                <a:spcPts val="600"/>
              </a:spcAft>
              <a:buNone/>
            </a:pPr>
            <a:r>
              <a:rPr lang="en-US" sz="1050" b="1" dirty="0">
                <a:solidFill>
                  <a:srgbClr val="16202B"/>
                </a:solidFill>
                <a:latin typeface="Calibri" pitchFamily="34" charset="0"/>
                <a:ea typeface="Calibri" pitchFamily="34" charset="-122"/>
                <a:cs typeface="Calibri" pitchFamily="34" charset="-120"/>
              </a:rPr>
              <a:t>Context is pinned before anything is drafted.</a:t>
            </a:r>
            <a:endParaRPr lang="en-US" sz="1050" dirty="0"/>
          </a:p>
          <a:p>
            <a:pPr indent="0" marL="0">
              <a:spcAft>
                <a:spcPts val="600"/>
              </a:spcAft>
              <a:buNone/>
            </a:pPr>
            <a:r>
              <a:rPr lang="en-US" sz="1050" dirty="0">
                <a:solidFill>
                  <a:srgbClr val="16202B"/>
                </a:solidFill>
                <a:latin typeface="Calibri" pitchFamily="34" charset="0"/>
                <a:ea typeface="Calibri" pitchFamily="34" charset="-122"/>
                <a:cs typeface="Calibri" pitchFamily="34" charset="-120"/>
              </a:rPr>
              <a:t>Population, setting and constraints are typed facts, and identifying detail is stripped before any model sees the text. The question step asks its clarifying questions, and the investigator confirms the aims at the Phase 1 gate.</a:t>
            </a:r>
            <a:endParaRPr lang="en-US" sz="1050" dirty="0"/>
          </a:p>
          <a:p>
            <a:pPr indent="0" marL="0">
              <a:spcAft>
                <a:spcPts val="600"/>
              </a:spcAft>
              <a:buNone/>
            </a:pPr>
            <a:endParaRPr lang="en-US" sz="1050" dirty="0"/>
          </a:p>
          <a:p>
            <a:pPr indent="0" marL="0">
              <a:spcAft>
                <a:spcPts val="600"/>
              </a:spcAft>
              <a:buNone/>
            </a:pPr>
            <a:r>
              <a:rPr lang="en-US" sz="1050" dirty="0">
                <a:solidFill>
                  <a:srgbClr val="5A6B7A"/>
                </a:solidFill>
                <a:latin typeface="Calibri" pitchFamily="34" charset="0"/>
                <a:ea typeface="Calibri" pitchFamily="34" charset="-122"/>
                <a:cs typeface="Calibri" pitchFamily="34" charset="-120"/>
              </a:rPr>
              <a:t>Tags I1 to I11 mark investigator inputs and D1 to D11 decisions, in the order they are asked.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Process map 2 of 6: feasibility, estimand, variables, brief</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Parallelogram = investigator input · diamond = decision · rectangle = process · numbered circle = continues on the next panel</a:t>
            </a:r>
            <a:endParaRPr lang="en-US" sz="1500" dirty="0"/>
          </a:p>
        </p:txBody>
      </p:sp>
      <p:pic>
        <p:nvPicPr>
          <p:cNvPr id="4" name="Image 0" descr="panelB.png">    </p:cNvPr>
          <p:cNvPicPr>
            <a:picLocks noChangeAspect="1"/>
          </p:cNvPicPr>
          <p:nvPr/>
        </p:nvPicPr>
        <p:blipFill>
          <a:blip r:embed="rId1"/>
          <a:stretch>
            <a:fillRect/>
          </a:stretch>
        </p:blipFill>
        <p:spPr>
          <a:xfrm>
            <a:off x="566928" y="1572768"/>
            <a:ext cx="8430768" cy="4709160"/>
          </a:xfrm>
          <a:prstGeom prst="rect">
            <a:avLst/>
          </a:prstGeom>
        </p:spPr>
      </p:pic>
      <p:sp>
        <p:nvSpPr>
          <p:cNvPr id="5" name="Text 2"/>
          <p:cNvSpPr txBox="1"/>
          <p:nvPr/>
        </p:nvSpPr>
        <p:spPr>
          <a:xfrm>
            <a:off x="10149840" y="1600200"/>
            <a:ext cx="1737360" cy="4846320"/>
          </a:xfrm>
          <a:prstGeom prst="rect">
            <a:avLst/>
          </a:prstGeom>
          <a:noFill/>
          <a:ln/>
        </p:spPr>
        <p:txBody>
          <a:bodyPr wrap="square" lIns="0" tIns="0" rIns="0" bIns="0" rtlCol="0" anchor="t"/>
          <a:lstStyle/>
          <a:p>
            <a:pPr indent="0" marL="0">
              <a:spcAft>
                <a:spcPts val="600"/>
              </a:spcAft>
              <a:buNone/>
            </a:pPr>
            <a:r>
              <a:rPr lang="en-US" sz="1050" b="1" dirty="0">
                <a:solidFill>
                  <a:srgbClr val="16202B"/>
                </a:solidFill>
                <a:latin typeface="Calibri" pitchFamily="34" charset="0"/>
                <a:ea typeface="Calibri" pitchFamily="34" charset="-122"/>
                <a:cs typeface="Calibri" pitchFamily="34" charset="-120"/>
              </a:rPr>
              <a:t>Feasibility is entered as rows, not prose.</a:t>
            </a:r>
            <a:endParaRPr lang="en-US" sz="1050" dirty="0"/>
          </a:p>
          <a:p>
            <a:pPr indent="0" marL="0">
              <a:spcAft>
                <a:spcPts val="600"/>
              </a:spcAft>
              <a:buNone/>
            </a:pPr>
            <a:r>
              <a:rPr lang="en-US" sz="1050" dirty="0">
                <a:solidFill>
                  <a:srgbClr val="16202B"/>
                </a:solidFill>
                <a:latin typeface="Calibri" pitchFamily="34" charset="0"/>
                <a:ea typeface="Calibri" pitchFamily="34" charset="-122"/>
                <a:cs typeface="Calibri" pitchFamily="34" charset="-120"/>
              </a:rPr>
              <a:t>Recruitment, follow-up and resource limits become facts the code can check against. Phase 3 then settles the aim, hypothesis, estimand and variables before the design brief is generated.</a:t>
            </a:r>
            <a:endParaRPr lang="en-US" sz="1050" dirty="0"/>
          </a:p>
          <a:p>
            <a:pPr indent="0" marL="0">
              <a:spcAft>
                <a:spcPts val="600"/>
              </a:spcAft>
              <a:buNone/>
            </a:pPr>
            <a:endParaRPr lang="en-US" sz="1050" dirty="0"/>
          </a:p>
          <a:p>
            <a:pPr indent="0" marL="0">
              <a:spcAft>
                <a:spcPts val="600"/>
              </a:spcAft>
              <a:buNone/>
            </a:pPr>
            <a:r>
              <a:rPr lang="en-US" sz="1050" dirty="0">
                <a:solidFill>
                  <a:srgbClr val="5A6B7A"/>
                </a:solidFill>
                <a:latin typeface="Calibri" pitchFamily="34" charset="0"/>
                <a:ea typeface="Calibri" pitchFamily="34" charset="-122"/>
                <a:cs typeface="Calibri" pitchFamily="34" charset="-120"/>
              </a:rPr>
              <a:t>Tags I1 to I11 mark investigator inputs and D1 to D11 decisions, in the order they are asked.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Process map 3 of 6: the design decision and its gate</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Parallelogram = investigator input · diamond = decision · rectangle = process · numbered circle = continues on the next panel</a:t>
            </a:r>
            <a:endParaRPr lang="en-US" sz="1500" dirty="0"/>
          </a:p>
        </p:txBody>
      </p:sp>
      <p:pic>
        <p:nvPicPr>
          <p:cNvPr id="4" name="Image 0" descr="panelC.png">    </p:cNvPr>
          <p:cNvPicPr>
            <a:picLocks noChangeAspect="1"/>
          </p:cNvPicPr>
          <p:nvPr/>
        </p:nvPicPr>
        <p:blipFill>
          <a:blip r:embed="rId1"/>
          <a:stretch>
            <a:fillRect/>
          </a:stretch>
        </p:blipFill>
        <p:spPr>
          <a:xfrm>
            <a:off x="566928" y="1572768"/>
            <a:ext cx="7150608" cy="4709160"/>
          </a:xfrm>
          <a:prstGeom prst="rect">
            <a:avLst/>
          </a:prstGeom>
        </p:spPr>
      </p:pic>
      <p:sp>
        <p:nvSpPr>
          <p:cNvPr id="5" name="Text 2"/>
          <p:cNvSpPr txBox="1"/>
          <p:nvPr/>
        </p:nvSpPr>
        <p:spPr>
          <a:xfrm>
            <a:off x="10149840" y="1600200"/>
            <a:ext cx="1737360" cy="4846320"/>
          </a:xfrm>
          <a:prstGeom prst="rect">
            <a:avLst/>
          </a:prstGeom>
          <a:noFill/>
          <a:ln/>
        </p:spPr>
        <p:txBody>
          <a:bodyPr wrap="square" lIns="0" tIns="0" rIns="0" bIns="0" rtlCol="0" anchor="t"/>
          <a:lstStyle/>
          <a:p>
            <a:pPr indent="0" marL="0">
              <a:spcAft>
                <a:spcPts val="600"/>
              </a:spcAft>
              <a:buNone/>
            </a:pPr>
            <a:r>
              <a:rPr lang="en-US" sz="1050" b="1" dirty="0">
                <a:solidFill>
                  <a:srgbClr val="16202B"/>
                </a:solidFill>
                <a:latin typeface="Calibri" pitchFamily="34" charset="0"/>
                <a:ea typeface="Calibri" pitchFamily="34" charset="-122"/>
                <a:cs typeface="Calibri" pitchFamily="34" charset="-120"/>
              </a:rPr>
              <a:t>The design is the investigator's decision.</a:t>
            </a:r>
            <a:endParaRPr lang="en-US" sz="1050" dirty="0"/>
          </a:p>
          <a:p>
            <a:pPr indent="0" marL="0">
              <a:spcAft>
                <a:spcPts val="600"/>
              </a:spcAft>
              <a:buNone/>
            </a:pPr>
            <a:r>
              <a:rPr lang="en-US" sz="1050" dirty="0">
                <a:solidFill>
                  <a:srgbClr val="16202B"/>
                </a:solidFill>
                <a:latin typeface="Calibri" pitchFamily="34" charset="0"/>
                <a:ea typeface="Calibri" pitchFamily="34" charset="-122"/>
                <a:cs typeface="Calibri" pitchFamily="34" charset="-120"/>
              </a:rPr>
              <a:t>The brief is drafted and reviewed, its conditions are appended as feasibility rows, and the investigator picks the design and confirms the gate. Nothing downstream can generate until this gate is confirmed.</a:t>
            </a:r>
            <a:endParaRPr lang="en-US" sz="1050" dirty="0"/>
          </a:p>
          <a:p>
            <a:pPr indent="0" marL="0">
              <a:spcAft>
                <a:spcPts val="600"/>
              </a:spcAft>
              <a:buNone/>
            </a:pPr>
            <a:endParaRPr lang="en-US" sz="1050" dirty="0"/>
          </a:p>
          <a:p>
            <a:pPr indent="0" marL="0">
              <a:spcAft>
                <a:spcPts val="600"/>
              </a:spcAft>
              <a:buNone/>
            </a:pPr>
            <a:r>
              <a:rPr lang="en-US" sz="1050" dirty="0">
                <a:solidFill>
                  <a:srgbClr val="5A6B7A"/>
                </a:solidFill>
                <a:latin typeface="Calibri" pitchFamily="34" charset="0"/>
                <a:ea typeface="Calibri" pitchFamily="34" charset="-122"/>
                <a:cs typeface="Calibri" pitchFamily="34" charset="-120"/>
              </a:rPr>
              <a:t>Tags I1 to I11 mark investigator inputs and D1 to D11 decisions, in the order they are asked.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Process map 4 of 6: build the study, draft the analyses</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Parallelogram = investigator input · diamond = decision · rectangle = process · numbered circle = continues on the next panel</a:t>
            </a:r>
            <a:endParaRPr lang="en-US" sz="1500" dirty="0"/>
          </a:p>
        </p:txBody>
      </p:sp>
      <p:pic>
        <p:nvPicPr>
          <p:cNvPr id="4" name="Image 0" descr="panelD.png">    </p:cNvPr>
          <p:cNvPicPr>
            <a:picLocks noChangeAspect="1"/>
          </p:cNvPicPr>
          <p:nvPr/>
        </p:nvPicPr>
        <p:blipFill>
          <a:blip r:embed="rId1"/>
          <a:stretch>
            <a:fillRect/>
          </a:stretch>
        </p:blipFill>
        <p:spPr>
          <a:xfrm>
            <a:off x="566928" y="1572768"/>
            <a:ext cx="8430768" cy="4709160"/>
          </a:xfrm>
          <a:prstGeom prst="rect">
            <a:avLst/>
          </a:prstGeom>
        </p:spPr>
      </p:pic>
      <p:sp>
        <p:nvSpPr>
          <p:cNvPr id="5" name="Text 2"/>
          <p:cNvSpPr txBox="1"/>
          <p:nvPr/>
        </p:nvSpPr>
        <p:spPr>
          <a:xfrm>
            <a:off x="10149840" y="1600200"/>
            <a:ext cx="1737360" cy="4846320"/>
          </a:xfrm>
          <a:prstGeom prst="rect">
            <a:avLst/>
          </a:prstGeom>
          <a:noFill/>
          <a:ln/>
        </p:spPr>
        <p:txBody>
          <a:bodyPr wrap="square" lIns="0" tIns="0" rIns="0" bIns="0" rtlCol="0" anchor="t"/>
          <a:lstStyle/>
          <a:p>
            <a:pPr indent="0" marL="0">
              <a:spcAft>
                <a:spcPts val="600"/>
              </a:spcAft>
              <a:buNone/>
            </a:pPr>
            <a:r>
              <a:rPr lang="en-US" sz="1050" b="1" dirty="0">
                <a:solidFill>
                  <a:srgbClr val="16202B"/>
                </a:solidFill>
                <a:latin typeface="Calibri" pitchFamily="34" charset="0"/>
                <a:ea typeface="Calibri" pitchFamily="34" charset="-122"/>
                <a:cs typeface="Calibri" pitchFamily="34" charset="-120"/>
              </a:rPr>
              <a:t>Two separate presses, one plan credit.</a:t>
            </a:r>
            <a:endParaRPr lang="en-US" sz="1050" dirty="0"/>
          </a:p>
          <a:p>
            <a:pPr indent="0" marL="0">
              <a:spcAft>
                <a:spcPts val="600"/>
              </a:spcAft>
              <a:buNone/>
            </a:pPr>
            <a:r>
              <a:rPr lang="en-US" sz="1050" dirty="0">
                <a:solidFill>
                  <a:srgbClr val="16202B"/>
                </a:solidFill>
                <a:latin typeface="Calibri" pitchFamily="34" charset="0"/>
                <a:ea typeface="Calibri" pitchFamily="34" charset="-122"/>
                <a:cs typeface="Calibri" pitchFamily="34" charset="-120"/>
              </a:rPr>
              <a:t>Build study spends the plan credit and runs the deterministic sizing calculators. Draft analyses is a second press, and the analysis brief gets both the model review and the deterministic checks.</a:t>
            </a:r>
            <a:endParaRPr lang="en-US" sz="1050" dirty="0"/>
          </a:p>
          <a:p>
            <a:pPr indent="0" marL="0">
              <a:spcAft>
                <a:spcPts val="600"/>
              </a:spcAft>
              <a:buNone/>
            </a:pPr>
            <a:endParaRPr lang="en-US" sz="1050" dirty="0"/>
          </a:p>
          <a:p>
            <a:pPr indent="0" marL="0">
              <a:spcAft>
                <a:spcPts val="600"/>
              </a:spcAft>
              <a:buNone/>
            </a:pPr>
            <a:r>
              <a:rPr lang="en-US" sz="1050" dirty="0">
                <a:solidFill>
                  <a:srgbClr val="5A6B7A"/>
                </a:solidFill>
                <a:latin typeface="Calibri" pitchFamily="34" charset="0"/>
                <a:ea typeface="Calibri" pitchFamily="34" charset="-122"/>
                <a:cs typeface="Calibri" pitchFamily="34" charset="-120"/>
              </a:rPr>
              <a:t>Tags I1 to I11 mark investigator inputs and D1 to D11 decisions, in the order they are asked.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Process map 5 of 6: shared decisions and revision</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Parallelogram = investigator input · diamond = decision · rectangle = process · numbered circle = continues on the next panel</a:t>
            </a:r>
            <a:endParaRPr lang="en-US" sz="1500" dirty="0"/>
          </a:p>
        </p:txBody>
      </p:sp>
      <p:pic>
        <p:nvPicPr>
          <p:cNvPr id="4" name="Image 0" descr="panelE.png">    </p:cNvPr>
          <p:cNvPicPr>
            <a:picLocks noChangeAspect="1"/>
          </p:cNvPicPr>
          <p:nvPr/>
        </p:nvPicPr>
        <p:blipFill>
          <a:blip r:embed="rId1"/>
          <a:stretch>
            <a:fillRect/>
          </a:stretch>
        </p:blipFill>
        <p:spPr>
          <a:xfrm>
            <a:off x="566928" y="1572768"/>
            <a:ext cx="8622792" cy="4709160"/>
          </a:xfrm>
          <a:prstGeom prst="rect">
            <a:avLst/>
          </a:prstGeom>
        </p:spPr>
      </p:pic>
      <p:sp>
        <p:nvSpPr>
          <p:cNvPr id="5" name="Text 2"/>
          <p:cNvSpPr txBox="1"/>
          <p:nvPr/>
        </p:nvSpPr>
        <p:spPr>
          <a:xfrm>
            <a:off x="10149840" y="1600200"/>
            <a:ext cx="1737360" cy="4846320"/>
          </a:xfrm>
          <a:prstGeom prst="rect">
            <a:avLst/>
          </a:prstGeom>
          <a:noFill/>
          <a:ln/>
        </p:spPr>
        <p:txBody>
          <a:bodyPr wrap="square" lIns="0" tIns="0" rIns="0" bIns="0" rtlCol="0" anchor="t"/>
          <a:lstStyle/>
          <a:p>
            <a:pPr indent="0" marL="0">
              <a:spcAft>
                <a:spcPts val="600"/>
              </a:spcAft>
              <a:buNone/>
            </a:pPr>
            <a:r>
              <a:rPr lang="en-US" sz="1050" b="1" dirty="0">
                <a:solidFill>
                  <a:srgbClr val="16202B"/>
                </a:solidFill>
                <a:latin typeface="Calibri" pitchFamily="34" charset="0"/>
                <a:ea typeface="Calibri" pitchFamily="34" charset="-122"/>
                <a:cs typeface="Calibri" pitchFamily="34" charset="-120"/>
              </a:rPr>
              <a:t>Revision is previewed, not silent.</a:t>
            </a:r>
            <a:endParaRPr lang="en-US" sz="1050" dirty="0"/>
          </a:p>
          <a:p>
            <a:pPr indent="0" marL="0">
              <a:spcAft>
                <a:spcPts val="600"/>
              </a:spcAft>
              <a:buNone/>
            </a:pPr>
            <a:r>
              <a:rPr lang="en-US" sz="1050" dirty="0">
                <a:solidFill>
                  <a:srgbClr val="16202B"/>
                </a:solidFill>
                <a:latin typeface="Calibri" pitchFamily="34" charset="0"/>
                <a:ea typeface="Calibri" pitchFamily="34" charset="-122"/>
                <a:cs typeface="Calibri" pitchFamily="34" charset="-120"/>
              </a:rPr>
              <a:t>Multiplicity and counts are investigator decisions. An edit shows its impact, affected work is marked stale, an update regenerates only that work, and the result waits for acceptance or discard.</a:t>
            </a:r>
            <a:endParaRPr lang="en-US" sz="1050" dirty="0"/>
          </a:p>
          <a:p>
            <a:pPr indent="0" marL="0">
              <a:spcAft>
                <a:spcPts val="600"/>
              </a:spcAft>
              <a:buNone/>
            </a:pPr>
            <a:endParaRPr lang="en-US" sz="1050" dirty="0"/>
          </a:p>
          <a:p>
            <a:pPr indent="0" marL="0">
              <a:spcAft>
                <a:spcPts val="600"/>
              </a:spcAft>
              <a:buNone/>
            </a:pPr>
            <a:r>
              <a:rPr lang="en-US" sz="1050" dirty="0">
                <a:solidFill>
                  <a:srgbClr val="5A6B7A"/>
                </a:solidFill>
                <a:latin typeface="Calibri" pitchFamily="34" charset="0"/>
                <a:ea typeface="Calibri" pitchFamily="34" charset="-122"/>
                <a:cs typeface="Calibri" pitchFamily="34" charset="-120"/>
              </a:rPr>
              <a:t>Tags I1 to I11 mark investigator inputs and D1 to D11 decisions, in the order they are asked.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Process map 6 of 6: execution and finalisation</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Parallelogram = investigator input · diamond = decision · rectangle = process · numbered circle = continues on the next panel</a:t>
            </a:r>
            <a:endParaRPr lang="en-US" sz="1500" dirty="0"/>
          </a:p>
        </p:txBody>
      </p:sp>
      <p:pic>
        <p:nvPicPr>
          <p:cNvPr id="4" name="Image 0" descr="panelF.png">    </p:cNvPr>
          <p:cNvPicPr>
            <a:picLocks noChangeAspect="1"/>
          </p:cNvPicPr>
          <p:nvPr/>
        </p:nvPicPr>
        <p:blipFill>
          <a:blip r:embed="rId1"/>
          <a:stretch>
            <a:fillRect/>
          </a:stretch>
        </p:blipFill>
        <p:spPr>
          <a:xfrm>
            <a:off x="566928" y="1572768"/>
            <a:ext cx="8257032" cy="4709160"/>
          </a:xfrm>
          <a:prstGeom prst="rect">
            <a:avLst/>
          </a:prstGeom>
        </p:spPr>
      </p:pic>
      <p:sp>
        <p:nvSpPr>
          <p:cNvPr id="5" name="Text 2"/>
          <p:cNvSpPr txBox="1"/>
          <p:nvPr/>
        </p:nvSpPr>
        <p:spPr>
          <a:xfrm>
            <a:off x="10149840" y="1600200"/>
            <a:ext cx="1737360" cy="4846320"/>
          </a:xfrm>
          <a:prstGeom prst="rect">
            <a:avLst/>
          </a:prstGeom>
          <a:noFill/>
          <a:ln/>
        </p:spPr>
        <p:txBody>
          <a:bodyPr wrap="square" lIns="0" tIns="0" rIns="0" bIns="0" rtlCol="0" anchor="t"/>
          <a:lstStyle/>
          <a:p>
            <a:pPr indent="0" marL="0">
              <a:spcAft>
                <a:spcPts val="600"/>
              </a:spcAft>
              <a:buNone/>
            </a:pPr>
            <a:r>
              <a:rPr lang="en-US" sz="1050" b="1" dirty="0">
                <a:solidFill>
                  <a:srgbClr val="16202B"/>
                </a:solidFill>
                <a:latin typeface="Calibri" pitchFamily="34" charset="0"/>
                <a:ea typeface="Calibri" pitchFamily="34" charset="-122"/>
                <a:cs typeface="Calibri" pitchFamily="34" charset="-120"/>
              </a:rPr>
              <a:t>Execution runs on request, and the export is gated.</a:t>
            </a:r>
            <a:endParaRPr lang="en-US" sz="1050" dirty="0"/>
          </a:p>
          <a:p>
            <a:pPr indent="0" marL="0">
              <a:spcAft>
                <a:spcPts val="600"/>
              </a:spcAft>
              <a:buNone/>
            </a:pPr>
            <a:r>
              <a:rPr lang="en-US" sz="1050" dirty="0">
                <a:solidFill>
                  <a:srgbClr val="16202B"/>
                </a:solidFill>
                <a:latin typeface="Calibri" pitchFamily="34" charset="0"/>
                <a:ea typeface="Calibri" pitchFamily="34" charset="-122"/>
                <a:cs typeface="Calibri" pitchFamily="34" charset="-120"/>
              </a:rPr>
              <a:t>Execution is a press, not an automatic step. The write-up and code follow, references are verified against PubMed, and the finalisation gate holds the export until every blocking finding is cleared.</a:t>
            </a:r>
            <a:endParaRPr lang="en-US" sz="1050" dirty="0"/>
          </a:p>
          <a:p>
            <a:pPr indent="0" marL="0">
              <a:spcAft>
                <a:spcPts val="600"/>
              </a:spcAft>
              <a:buNone/>
            </a:pPr>
            <a:endParaRPr lang="en-US" sz="1050" dirty="0"/>
          </a:p>
          <a:p>
            <a:pPr indent="0" marL="0">
              <a:spcAft>
                <a:spcPts val="600"/>
              </a:spcAft>
              <a:buNone/>
            </a:pPr>
            <a:r>
              <a:rPr lang="en-US" sz="1050" dirty="0">
                <a:solidFill>
                  <a:srgbClr val="5A6B7A"/>
                </a:solidFill>
                <a:latin typeface="Calibri" pitchFamily="34" charset="0"/>
                <a:ea typeface="Calibri" pitchFamily="34" charset="-122"/>
                <a:cs typeface="Calibri" pitchFamily="34" charset="-120"/>
              </a:rPr>
              <a:t>Tags I1 to I11 mark investigator inputs and D1 to D11 decisions, in the order they are asked.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The eleven decisions an investigator makes</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In the order they are asked, and who acts on each one next</a:t>
            </a:r>
            <a:endParaRPr lang="en-US" sz="1500" dirty="0"/>
          </a:p>
        </p:txBody>
      </p:sp>
      <p:sp>
        <p:nvSpPr>
          <p:cNvPr id="4" name="Shape 2"/>
          <p:cNvSpPr/>
          <p:nvPr/>
        </p:nvSpPr>
        <p:spPr>
          <a:xfrm>
            <a:off x="566928" y="1618488"/>
            <a:ext cx="457200" cy="457200"/>
          </a:xfrm>
          <a:prstGeom prst="ellipse">
            <a:avLst/>
          </a:prstGeom>
          <a:solidFill>
            <a:srgbClr val="0F4C43"/>
          </a:solidFill>
          <a:ln w="12700">
            <a:solidFill>
              <a:srgbClr val="0F4C43"/>
            </a:solidFill>
            <a:prstDash val="solid"/>
          </a:ln>
        </p:spPr>
      </p:sp>
      <p:sp>
        <p:nvSpPr>
          <p:cNvPr id="5" name="Text 3"/>
          <p:cNvSpPr txBox="1"/>
          <p:nvPr/>
        </p:nvSpPr>
        <p:spPr>
          <a:xfrm>
            <a:off x="566928" y="161848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a:t>
            </a:r>
            <a:endParaRPr lang="en-US" sz="1000" dirty="0"/>
          </a:p>
        </p:txBody>
      </p:sp>
      <p:sp>
        <p:nvSpPr>
          <p:cNvPr id="6" name="Text 4"/>
          <p:cNvSpPr txBox="1"/>
          <p:nvPr/>
        </p:nvSpPr>
        <p:spPr>
          <a:xfrm>
            <a:off x="1161288" y="1600200"/>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Any aim confirmatory?</a:t>
            </a:r>
            <a:endParaRPr lang="en-US" sz="1250" dirty="0"/>
          </a:p>
        </p:txBody>
      </p:sp>
      <p:sp>
        <p:nvSpPr>
          <p:cNvPr id="7" name="Text 5"/>
          <p:cNvSpPr txBox="1"/>
          <p:nvPr/>
        </p:nvSpPr>
        <p:spPr>
          <a:xfrm>
            <a:off x="1161288" y="1874520"/>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Investigator writes the hypothesis; multiplicity becomes required</a:t>
            </a:r>
            <a:endParaRPr lang="en-US" sz="1050" dirty="0"/>
          </a:p>
        </p:txBody>
      </p:sp>
      <p:sp>
        <p:nvSpPr>
          <p:cNvPr id="8" name="Shape 6"/>
          <p:cNvSpPr/>
          <p:nvPr/>
        </p:nvSpPr>
        <p:spPr>
          <a:xfrm>
            <a:off x="566928" y="2331720"/>
            <a:ext cx="457200" cy="457200"/>
          </a:xfrm>
          <a:prstGeom prst="ellipse">
            <a:avLst/>
          </a:prstGeom>
          <a:solidFill>
            <a:srgbClr val="0F4C43"/>
          </a:solidFill>
          <a:ln w="12700">
            <a:solidFill>
              <a:srgbClr val="0F4C43"/>
            </a:solidFill>
            <a:prstDash val="solid"/>
          </a:ln>
        </p:spPr>
      </p:sp>
      <p:sp>
        <p:nvSpPr>
          <p:cNvPr id="9" name="Text 7"/>
          <p:cNvSpPr txBox="1"/>
          <p:nvPr/>
        </p:nvSpPr>
        <p:spPr>
          <a:xfrm>
            <a:off x="566928" y="2331720"/>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D2</a:t>
            </a:r>
            <a:endParaRPr lang="en-US" sz="1000" dirty="0"/>
          </a:p>
        </p:txBody>
      </p:sp>
      <p:sp>
        <p:nvSpPr>
          <p:cNvPr id="10" name="Text 8"/>
          <p:cNvSpPr txBox="1"/>
          <p:nvPr/>
        </p:nvSpPr>
        <p:spPr>
          <a:xfrm>
            <a:off x="1161288" y="2313432"/>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Aims-check finding: apply, keep with a reason, or skip</a:t>
            </a:r>
            <a:endParaRPr lang="en-US" sz="1250" dirty="0"/>
          </a:p>
        </p:txBody>
      </p:sp>
      <p:sp>
        <p:nvSpPr>
          <p:cNvPr id="11" name="Text 9"/>
          <p:cNvSpPr txBox="1"/>
          <p:nvPr/>
        </p:nvSpPr>
        <p:spPr>
          <a:xfrm>
            <a:off x="1161288" y="2587752"/>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Model runs the literature scan</a:t>
            </a:r>
            <a:endParaRPr lang="en-US" sz="1050" dirty="0"/>
          </a:p>
        </p:txBody>
      </p:sp>
      <p:sp>
        <p:nvSpPr>
          <p:cNvPr id="12" name="Shape 10"/>
          <p:cNvSpPr/>
          <p:nvPr/>
        </p:nvSpPr>
        <p:spPr>
          <a:xfrm>
            <a:off x="566928" y="3044952"/>
            <a:ext cx="457200" cy="457200"/>
          </a:xfrm>
          <a:prstGeom prst="ellipse">
            <a:avLst/>
          </a:prstGeom>
          <a:solidFill>
            <a:srgbClr val="0F4C43"/>
          </a:solidFill>
          <a:ln w="12700">
            <a:solidFill>
              <a:srgbClr val="0F4C43"/>
            </a:solidFill>
            <a:prstDash val="solid"/>
          </a:ln>
        </p:spPr>
      </p:sp>
      <p:sp>
        <p:nvSpPr>
          <p:cNvPr id="13" name="Text 11"/>
          <p:cNvSpPr txBox="1"/>
          <p:nvPr/>
        </p:nvSpPr>
        <p:spPr>
          <a:xfrm>
            <a:off x="566928" y="3044952"/>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D3</a:t>
            </a:r>
            <a:endParaRPr lang="en-US" sz="1000" dirty="0"/>
          </a:p>
        </p:txBody>
      </p:sp>
      <p:sp>
        <p:nvSpPr>
          <p:cNvPr id="14" name="Text 12"/>
          <p:cNvSpPr txBox="1"/>
          <p:nvPr/>
        </p:nvSpPr>
        <p:spPr>
          <a:xfrm>
            <a:off x="1161288" y="3026664"/>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Basis per feasibility answer: checked, assumption, or task</a:t>
            </a:r>
            <a:endParaRPr lang="en-US" sz="1250" dirty="0"/>
          </a:p>
        </p:txBody>
      </p:sp>
      <p:sp>
        <p:nvSpPr>
          <p:cNvPr id="15" name="Text 13"/>
          <p:cNvSpPr txBox="1"/>
          <p:nvPr/>
        </p:nvSpPr>
        <p:spPr>
          <a:xfrm>
            <a:off x="1161288" y="3300984"/>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Code Phase 2 gate; a task blocks design until closed</a:t>
            </a:r>
            <a:endParaRPr lang="en-US" sz="1050" dirty="0"/>
          </a:p>
        </p:txBody>
      </p:sp>
      <p:sp>
        <p:nvSpPr>
          <p:cNvPr id="16" name="Shape 14"/>
          <p:cNvSpPr/>
          <p:nvPr/>
        </p:nvSpPr>
        <p:spPr>
          <a:xfrm>
            <a:off x="566928" y="3758184"/>
            <a:ext cx="457200" cy="457200"/>
          </a:xfrm>
          <a:prstGeom prst="ellipse">
            <a:avLst/>
          </a:prstGeom>
          <a:solidFill>
            <a:srgbClr val="0F4C43"/>
          </a:solidFill>
          <a:ln w="12700">
            <a:solidFill>
              <a:srgbClr val="0F4C43"/>
            </a:solidFill>
            <a:prstDash val="solid"/>
          </a:ln>
        </p:spPr>
      </p:sp>
      <p:sp>
        <p:nvSpPr>
          <p:cNvPr id="17" name="Text 15"/>
          <p:cNvSpPr txBox="1"/>
          <p:nvPr/>
        </p:nvSpPr>
        <p:spPr>
          <a:xfrm>
            <a:off x="566928" y="3758184"/>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D4</a:t>
            </a:r>
            <a:endParaRPr lang="en-US" sz="1000" dirty="0"/>
          </a:p>
        </p:txBody>
      </p:sp>
      <p:sp>
        <p:nvSpPr>
          <p:cNvPr id="18" name="Text 16"/>
          <p:cNvSpPr txBox="1"/>
          <p:nvPr/>
        </p:nvSpPr>
        <p:spPr>
          <a:xfrm>
            <a:off x="1161288" y="3739896"/>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Approve the design, or pick an alternative</a:t>
            </a:r>
            <a:endParaRPr lang="en-US" sz="1250" dirty="0"/>
          </a:p>
        </p:txBody>
      </p:sp>
      <p:sp>
        <p:nvSpPr>
          <p:cNvPr id="19" name="Text 17"/>
          <p:cNvSpPr txBox="1"/>
          <p:nvPr/>
        </p:nvSpPr>
        <p:spPr>
          <a:xfrm>
            <a:off x="1161288" y="4014216"/>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Model re-runs the brief, free; or code runs the conflict gate</a:t>
            </a:r>
            <a:endParaRPr lang="en-US" sz="1050" dirty="0"/>
          </a:p>
        </p:txBody>
      </p:sp>
      <p:sp>
        <p:nvSpPr>
          <p:cNvPr id="20" name="Shape 18"/>
          <p:cNvSpPr/>
          <p:nvPr/>
        </p:nvSpPr>
        <p:spPr>
          <a:xfrm>
            <a:off x="566928" y="4471416"/>
            <a:ext cx="457200" cy="457200"/>
          </a:xfrm>
          <a:prstGeom prst="ellipse">
            <a:avLst/>
          </a:prstGeom>
          <a:solidFill>
            <a:srgbClr val="0F4C43"/>
          </a:solidFill>
          <a:ln w="12700">
            <a:solidFill>
              <a:srgbClr val="0F4C43"/>
            </a:solidFill>
            <a:prstDash val="solid"/>
          </a:ln>
        </p:spPr>
      </p:sp>
      <p:sp>
        <p:nvSpPr>
          <p:cNvPr id="21" name="Text 19"/>
          <p:cNvSpPr txBox="1"/>
          <p:nvPr/>
        </p:nvSpPr>
        <p:spPr>
          <a:xfrm>
            <a:off x="566928" y="4471416"/>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D5</a:t>
            </a:r>
            <a:endParaRPr lang="en-US" sz="1000" dirty="0"/>
          </a:p>
        </p:txBody>
      </p:sp>
      <p:sp>
        <p:nvSpPr>
          <p:cNvPr id="22" name="Text 20"/>
          <p:cNvSpPr txBox="1"/>
          <p:nvPr/>
        </p:nvSpPr>
        <p:spPr>
          <a:xfrm>
            <a:off x="1161288" y="4453128"/>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Each design condition: confirmed, to check, or not available</a:t>
            </a:r>
            <a:endParaRPr lang="en-US" sz="1250" dirty="0"/>
          </a:p>
        </p:txBody>
      </p:sp>
      <p:sp>
        <p:nvSpPr>
          <p:cNvPr id="23" name="Text 21"/>
          <p:cNvSpPr txBox="1"/>
          <p:nvPr/>
        </p:nvSpPr>
        <p:spPr>
          <a:xfrm>
            <a:off x="1161288" y="4727448"/>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Code Phase 3 gate, then the design confirmation</a:t>
            </a:r>
            <a:endParaRPr lang="en-US" sz="1050" dirty="0"/>
          </a:p>
        </p:txBody>
      </p:sp>
      <p:sp>
        <p:nvSpPr>
          <p:cNvPr id="24" name="Shape 22"/>
          <p:cNvSpPr/>
          <p:nvPr/>
        </p:nvSpPr>
        <p:spPr>
          <a:xfrm>
            <a:off x="566928" y="5184648"/>
            <a:ext cx="457200" cy="457200"/>
          </a:xfrm>
          <a:prstGeom prst="ellipse">
            <a:avLst/>
          </a:prstGeom>
          <a:solidFill>
            <a:srgbClr val="0F4C43"/>
          </a:solidFill>
          <a:ln w="12700">
            <a:solidFill>
              <a:srgbClr val="0F4C43"/>
            </a:solidFill>
            <a:prstDash val="solid"/>
          </a:ln>
        </p:spPr>
      </p:sp>
      <p:sp>
        <p:nvSpPr>
          <p:cNvPr id="25" name="Text 23"/>
          <p:cNvSpPr txBox="1"/>
          <p:nvPr/>
        </p:nvSpPr>
        <p:spPr>
          <a:xfrm>
            <a:off x="566928" y="518464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D6</a:t>
            </a:r>
            <a:endParaRPr lang="en-US" sz="1000" dirty="0"/>
          </a:p>
        </p:txBody>
      </p:sp>
      <p:sp>
        <p:nvSpPr>
          <p:cNvPr id="26" name="Text 24"/>
          <p:cNvSpPr txBox="1"/>
          <p:nvPr/>
        </p:nvSpPr>
        <p:spPr>
          <a:xfrm>
            <a:off x="1161288" y="5166360"/>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Data beyond the map: add it, or remove from the analysis</a:t>
            </a:r>
            <a:endParaRPr lang="en-US" sz="1250" dirty="0"/>
          </a:p>
        </p:txBody>
      </p:sp>
      <p:sp>
        <p:nvSpPr>
          <p:cNvPr id="27" name="Text 25"/>
          <p:cNvSpPr txBox="1"/>
          <p:nvPr/>
        </p:nvSpPr>
        <p:spPr>
          <a:xfrm>
            <a:off x="1161288" y="5440680"/>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Investigator fills the analysis contract</a:t>
            </a:r>
            <a:endParaRPr lang="en-US" sz="1050" dirty="0"/>
          </a:p>
        </p:txBody>
      </p:sp>
      <p:sp>
        <p:nvSpPr>
          <p:cNvPr id="28" name="Shape 26"/>
          <p:cNvSpPr/>
          <p:nvPr/>
        </p:nvSpPr>
        <p:spPr>
          <a:xfrm>
            <a:off x="6144768" y="1618488"/>
            <a:ext cx="457200" cy="457200"/>
          </a:xfrm>
          <a:prstGeom prst="ellipse">
            <a:avLst/>
          </a:prstGeom>
          <a:solidFill>
            <a:srgbClr val="0F4C43"/>
          </a:solidFill>
          <a:ln w="12700">
            <a:solidFill>
              <a:srgbClr val="0F4C43"/>
            </a:solidFill>
            <a:prstDash val="solid"/>
          </a:ln>
        </p:spPr>
      </p:sp>
      <p:sp>
        <p:nvSpPr>
          <p:cNvPr id="29" name="Text 27"/>
          <p:cNvSpPr txBox="1"/>
          <p:nvPr/>
        </p:nvSpPr>
        <p:spPr>
          <a:xfrm>
            <a:off x="6144768" y="161848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D7</a:t>
            </a:r>
            <a:endParaRPr lang="en-US" sz="1000" dirty="0"/>
          </a:p>
        </p:txBody>
      </p:sp>
      <p:sp>
        <p:nvSpPr>
          <p:cNvPr id="30" name="Text 28"/>
          <p:cNvSpPr txBox="1"/>
          <p:nvPr/>
        </p:nvSpPr>
        <p:spPr>
          <a:xfrm>
            <a:off x="6739128" y="1600200"/>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Multiplicity family, method and sizing implication</a:t>
            </a:r>
            <a:endParaRPr lang="en-US" sz="1250" dirty="0"/>
          </a:p>
        </p:txBody>
      </p:sp>
      <p:sp>
        <p:nvSpPr>
          <p:cNvPr id="31" name="Text 29"/>
          <p:cNvSpPr txBox="1"/>
          <p:nvPr/>
        </p:nvSpPr>
        <p:spPr>
          <a:xfrm>
            <a:off x="6739128" y="1874520"/>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Investigator reconciles counts; code Phase 4 gate</a:t>
            </a:r>
            <a:endParaRPr lang="en-US" sz="1050" dirty="0"/>
          </a:p>
        </p:txBody>
      </p:sp>
      <p:sp>
        <p:nvSpPr>
          <p:cNvPr id="32" name="Shape 30"/>
          <p:cNvSpPr/>
          <p:nvPr/>
        </p:nvSpPr>
        <p:spPr>
          <a:xfrm>
            <a:off x="6144768" y="2331720"/>
            <a:ext cx="457200" cy="457200"/>
          </a:xfrm>
          <a:prstGeom prst="ellipse">
            <a:avLst/>
          </a:prstGeom>
          <a:solidFill>
            <a:srgbClr val="0F4C43"/>
          </a:solidFill>
          <a:ln w="12700">
            <a:solidFill>
              <a:srgbClr val="0F4C43"/>
            </a:solidFill>
            <a:prstDash val="solid"/>
          </a:ln>
        </p:spPr>
      </p:sp>
      <p:sp>
        <p:nvSpPr>
          <p:cNvPr id="33" name="Text 31"/>
          <p:cNvSpPr txBox="1"/>
          <p:nvPr/>
        </p:nvSpPr>
        <p:spPr>
          <a:xfrm>
            <a:off x="6144768" y="2331720"/>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D8</a:t>
            </a:r>
            <a:endParaRPr lang="en-US" sz="1000" dirty="0"/>
          </a:p>
        </p:txBody>
      </p:sp>
      <p:sp>
        <p:nvSpPr>
          <p:cNvPr id="34" name="Text 32"/>
          <p:cNvSpPr txBox="1"/>
          <p:nvPr/>
        </p:nvSpPr>
        <p:spPr>
          <a:xfrm>
            <a:off x="6739128" y="2313432"/>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After an edit: save only, or update the affected sections</a:t>
            </a:r>
            <a:endParaRPr lang="en-US" sz="1250" dirty="0"/>
          </a:p>
        </p:txBody>
      </p:sp>
      <p:sp>
        <p:nvSpPr>
          <p:cNvPr id="35" name="Text 33"/>
          <p:cNvSpPr txBox="1"/>
          <p:nvPr/>
        </p:nvSpPr>
        <p:spPr>
          <a:xfrm>
            <a:off x="6739128" y="2587752"/>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Code marks stale work; models regenerate only that</a:t>
            </a:r>
            <a:endParaRPr lang="en-US" sz="1050" dirty="0"/>
          </a:p>
        </p:txBody>
      </p:sp>
      <p:sp>
        <p:nvSpPr>
          <p:cNvPr id="36" name="Shape 34"/>
          <p:cNvSpPr/>
          <p:nvPr/>
        </p:nvSpPr>
        <p:spPr>
          <a:xfrm>
            <a:off x="6144768" y="3044952"/>
            <a:ext cx="457200" cy="457200"/>
          </a:xfrm>
          <a:prstGeom prst="ellipse">
            <a:avLst/>
          </a:prstGeom>
          <a:solidFill>
            <a:srgbClr val="0F4C43"/>
          </a:solidFill>
          <a:ln w="12700">
            <a:solidFill>
              <a:srgbClr val="0F4C43"/>
            </a:solidFill>
            <a:prstDash val="solid"/>
          </a:ln>
        </p:spPr>
      </p:sp>
      <p:sp>
        <p:nvSpPr>
          <p:cNvPr id="37" name="Text 35"/>
          <p:cNvSpPr txBox="1"/>
          <p:nvPr/>
        </p:nvSpPr>
        <p:spPr>
          <a:xfrm>
            <a:off x="6144768" y="3044952"/>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D9</a:t>
            </a:r>
            <a:endParaRPr lang="en-US" sz="1000" dirty="0"/>
          </a:p>
        </p:txBody>
      </p:sp>
      <p:sp>
        <p:nvSpPr>
          <p:cNvPr id="38" name="Text 36"/>
          <p:cNvSpPr txBox="1"/>
          <p:nvPr/>
        </p:nvSpPr>
        <p:spPr>
          <a:xfrm>
            <a:off x="6739128" y="3026664"/>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Accept or discard the generated changes</a:t>
            </a:r>
            <a:endParaRPr lang="en-US" sz="1250" dirty="0"/>
          </a:p>
        </p:txBody>
      </p:sp>
      <p:sp>
        <p:nvSpPr>
          <p:cNvPr id="39" name="Text 37"/>
          <p:cNvSpPr txBox="1"/>
          <p:nvPr/>
        </p:nvSpPr>
        <p:spPr>
          <a:xfrm>
            <a:off x="6739128" y="3300984"/>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Code Phase 4 gate; the result is refused if decisions moved</a:t>
            </a:r>
            <a:endParaRPr lang="en-US" sz="1050" dirty="0"/>
          </a:p>
        </p:txBody>
      </p:sp>
      <p:sp>
        <p:nvSpPr>
          <p:cNvPr id="40" name="Shape 38"/>
          <p:cNvSpPr/>
          <p:nvPr/>
        </p:nvSpPr>
        <p:spPr>
          <a:xfrm>
            <a:off x="6144768" y="3758184"/>
            <a:ext cx="457200" cy="457200"/>
          </a:xfrm>
          <a:prstGeom prst="ellipse">
            <a:avLst/>
          </a:prstGeom>
          <a:solidFill>
            <a:srgbClr val="0F4C43"/>
          </a:solidFill>
          <a:ln w="12700">
            <a:solidFill>
              <a:srgbClr val="0F4C43"/>
            </a:solidFill>
            <a:prstDash val="solid"/>
          </a:ln>
        </p:spPr>
      </p:sp>
      <p:sp>
        <p:nvSpPr>
          <p:cNvPr id="41" name="Text 39"/>
          <p:cNvSpPr txBox="1"/>
          <p:nvPr/>
        </p:nvSpPr>
        <p:spPr>
          <a:xfrm>
            <a:off x="6144768" y="3758184"/>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D10</a:t>
            </a:r>
            <a:endParaRPr lang="en-US" sz="1000" dirty="0"/>
          </a:p>
        </p:txBody>
      </p:sp>
      <p:sp>
        <p:nvSpPr>
          <p:cNvPr id="42" name="Text 40"/>
          <p:cNvSpPr txBox="1"/>
          <p:nvPr/>
        </p:nvSpPr>
        <p:spPr>
          <a:xfrm>
            <a:off x="6739128" y="3739896"/>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Readiness: ready, conditional or infeasible</a:t>
            </a:r>
            <a:endParaRPr lang="en-US" sz="1250" dirty="0"/>
          </a:p>
        </p:txBody>
      </p:sp>
      <p:sp>
        <p:nvSpPr>
          <p:cNvPr id="43" name="Text 41"/>
          <p:cNvSpPr txBox="1"/>
          <p:nvPr/>
        </p:nvSpPr>
        <p:spPr>
          <a:xfrm>
            <a:off x="6739128" y="4014216"/>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Code Phase 5 gate; infeasible blocks the phase</a:t>
            </a:r>
            <a:endParaRPr lang="en-US" sz="1050" dirty="0"/>
          </a:p>
        </p:txBody>
      </p:sp>
      <p:sp>
        <p:nvSpPr>
          <p:cNvPr id="44" name="Shape 42"/>
          <p:cNvSpPr/>
          <p:nvPr/>
        </p:nvSpPr>
        <p:spPr>
          <a:xfrm>
            <a:off x="6144768" y="4471416"/>
            <a:ext cx="457200" cy="457200"/>
          </a:xfrm>
          <a:prstGeom prst="ellipse">
            <a:avLst/>
          </a:prstGeom>
          <a:solidFill>
            <a:srgbClr val="0F4C43"/>
          </a:solidFill>
          <a:ln w="12700">
            <a:solidFill>
              <a:srgbClr val="0F4C43"/>
            </a:solidFill>
            <a:prstDash val="solid"/>
          </a:ln>
        </p:spPr>
      </p:sp>
      <p:sp>
        <p:nvSpPr>
          <p:cNvPr id="45" name="Text 43"/>
          <p:cNvSpPr txBox="1"/>
          <p:nvPr/>
        </p:nvSpPr>
        <p:spPr>
          <a:xfrm>
            <a:off x="6144768" y="4471416"/>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D11</a:t>
            </a:r>
            <a:endParaRPr lang="en-US" sz="1000" dirty="0"/>
          </a:p>
        </p:txBody>
      </p:sp>
      <p:sp>
        <p:nvSpPr>
          <p:cNvPr id="46" name="Text 44"/>
          <p:cNvSpPr txBox="1"/>
          <p:nvPr/>
        </p:nvSpPr>
        <p:spPr>
          <a:xfrm>
            <a:off x="6739128" y="4453128"/>
            <a:ext cx="4846320" cy="274320"/>
          </a:xfrm>
          <a:prstGeom prst="rect">
            <a:avLst/>
          </a:prstGeom>
          <a:noFill/>
          <a:ln/>
        </p:spPr>
        <p:txBody>
          <a:bodyPr wrap="square" lIns="0" tIns="0" rIns="0" bIns="0" rtlCol="0" anchor="ctr"/>
          <a:lstStyle/>
          <a:p>
            <a:pPr indent="0" marL="0">
              <a:buNone/>
            </a:pPr>
            <a:r>
              <a:rPr lang="en-US" sz="1250" b="1" dirty="0">
                <a:solidFill>
                  <a:srgbClr val="16202B"/>
                </a:solidFill>
                <a:latin typeface="Calibri" pitchFamily="34" charset="0"/>
                <a:ea typeface="Calibri" pitchFamily="34" charset="-122"/>
                <a:cs typeface="Calibri" pitchFamily="34" charset="-120"/>
              </a:rPr>
              <a:t>Request the written package and code, and in which languages</a:t>
            </a:r>
            <a:endParaRPr lang="en-US" sz="1250" dirty="0"/>
          </a:p>
        </p:txBody>
      </p:sp>
      <p:sp>
        <p:nvSpPr>
          <p:cNvPr id="47" name="Text 45"/>
          <p:cNvSpPr txBox="1"/>
          <p:nvPr/>
        </p:nvSpPr>
        <p:spPr>
          <a:xfrm>
            <a:off x="6739128" y="4727448"/>
            <a:ext cx="4846320" cy="384048"/>
          </a:xfrm>
          <a:prstGeom prst="rect">
            <a:avLst/>
          </a:prstGeom>
          <a:noFill/>
          <a:ln/>
        </p:spPr>
        <p:txBody>
          <a:bodyPr wrap="square" lIns="0" tIns="0" rIns="0" bIns="0" rtlCol="0" anchor="t"/>
          <a:lstStyle/>
          <a:p>
            <a:pPr indent="0" marL="0">
              <a:buNone/>
            </a:pPr>
            <a:r>
              <a:rPr lang="en-US" sz="1050" dirty="0">
                <a:solidFill>
                  <a:srgbClr val="5A6B7A"/>
                </a:solidFill>
                <a:latin typeface="Calibri" pitchFamily="34" charset="0"/>
                <a:ea typeface="Calibri" pitchFamily="34" charset="-122"/>
                <a:cs typeface="Calibri" pitchFamily="34" charset="-120"/>
              </a:rPr>
              <a:t>Models draft them on request; code is never executed</a:t>
            </a:r>
            <a:endParaRPr lang="en-US" sz="1050" dirty="0"/>
          </a:p>
        </p:txBody>
      </p:sp>
      <p:sp>
        <p:nvSpPr>
          <p:cNvPr id="48" name="Shape 46"/>
          <p:cNvSpPr/>
          <p:nvPr/>
        </p:nvSpPr>
        <p:spPr>
          <a:xfrm>
            <a:off x="6144768" y="5166360"/>
            <a:ext cx="5349240" cy="685800"/>
          </a:xfrm>
          <a:prstGeom prst="rect">
            <a:avLst/>
          </a:prstGeom>
          <a:solidFill>
            <a:srgbClr val="EEF3F2"/>
          </a:solidFill>
          <a:ln w="12700">
            <a:solidFill>
              <a:srgbClr val="EEF3F2"/>
            </a:solidFill>
            <a:prstDash val="solid"/>
          </a:ln>
        </p:spPr>
      </p:sp>
      <p:sp>
        <p:nvSpPr>
          <p:cNvPr id="49" name="Text 47"/>
          <p:cNvSpPr txBox="1"/>
          <p:nvPr/>
        </p:nvSpPr>
        <p:spPr>
          <a:xfrm>
            <a:off x="6309360" y="5193792"/>
            <a:ext cx="5029200" cy="640080"/>
          </a:xfrm>
          <a:prstGeom prst="rect">
            <a:avLst/>
          </a:prstGeom>
          <a:noFill/>
          <a:ln/>
        </p:spPr>
        <p:txBody>
          <a:bodyPr wrap="square" lIns="0" tIns="0" rIns="0" bIns="0" rtlCol="0" anchor="ctr"/>
          <a:lstStyle/>
          <a:p>
            <a:pPr indent="0" marL="0">
              <a:buNone/>
            </a:pPr>
            <a:r>
              <a:rPr lang="en-US" sz="1000" dirty="0">
                <a:solidFill>
                  <a:srgbClr val="16202B"/>
                </a:solidFill>
                <a:latin typeface="Calibri" pitchFamily="34" charset="0"/>
                <a:ea typeface="Calibri" pitchFamily="34" charset="-122"/>
                <a:cs typeface="Calibri" pitchFamily="34" charset="-120"/>
              </a:rPr>
              <a:t>Eleven more items are typed inputs rather than choices, and four are presses: build the study, draft the analyses, draft execution, and request the written package and code.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0881360" cy="658368"/>
          </a:xfrm>
          <a:prstGeom prst="rect">
            <a:avLst/>
          </a:prstGeom>
          <a:noFill/>
          <a:ln/>
        </p:spPr>
        <p:txBody>
          <a:bodyPr wrap="square" lIns="0" tIns="0" rIns="0" bIns="0" rtlCol="0" anchor="ctr"/>
          <a:lstStyle/>
          <a:p>
            <a:pPr indent="0" marL="0">
              <a:buNone/>
            </a:pPr>
            <a:r>
              <a:rPr lang="en-US" sz="3400" b="1" dirty="0">
                <a:solidFill>
                  <a:srgbClr val="16202B"/>
                </a:solidFill>
                <a:latin typeface="Cambria" pitchFamily="34" charset="0"/>
                <a:ea typeface="Cambria" pitchFamily="34" charset="-122"/>
                <a:cs typeface="Cambria" pitchFamily="34" charset="-120"/>
              </a:rPr>
              <a:t>Where it does not yet help</a:t>
            </a:r>
            <a:endParaRPr lang="en-US" sz="3400" dirty="0"/>
          </a:p>
        </p:txBody>
      </p:sp>
      <p:sp>
        <p:nvSpPr>
          <p:cNvPr id="3" name="Text 1"/>
          <p:cNvSpPr txBox="1"/>
          <p:nvPr/>
        </p:nvSpPr>
        <p:spPr>
          <a:xfrm>
            <a:off x="566928" y="1060704"/>
            <a:ext cx="10881360"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Taken from the code, the Learn library and the roadmap notes, not inferred</a:t>
            </a:r>
            <a:endParaRPr lang="en-US" sz="1500" dirty="0"/>
          </a:p>
        </p:txBody>
      </p:sp>
      <p:sp>
        <p:nvSpPr>
          <p:cNvPr id="4" name="Shape 2"/>
          <p:cNvSpPr/>
          <p:nvPr/>
        </p:nvSpPr>
        <p:spPr>
          <a:xfrm>
            <a:off x="566928" y="1691640"/>
            <a:ext cx="5349240" cy="1920240"/>
          </a:xfrm>
          <a:prstGeom prst="rect">
            <a:avLst/>
          </a:prstGeom>
          <a:solidFill>
            <a:srgbClr val="EEF3F2"/>
          </a:solidFill>
          <a:ln w="12700">
            <a:solidFill>
              <a:srgbClr val="EEF3F2"/>
            </a:solidFill>
            <a:prstDash val="solid"/>
          </a:ln>
        </p:spPr>
      </p:sp>
      <p:sp>
        <p:nvSpPr>
          <p:cNvPr id="5" name="Text 3"/>
          <p:cNvSpPr txBox="1"/>
          <p:nvPr/>
        </p:nvSpPr>
        <p:spPr>
          <a:xfrm>
            <a:off x="841248" y="1892808"/>
            <a:ext cx="4800600" cy="365760"/>
          </a:xfrm>
          <a:prstGeom prst="rect">
            <a:avLst/>
          </a:prstGeom>
          <a:noFill/>
          <a:ln/>
        </p:spPr>
        <p:txBody>
          <a:bodyPr wrap="square" lIns="0" tIns="0" rIns="0" bIns="0" rtlCol="0" anchor="ctr"/>
          <a:lstStyle/>
          <a:p>
            <a:pPr indent="0" marL="0">
              <a:buNone/>
            </a:pPr>
            <a:r>
              <a:rPr lang="en-US" sz="1600" b="1" dirty="0">
                <a:solidFill>
                  <a:srgbClr val="0F4C43"/>
                </a:solidFill>
                <a:latin typeface="Calibri" pitchFamily="34" charset="0"/>
                <a:ea typeface="Calibri" pitchFamily="34" charset="-122"/>
                <a:cs typeface="Calibri" pitchFamily="34" charset="-120"/>
              </a:rPr>
              <a:t>Designs it will not size</a:t>
            </a:r>
            <a:endParaRPr lang="en-US" sz="1600" dirty="0"/>
          </a:p>
        </p:txBody>
      </p:sp>
      <p:sp>
        <p:nvSpPr>
          <p:cNvPr id="6" name="Text 4"/>
          <p:cNvSpPr txBox="1"/>
          <p:nvPr/>
        </p:nvSpPr>
        <p:spPr>
          <a:xfrm>
            <a:off x="841248" y="2331720"/>
            <a:ext cx="4800600" cy="1143000"/>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Cluster and stepped-wedge rollouts, mediation, repeated measures, matched case-control, prediction models, equivalence: the method is named and no number is printed. Adaptive, Bayesian, platform and SMART designs have no path at all.</a:t>
            </a:r>
            <a:endParaRPr lang="en-US" sz="1200" dirty="0"/>
          </a:p>
        </p:txBody>
      </p:sp>
      <p:sp>
        <p:nvSpPr>
          <p:cNvPr id="7" name="Shape 5"/>
          <p:cNvSpPr/>
          <p:nvPr/>
        </p:nvSpPr>
        <p:spPr>
          <a:xfrm>
            <a:off x="6236208" y="1691640"/>
            <a:ext cx="5349240" cy="1920240"/>
          </a:xfrm>
          <a:prstGeom prst="rect">
            <a:avLst/>
          </a:prstGeom>
          <a:solidFill>
            <a:srgbClr val="EEF3F2"/>
          </a:solidFill>
          <a:ln w="12700">
            <a:solidFill>
              <a:srgbClr val="EEF3F2"/>
            </a:solidFill>
            <a:prstDash val="solid"/>
          </a:ln>
        </p:spPr>
      </p:sp>
      <p:sp>
        <p:nvSpPr>
          <p:cNvPr id="8" name="Text 6"/>
          <p:cNvSpPr txBox="1"/>
          <p:nvPr/>
        </p:nvSpPr>
        <p:spPr>
          <a:xfrm>
            <a:off x="6510528" y="1892808"/>
            <a:ext cx="4800600" cy="365760"/>
          </a:xfrm>
          <a:prstGeom prst="rect">
            <a:avLst/>
          </a:prstGeom>
          <a:noFill/>
          <a:ln/>
        </p:spPr>
        <p:txBody>
          <a:bodyPr wrap="square" lIns="0" tIns="0" rIns="0" bIns="0" rtlCol="0" anchor="ctr"/>
          <a:lstStyle/>
          <a:p>
            <a:pPr indent="0" marL="0">
              <a:buNone/>
            </a:pPr>
            <a:r>
              <a:rPr lang="en-US" sz="1600" b="1" dirty="0">
                <a:solidFill>
                  <a:srgbClr val="0F4C43"/>
                </a:solidFill>
                <a:latin typeface="Calibri" pitchFamily="34" charset="0"/>
                <a:ea typeface="Calibri" pitchFamily="34" charset="-122"/>
                <a:cs typeface="Calibri" pitchFamily="34" charset="-120"/>
              </a:rPr>
              <a:t>The checks confirm naming, not application</a:t>
            </a:r>
            <a:endParaRPr lang="en-US" sz="1600" dirty="0"/>
          </a:p>
        </p:txBody>
      </p:sp>
      <p:sp>
        <p:nvSpPr>
          <p:cNvPr id="9" name="Text 7"/>
          <p:cNvSpPr txBox="1"/>
          <p:nvPr/>
        </p:nvSpPr>
        <p:spPr>
          <a:xfrm>
            <a:off x="6510528" y="2331720"/>
            <a:ext cx="4800600" cy="1143000"/>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They confirm a plan named the right method. They cannot confirm it was applied correctly, that its assumptions hold, or that the plan is good. No rule covers interim analyses or alpha spending.</a:t>
            </a:r>
            <a:endParaRPr lang="en-US" sz="1200" dirty="0"/>
          </a:p>
        </p:txBody>
      </p:sp>
      <p:sp>
        <p:nvSpPr>
          <p:cNvPr id="10" name="Shape 8"/>
          <p:cNvSpPr/>
          <p:nvPr/>
        </p:nvSpPr>
        <p:spPr>
          <a:xfrm>
            <a:off x="566928" y="3794760"/>
            <a:ext cx="5349240" cy="1920240"/>
          </a:xfrm>
          <a:prstGeom prst="rect">
            <a:avLst/>
          </a:prstGeom>
          <a:solidFill>
            <a:srgbClr val="EEF3F2"/>
          </a:solidFill>
          <a:ln w="12700">
            <a:solidFill>
              <a:srgbClr val="EEF3F2"/>
            </a:solidFill>
            <a:prstDash val="solid"/>
          </a:ln>
        </p:spPr>
      </p:sp>
      <p:sp>
        <p:nvSpPr>
          <p:cNvPr id="11" name="Text 9"/>
          <p:cNvSpPr txBox="1"/>
          <p:nvPr/>
        </p:nvSpPr>
        <p:spPr>
          <a:xfrm>
            <a:off x="841248" y="3995928"/>
            <a:ext cx="4800600" cy="365760"/>
          </a:xfrm>
          <a:prstGeom prst="rect">
            <a:avLst/>
          </a:prstGeom>
          <a:noFill/>
          <a:ln/>
        </p:spPr>
        <p:txBody>
          <a:bodyPr wrap="square" lIns="0" tIns="0" rIns="0" bIns="0" rtlCol="0" anchor="ctr"/>
          <a:lstStyle/>
          <a:p>
            <a:pPr indent="0" marL="0">
              <a:buNone/>
            </a:pPr>
            <a:r>
              <a:rPr lang="en-US" sz="1600" b="1" dirty="0">
                <a:solidFill>
                  <a:srgbClr val="0F4C43"/>
                </a:solidFill>
                <a:latin typeface="Calibri" pitchFamily="34" charset="0"/>
                <a:ea typeface="Calibri" pitchFamily="34" charset="-122"/>
                <a:cs typeface="Calibri" pitchFamily="34" charset="-120"/>
              </a:rPr>
              <a:t>No independent evaluation</a:t>
            </a:r>
            <a:endParaRPr lang="en-US" sz="1600" dirty="0"/>
          </a:p>
        </p:txBody>
      </p:sp>
      <p:sp>
        <p:nvSpPr>
          <p:cNvPr id="12" name="Text 10"/>
          <p:cNvSpPr txBox="1"/>
          <p:nvPr/>
        </p:nvSpPr>
        <p:spPr>
          <a:xfrm>
            <a:off x="841248" y="4434840"/>
            <a:ext cx="4800600" cy="1143000"/>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The evaluation was run by the person who built the tool, on scenarios he chose. There is no outcome evidence that studies planned with it are better studies. A September evaluation record measured the write-up step failing on about half of eight attempts.</a:t>
            </a:r>
            <a:endParaRPr lang="en-US" sz="1200" dirty="0"/>
          </a:p>
        </p:txBody>
      </p:sp>
      <p:sp>
        <p:nvSpPr>
          <p:cNvPr id="13" name="Shape 11"/>
          <p:cNvSpPr/>
          <p:nvPr/>
        </p:nvSpPr>
        <p:spPr>
          <a:xfrm>
            <a:off x="6236208" y="3794760"/>
            <a:ext cx="5349240" cy="1920240"/>
          </a:xfrm>
          <a:prstGeom prst="rect">
            <a:avLst/>
          </a:prstGeom>
          <a:solidFill>
            <a:srgbClr val="EEF3F2"/>
          </a:solidFill>
          <a:ln w="12700">
            <a:solidFill>
              <a:srgbClr val="EEF3F2"/>
            </a:solidFill>
            <a:prstDash val="solid"/>
          </a:ln>
        </p:spPr>
      </p:sp>
      <p:sp>
        <p:nvSpPr>
          <p:cNvPr id="14" name="Text 12"/>
          <p:cNvSpPr txBox="1"/>
          <p:nvPr/>
        </p:nvSpPr>
        <p:spPr>
          <a:xfrm>
            <a:off x="6510528" y="3995928"/>
            <a:ext cx="4800600" cy="365760"/>
          </a:xfrm>
          <a:prstGeom prst="rect">
            <a:avLst/>
          </a:prstGeom>
          <a:noFill/>
          <a:ln/>
        </p:spPr>
        <p:txBody>
          <a:bodyPr wrap="square" lIns="0" tIns="0" rIns="0" bIns="0" rtlCol="0" anchor="ctr"/>
          <a:lstStyle/>
          <a:p>
            <a:pPr indent="0" marL="0">
              <a:buNone/>
            </a:pPr>
            <a:r>
              <a:rPr lang="en-US" sz="1600" b="1" dirty="0">
                <a:solidFill>
                  <a:srgbClr val="0F4C43"/>
                </a:solidFill>
                <a:latin typeface="Calibri" pitchFamily="34" charset="0"/>
                <a:ea typeface="Calibri" pitchFamily="34" charset="-122"/>
                <a:cs typeface="Calibri" pitchFamily="34" charset="-120"/>
              </a:rPr>
              <a:t>Code and citations are drafts</a:t>
            </a:r>
            <a:endParaRPr lang="en-US" sz="1600" dirty="0"/>
          </a:p>
        </p:txBody>
      </p:sp>
      <p:sp>
        <p:nvSpPr>
          <p:cNvPr id="15" name="Text 13"/>
          <p:cNvSpPr txBox="1"/>
          <p:nvPr/>
        </p:nvSpPr>
        <p:spPr>
          <a:xfrm>
            <a:off x="6510528" y="4434840"/>
            <a:ext cx="4800600" cy="1143000"/>
          </a:xfrm>
          <a:prstGeom prst="rect">
            <a:avLst/>
          </a:prstGeom>
          <a:noFill/>
          <a:ln/>
        </p:spPr>
        <p:txBody>
          <a:bodyPr wrap="square" lIns="0" tIns="0" rIns="0" bIns="0" rtlCol="0" anchor="t"/>
          <a:lstStyle/>
          <a:p>
            <a:pPr indent="0" marL="0">
              <a:buNone/>
            </a:pPr>
            <a:r>
              <a:rPr lang="en-US" sz="1200" dirty="0">
                <a:solidFill>
                  <a:srgbClr val="16202B"/>
                </a:solidFill>
                <a:latin typeface="Calibri" pitchFamily="34" charset="0"/>
                <a:ea typeface="Calibri" pitchFamily="34" charset="-122"/>
                <a:cs typeface="Calibri" pitchFamily="34" charset="-120"/>
              </a:rPr>
              <a:t>Generated code is never executed, and every export says so. A reference is verified as a PubMed record, not as a claim: the investigator must confirm it supports the use.</a:t>
            </a:r>
            <a:endParaRPr lang="en-US" sz="1200" dirty="0"/>
          </a:p>
        </p:txBody>
      </p:sp>
      <p:sp>
        <p:nvSpPr>
          <p:cNvPr id="16" name="Text 14"/>
          <p:cNvSpPr txBox="1"/>
          <p:nvPr/>
        </p:nvSpPr>
        <p:spPr>
          <a:xfrm>
            <a:off x="566928" y="5943600"/>
            <a:ext cx="10972800" cy="457200"/>
          </a:xfrm>
          <a:prstGeom prst="rect">
            <a:avLst/>
          </a:prstGeom>
          <a:noFill/>
          <a:ln/>
        </p:spPr>
        <p:txBody>
          <a:bodyPr wrap="square" lIns="0" tIns="0" rIns="0" bIns="0" rtlCol="0" anchor="ctr"/>
          <a:lstStyle/>
          <a:p>
            <a:pPr indent="0" marL="0">
              <a:buNone/>
            </a:pPr>
            <a:r>
              <a:rPr lang="en-US" sz="1200" dirty="0">
                <a:solidFill>
                  <a:srgbClr val="5A6B7A"/>
                </a:solidFill>
                <a:latin typeface="Calibri" pitchFamily="34" charset="0"/>
                <a:ea typeface="Calibri" pitchFamily="34" charset="-122"/>
                <a:cs typeface="Calibri" pitchFamily="34" charset="-120"/>
              </a:rPr>
              <a:t>The product's own methods page lists what it refuses: IRB determinations, final interpretation of results, a sample size it cannot justify, replacing collaborators, writing citations from memory.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3831"/>
        </a:solidFill>
      </p:bgPr>
    </p:bg>
    <p:spTree>
      <p:nvGrpSpPr>
        <p:cNvPr id="1" name=""/>
        <p:cNvGrpSpPr/>
        <p:nvPr/>
      </p:nvGrpSpPr>
      <p:grpSpPr>
        <a:xfrm>
          <a:off x="0" y="0"/>
          <a:ext cx="0" cy="0"/>
          <a:chOff x="0" y="0"/>
          <a:chExt cx="0" cy="0"/>
        </a:xfrm>
      </p:grpSpPr>
      <p:sp>
        <p:nvSpPr>
          <p:cNvPr id="2" name="Text 0"/>
          <p:cNvSpPr txBox="1"/>
          <p:nvPr/>
        </p:nvSpPr>
        <p:spPr>
          <a:xfrm>
            <a:off x="731520" y="640080"/>
            <a:ext cx="100584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What to take from this</a:t>
            </a:r>
            <a:endParaRPr lang="en-US" sz="3600" dirty="0"/>
          </a:p>
        </p:txBody>
      </p:sp>
      <p:sp>
        <p:nvSpPr>
          <p:cNvPr id="3" name="Shape 1"/>
          <p:cNvSpPr/>
          <p:nvPr/>
        </p:nvSpPr>
        <p:spPr>
          <a:xfrm>
            <a:off x="777240" y="1801368"/>
            <a:ext cx="420624" cy="420624"/>
          </a:xfrm>
          <a:prstGeom prst="ellipse">
            <a:avLst/>
          </a:prstGeom>
          <a:solidFill>
            <a:srgbClr val="4E8C7E"/>
          </a:solidFill>
          <a:ln w="12700">
            <a:solidFill>
              <a:srgbClr val="4E8C7E"/>
            </a:solidFill>
            <a:prstDash val="solid"/>
          </a:ln>
        </p:spPr>
      </p:sp>
      <p:sp>
        <p:nvSpPr>
          <p:cNvPr id="4" name="Text 2"/>
          <p:cNvSpPr txBox="1"/>
          <p:nvPr/>
        </p:nvSpPr>
        <p:spPr>
          <a:xfrm>
            <a:off x="777240" y="1801368"/>
            <a:ext cx="420624" cy="420624"/>
          </a:xfrm>
          <a:prstGeom prst="rect">
            <a:avLst/>
          </a:prstGeom>
          <a:noFill/>
          <a:ln/>
        </p:spPr>
        <p:txBody>
          <a:bodyPr wrap="square" lIns="0" tIns="0" rIns="0" bIns="0" rtlCol="0" anchor="ctr"/>
          <a:lstStyle/>
          <a:p>
            <a:pPr algn="ctr" indent="0" marL="0">
              <a:buNone/>
            </a:pPr>
            <a:r>
              <a:rPr lang="en-US" sz="1600" b="1" dirty="0">
                <a:solidFill>
                  <a:srgbClr val="0A3831"/>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417320" y="1764792"/>
            <a:ext cx="960120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The safeguard is typed inputs plus a refusal to print</a:t>
            </a:r>
            <a:endParaRPr lang="en-US" sz="1900" dirty="0"/>
          </a:p>
        </p:txBody>
      </p:sp>
      <p:sp>
        <p:nvSpPr>
          <p:cNvPr id="6" name="Text 4"/>
          <p:cNvSpPr txBox="1"/>
          <p:nvPr/>
        </p:nvSpPr>
        <p:spPr>
          <a:xfrm>
            <a:off x="1417320" y="2148840"/>
            <a:ext cx="9601200" cy="548640"/>
          </a:xfrm>
          <a:prstGeom prst="rect">
            <a:avLst/>
          </a:prstGeom>
          <a:noFill/>
          <a:ln/>
        </p:spPr>
        <p:txBody>
          <a:bodyPr wrap="square" lIns="0" tIns="0" rIns="0" bIns="0" rtlCol="0" anchor="t"/>
          <a:lstStyle/>
          <a:p>
            <a:pPr indent="0" marL="0">
              <a:buNone/>
            </a:pPr>
            <a:r>
              <a:rPr lang="en-US" sz="1400" dirty="0">
                <a:solidFill>
                  <a:srgbClr val="BFD8D2"/>
                </a:solidFill>
                <a:latin typeface="Calibri" pitchFamily="34" charset="0"/>
                <a:ea typeface="Calibri" pitchFamily="34" charset="-122"/>
                <a:cs typeface="Calibri" pitchFamily="34" charset="-120"/>
              </a:rPr>
              <a:t>Any tool can ask good questions. Ask whether it can hold a plan to the answers, and what it does when they contradict.</a:t>
            </a:r>
            <a:endParaRPr lang="en-US" sz="1400" dirty="0"/>
          </a:p>
        </p:txBody>
      </p:sp>
      <p:sp>
        <p:nvSpPr>
          <p:cNvPr id="7" name="Shape 5"/>
          <p:cNvSpPr/>
          <p:nvPr/>
        </p:nvSpPr>
        <p:spPr>
          <a:xfrm>
            <a:off x="777240" y="3008376"/>
            <a:ext cx="420624" cy="420624"/>
          </a:xfrm>
          <a:prstGeom prst="ellipse">
            <a:avLst/>
          </a:prstGeom>
          <a:solidFill>
            <a:srgbClr val="4E8C7E"/>
          </a:solidFill>
          <a:ln w="12700">
            <a:solidFill>
              <a:srgbClr val="4E8C7E"/>
            </a:solidFill>
            <a:prstDash val="solid"/>
          </a:ln>
        </p:spPr>
      </p:sp>
      <p:sp>
        <p:nvSpPr>
          <p:cNvPr id="8" name="Text 6"/>
          <p:cNvSpPr txBox="1"/>
          <p:nvPr/>
        </p:nvSpPr>
        <p:spPr>
          <a:xfrm>
            <a:off x="777240" y="3008376"/>
            <a:ext cx="420624" cy="420624"/>
          </a:xfrm>
          <a:prstGeom prst="rect">
            <a:avLst/>
          </a:prstGeom>
          <a:noFill/>
          <a:ln/>
        </p:spPr>
        <p:txBody>
          <a:bodyPr wrap="square" lIns="0" tIns="0" rIns="0" bIns="0" rtlCol="0" anchor="ctr"/>
          <a:lstStyle/>
          <a:p>
            <a:pPr algn="ctr" indent="0" marL="0">
              <a:buNone/>
            </a:pPr>
            <a:r>
              <a:rPr lang="en-US" sz="1600" b="1" dirty="0">
                <a:solidFill>
                  <a:srgbClr val="0A3831"/>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417320" y="2971800"/>
            <a:ext cx="960120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Treat every output as a draft for a statistician and an IRB</a:t>
            </a:r>
            <a:endParaRPr lang="en-US" sz="1900" dirty="0"/>
          </a:p>
        </p:txBody>
      </p:sp>
      <p:sp>
        <p:nvSpPr>
          <p:cNvPr id="10" name="Text 8"/>
          <p:cNvSpPr txBox="1"/>
          <p:nvPr/>
        </p:nvSpPr>
        <p:spPr>
          <a:xfrm>
            <a:off x="1417320" y="3355848"/>
            <a:ext cx="9601200" cy="548640"/>
          </a:xfrm>
          <a:prstGeom prst="rect">
            <a:avLst/>
          </a:prstGeom>
          <a:noFill/>
          <a:ln/>
        </p:spPr>
        <p:txBody>
          <a:bodyPr wrap="square" lIns="0" tIns="0" rIns="0" bIns="0" rtlCol="0" anchor="t"/>
          <a:lstStyle/>
          <a:p>
            <a:pPr indent="0" marL="0">
              <a:buNone/>
            </a:pPr>
            <a:r>
              <a:rPr lang="en-US" sz="1400" dirty="0">
                <a:solidFill>
                  <a:srgbClr val="BFD8D2"/>
                </a:solidFill>
                <a:latin typeface="Calibri" pitchFamily="34" charset="0"/>
                <a:ea typeface="Calibri" pitchFamily="34" charset="-122"/>
                <a:cs typeface="Calibri" pitchFamily="34" charset="-120"/>
              </a:rPr>
              <a:t>The product says so on every export. The design brief and the pinned facts are what a consultation should start from.</a:t>
            </a:r>
            <a:endParaRPr lang="en-US" sz="1400" dirty="0"/>
          </a:p>
        </p:txBody>
      </p:sp>
      <p:sp>
        <p:nvSpPr>
          <p:cNvPr id="11" name="Shape 9"/>
          <p:cNvSpPr/>
          <p:nvPr/>
        </p:nvSpPr>
        <p:spPr>
          <a:xfrm>
            <a:off x="777240" y="4215384"/>
            <a:ext cx="420624" cy="420624"/>
          </a:xfrm>
          <a:prstGeom prst="ellipse">
            <a:avLst/>
          </a:prstGeom>
          <a:solidFill>
            <a:srgbClr val="4E8C7E"/>
          </a:solidFill>
          <a:ln w="12700">
            <a:solidFill>
              <a:srgbClr val="4E8C7E"/>
            </a:solidFill>
            <a:prstDash val="solid"/>
          </a:ln>
        </p:spPr>
      </p:sp>
      <p:sp>
        <p:nvSpPr>
          <p:cNvPr id="12" name="Text 10"/>
          <p:cNvSpPr txBox="1"/>
          <p:nvPr/>
        </p:nvSpPr>
        <p:spPr>
          <a:xfrm>
            <a:off x="777240" y="4215384"/>
            <a:ext cx="420624" cy="420624"/>
          </a:xfrm>
          <a:prstGeom prst="rect">
            <a:avLst/>
          </a:prstGeom>
          <a:noFill/>
          <a:ln/>
        </p:spPr>
        <p:txBody>
          <a:bodyPr wrap="square" lIns="0" tIns="0" rIns="0" bIns="0" rtlCol="0" anchor="ctr"/>
          <a:lstStyle/>
          <a:p>
            <a:pPr algn="ctr" indent="0" marL="0">
              <a:buNone/>
            </a:pPr>
            <a:r>
              <a:rPr lang="en-US" sz="1600" b="1" dirty="0">
                <a:solidFill>
                  <a:srgbClr val="0A3831"/>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417320" y="4178808"/>
            <a:ext cx="9601200" cy="36576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Independent evaluation is the open question</a:t>
            </a:r>
            <a:endParaRPr lang="en-US" sz="1900" dirty="0"/>
          </a:p>
        </p:txBody>
      </p:sp>
      <p:sp>
        <p:nvSpPr>
          <p:cNvPr id="14" name="Text 12"/>
          <p:cNvSpPr txBox="1"/>
          <p:nvPr/>
        </p:nvSpPr>
        <p:spPr>
          <a:xfrm>
            <a:off x="1417320" y="4562856"/>
            <a:ext cx="9601200" cy="548640"/>
          </a:xfrm>
          <a:prstGeom prst="rect">
            <a:avLst/>
          </a:prstGeom>
          <a:noFill/>
          <a:ln/>
        </p:spPr>
        <p:txBody>
          <a:bodyPr wrap="square" lIns="0" tIns="0" rIns="0" bIns="0" rtlCol="0" anchor="t"/>
          <a:lstStyle/>
          <a:p>
            <a:pPr indent="0" marL="0">
              <a:buNone/>
            </a:pPr>
            <a:r>
              <a:rPr lang="en-US" sz="1400" dirty="0">
                <a:solidFill>
                  <a:srgbClr val="BFD8D2"/>
                </a:solidFill>
                <a:latin typeface="Calibri" pitchFamily="34" charset="0"/>
                <a:ea typeface="Calibri" pitchFamily="34" charset="-122"/>
                <a:cs typeface="Calibri" pitchFamily="34" charset="-120"/>
              </a:rPr>
              <a:t>The numerical core is pinned against R. Plan quality has not been independently judged, and that is the work to fund or to decline.</a:t>
            </a:r>
            <a:endParaRPr lang="en-US" sz="1400" dirty="0"/>
          </a:p>
        </p:txBody>
      </p:sp>
      <p:sp>
        <p:nvSpPr>
          <p:cNvPr id="15" name="Shape 13"/>
          <p:cNvSpPr/>
          <p:nvPr/>
        </p:nvSpPr>
        <p:spPr>
          <a:xfrm>
            <a:off x="777240" y="5623560"/>
            <a:ext cx="10607040" cy="18288"/>
          </a:xfrm>
          <a:prstGeom prst="rect">
            <a:avLst/>
          </a:prstGeom>
          <a:solidFill>
            <a:srgbClr val="4E8C7E"/>
          </a:solidFill>
          <a:ln w="12700">
            <a:solidFill>
              <a:srgbClr val="4E8C7E"/>
            </a:solidFill>
            <a:prstDash val="solid"/>
          </a:ln>
        </p:spPr>
      </p:sp>
      <p:sp>
        <p:nvSpPr>
          <p:cNvPr id="16" name="Text 14"/>
          <p:cNvSpPr txBox="1"/>
          <p:nvPr/>
        </p:nvSpPr>
        <p:spPr>
          <a:xfrm>
            <a:off x="777240" y="5806440"/>
            <a:ext cx="1060704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Full write-up, process map and the appendix of every decision: Mallard Study Design Process (shared Google Doc).</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Mallard: how a study design plan is made</dc:title>
  <dc:subject>PptxGenJS Presentation</dc:subject>
  <dc:creator>Juleon Rabbani</dc:creator>
  <cp:lastModifiedBy>Juleon Rabbani</cp:lastModifiedBy>
  <cp:revision>1</cp:revision>
  <dcterms:created xsi:type="dcterms:W3CDTF">2026-09-17T16:26:27Z</dcterms:created>
  <dcterms:modified xsi:type="dcterms:W3CDTF">2026-09-17T16:26:27Z</dcterms:modified>
</cp:coreProperties>
</file>